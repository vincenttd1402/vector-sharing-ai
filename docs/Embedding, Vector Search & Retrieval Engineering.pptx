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y="5143500" cx="9144000"/>
  <p:notesSz cx="5143500" cy="9144000"/>
  <p:embeddedFontLst>
    <p:embeddedFont>
      <p:font typeface="Funnel Sans"/>
      <p:regular r:id="rId41"/>
      <p:bold r:id="rId42"/>
      <p:italic r:id="rId43"/>
      <p:boldItalic r:id="rId44"/>
    </p:embeddedFont>
    <p:embeddedFont>
      <p:font typeface="Funnel Display"/>
      <p:regular r:id="rId45"/>
      <p:bold r:id="rId46"/>
    </p:embeddedFont>
    <p:embeddedFont>
      <p:font typeface="Funnel Display Light"/>
      <p:regular r:id="rId47"/>
      <p:bold r:id="rId48"/>
    </p:embeddedFont>
    <p:embeddedFont>
      <p:font typeface="REM"/>
      <p:regular r:id="rId49"/>
      <p:bold r:id="rId50"/>
      <p:italic r:id="rId51"/>
      <p:boldItalic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B3E4DE5-BB9D-4D9E-814C-6277CECA3E85}">
  <a:tblStyle styleId="{3B3E4DE5-BB9D-4D9E-814C-6277CECA3E8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font" Target="fonts/FunnelSans-bold.fntdata"/><Relationship Id="rId41" Type="http://schemas.openxmlformats.org/officeDocument/2006/relationships/font" Target="fonts/FunnelSans-regular.fntdata"/><Relationship Id="rId44" Type="http://schemas.openxmlformats.org/officeDocument/2006/relationships/font" Target="fonts/FunnelSans-boldItalic.fntdata"/><Relationship Id="rId43" Type="http://schemas.openxmlformats.org/officeDocument/2006/relationships/font" Target="fonts/FunnelSans-italic.fntdata"/><Relationship Id="rId46" Type="http://schemas.openxmlformats.org/officeDocument/2006/relationships/font" Target="fonts/FunnelDisplay-bold.fntdata"/><Relationship Id="rId45" Type="http://schemas.openxmlformats.org/officeDocument/2006/relationships/font" Target="fonts/FunnelDisplay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FunnelDisplayLight-bold.fntdata"/><Relationship Id="rId47" Type="http://schemas.openxmlformats.org/officeDocument/2006/relationships/font" Target="fonts/FunnelDisplayLight-regular.fntdata"/><Relationship Id="rId49" Type="http://schemas.openxmlformats.org/officeDocument/2006/relationships/font" Target="fonts/REM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REM-italic.fntdata"/><Relationship Id="rId50" Type="http://schemas.openxmlformats.org/officeDocument/2006/relationships/font" Target="fonts/REM-bold.fntdata"/><Relationship Id="rId52" Type="http://schemas.openxmlformats.org/officeDocument/2006/relationships/font" Target="fonts/REM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" name="Google Shape;39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6" name="Google Shape;41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6" name="Google Shape;43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5" name="Google Shape;45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4" name="Google Shape;47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5" name="Google Shape;49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7" name="Google Shape;527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8" name="Google Shape;558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3" name="Google Shape;593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8" name="Google Shape;638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6" name="Google Shape;656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7" name="Google Shape;697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2" name="Google Shape;712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4" name="Google Shape;794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4" name="Google Shape;814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4" name="Google Shape;854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4" name="Google Shape;894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1" name="Google Shape;911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1" name="Google Shape;941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5" name="Google Shape;975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2" name="Google Shape;1052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3" name="Google Shape;1053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2" name="Google Shape;1132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3" name="Google Shape;1133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10.png"/><Relationship Id="rId6" Type="http://schemas.openxmlformats.org/officeDocument/2006/relationships/image" Target="../media/image29.png"/><Relationship Id="rId7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5.png"/><Relationship Id="rId4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21.png"/><Relationship Id="rId5" Type="http://schemas.openxmlformats.org/officeDocument/2006/relationships/image" Target="../media/image9.png"/><Relationship Id="rId6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8.png"/><Relationship Id="rId4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png"/><Relationship Id="rId4" Type="http://schemas.openxmlformats.org/officeDocument/2006/relationships/image" Target="../media/image3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7.png"/><Relationship Id="rId4" Type="http://schemas.openxmlformats.org/officeDocument/2006/relationships/image" Target="../media/image3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1.png"/><Relationship Id="rId4" Type="http://schemas.openxmlformats.org/officeDocument/2006/relationships/image" Target="../media/image3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0.png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5EB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FAF5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80410" y="372963"/>
            <a:ext cx="3298180" cy="4397573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523577" y="1583754"/>
            <a:ext cx="4667845" cy="7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2350"/>
              <a:buFont typeface="Funnel Display"/>
              <a:buNone/>
            </a:pPr>
            <a:r>
              <a:rPr b="0" i="0" lang="en-US" sz="23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Embedding, Vector Search &amp; Retrieval Engineering</a:t>
            </a:r>
            <a:endParaRPr b="0" i="0" sz="2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523577" y="2405955"/>
            <a:ext cx="4667845" cy="192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1150"/>
              <a:buFont typeface="Funnel Display"/>
              <a:buNone/>
            </a:pPr>
            <a:r>
              <a:rPr b="0" i="0" lang="en-US" sz="11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From Vector Space to Semantic Retrieval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23577" y="2794769"/>
            <a:ext cx="3127400" cy="198834"/>
          </a:xfrm>
          <a:prstGeom prst="roundRect">
            <a:avLst>
              <a:gd fmla="val 22122" name="adj"/>
            </a:avLst>
          </a:prstGeom>
          <a:solidFill>
            <a:srgbClr val="D8E7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602084" y="2833985"/>
            <a:ext cx="3427586" cy="1204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50"/>
              <a:buFont typeface="Funnel Sans"/>
              <a:buNone/>
            </a:pPr>
            <a:r>
              <a:rPr b="0" i="0" lang="en-US" sz="7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WEEK 6 — AI ENGINEERING FOR SENIOR SOFTWARE ENGINEERS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23577" y="3140869"/>
            <a:ext cx="4667845" cy="418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950"/>
              <a:buFont typeface="Funnel Sans"/>
              <a:buNone/>
            </a:pPr>
            <a:r>
              <a:rPr b="0" i="1" lang="en-US" sz="9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Hiểu cơ chế phía sau semantic search — từ vector space đến production retrieval pipeline.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5EB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523577" y="365522"/>
            <a:ext cx="8096845" cy="324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2000"/>
              <a:buFont typeface="Funnel Display"/>
              <a:buNone/>
            </a:pPr>
            <a:r>
              <a:rPr b="0" i="0" lang="en-US" sz="20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Tại sao cần học về Vector Search?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523577" y="923330"/>
            <a:ext cx="3913733" cy="1623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950"/>
              <a:buFont typeface="Funnel Display"/>
              <a:buNone/>
            </a:pPr>
            <a:r>
              <a:rPr b="0" i="0" lang="en-US" sz="9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Sau bài học này, bạn hiểu được: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23577" y="1190476"/>
            <a:ext cx="220861" cy="1380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800"/>
              <a:buFont typeface="Funnel Display Light"/>
              <a:buNone/>
            </a:pPr>
            <a:r>
              <a:rPr b="0" i="0" lang="en-US" sz="800" u="none" cap="none" strike="noStrike">
                <a:solidFill>
                  <a:srgbClr val="2B3541"/>
                </a:solidFill>
                <a:latin typeface="Funnel Display Light"/>
                <a:ea typeface="Funnel Display Light"/>
                <a:cs typeface="Funnel Display Light"/>
                <a:sym typeface="Funnel Display Light"/>
              </a:rPr>
              <a:t>01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523577" y="1363861"/>
            <a:ext cx="3913733" cy="14288"/>
          </a:xfrm>
          <a:prstGeom prst="rect">
            <a:avLst/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523577" y="1447651"/>
            <a:ext cx="3913733" cy="1628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800"/>
              <a:buFont typeface="Funnel Sans"/>
              <a:buNone/>
            </a:pPr>
            <a:r>
              <a:rPr b="0" i="0" lang="en-US" sz="8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Vector space là gì và tại sao </a:t>
            </a:r>
            <a:r>
              <a:rPr b="1" i="0" lang="en-US" sz="8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vị trí</a:t>
            </a:r>
            <a:r>
              <a:rPr b="0" i="0" lang="en-US" sz="8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 có ý nghĩa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523577" y="1786458"/>
            <a:ext cx="220861" cy="1380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800"/>
              <a:buFont typeface="Funnel Display Light"/>
              <a:buNone/>
            </a:pPr>
            <a:r>
              <a:rPr b="0" i="0" lang="en-US" sz="800" u="none" cap="none" strike="noStrike">
                <a:solidFill>
                  <a:srgbClr val="2B3541"/>
                </a:solidFill>
                <a:latin typeface="Funnel Display Light"/>
                <a:ea typeface="Funnel Display Light"/>
                <a:cs typeface="Funnel Display Light"/>
                <a:sym typeface="Funnel Display Light"/>
              </a:rPr>
              <a:t>02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523577" y="1959843"/>
            <a:ext cx="3913733" cy="14288"/>
          </a:xfrm>
          <a:prstGeom prst="rect">
            <a:avLst/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523577" y="2043633"/>
            <a:ext cx="3913733" cy="1628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800"/>
              <a:buFont typeface="Funnel Sans"/>
              <a:buNone/>
            </a:pPr>
            <a:r>
              <a:rPr b="0" i="0" lang="en-US" sz="8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Text được biểu diễn thành vector như thế nào </a:t>
            </a:r>
            <a:r>
              <a:rPr b="1" i="0" lang="en-US" sz="8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(embedding)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523577" y="2382441"/>
            <a:ext cx="220861" cy="1380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800"/>
              <a:buFont typeface="Funnel Display Light"/>
              <a:buNone/>
            </a:pPr>
            <a:r>
              <a:rPr b="0" i="0" lang="en-US" sz="800" u="none" cap="none" strike="noStrike">
                <a:solidFill>
                  <a:srgbClr val="2B3541"/>
                </a:solidFill>
                <a:latin typeface="Funnel Display Light"/>
                <a:ea typeface="Funnel Display Light"/>
                <a:cs typeface="Funnel Display Light"/>
                <a:sym typeface="Funnel Display Light"/>
              </a:rPr>
              <a:t>03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523577" y="2555825"/>
            <a:ext cx="3913733" cy="14288"/>
          </a:xfrm>
          <a:prstGeom prst="rect">
            <a:avLst/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523577" y="2639616"/>
            <a:ext cx="3913733" cy="1628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800"/>
              <a:buFont typeface="Funnel Sans"/>
              <a:buNone/>
            </a:pPr>
            <a:r>
              <a:rPr b="0" i="0" lang="en-US" sz="8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Similarity được đo ra sao </a:t>
            </a:r>
            <a:r>
              <a:rPr b="1" i="0" lang="en-US" sz="8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(cosine, dot product)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523577" y="2978423"/>
            <a:ext cx="220861" cy="1380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800"/>
              <a:buFont typeface="Funnel Display Light"/>
              <a:buNone/>
            </a:pPr>
            <a:r>
              <a:rPr b="0" i="0" lang="en-US" sz="800" u="none" cap="none" strike="noStrike">
                <a:solidFill>
                  <a:srgbClr val="2B3541"/>
                </a:solidFill>
                <a:latin typeface="Funnel Display Light"/>
                <a:ea typeface="Funnel Display Light"/>
                <a:cs typeface="Funnel Display Light"/>
                <a:sym typeface="Funnel Display Light"/>
              </a:rPr>
              <a:t>04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523577" y="3151808"/>
            <a:ext cx="3913733" cy="14288"/>
          </a:xfrm>
          <a:prstGeom prst="rect">
            <a:avLst/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523577" y="3235598"/>
            <a:ext cx="3913733" cy="1628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800"/>
              <a:buFont typeface="Funnel Sans"/>
              <a:buNone/>
            </a:pPr>
            <a:r>
              <a:rPr b="0" i="0" lang="en-US" sz="8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Vector search hoạt động thế nào và tại sao cần </a:t>
            </a:r>
            <a:r>
              <a:rPr b="1" i="0" lang="en-US" sz="8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ANN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523577" y="3574405"/>
            <a:ext cx="220861" cy="1380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800"/>
              <a:buFont typeface="Funnel Display Light"/>
              <a:buNone/>
            </a:pPr>
            <a:r>
              <a:rPr b="0" i="0" lang="en-US" sz="800" u="none" cap="none" strike="noStrike">
                <a:solidFill>
                  <a:srgbClr val="2B3541"/>
                </a:solidFill>
                <a:latin typeface="Funnel Display Light"/>
                <a:ea typeface="Funnel Display Light"/>
                <a:cs typeface="Funnel Display Light"/>
                <a:sym typeface="Funnel Display Light"/>
              </a:rPr>
              <a:t>05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523577" y="3747790"/>
            <a:ext cx="3913733" cy="14288"/>
          </a:xfrm>
          <a:prstGeom prst="rect">
            <a:avLst/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523577" y="3831580"/>
            <a:ext cx="3913733" cy="1628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800"/>
              <a:buFont typeface="Funnel Sans"/>
              <a:buNone/>
            </a:pPr>
            <a:r>
              <a:rPr b="0" i="0" lang="en-US" sz="8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Cách kết hợp </a:t>
            </a:r>
            <a:r>
              <a:rPr b="1" i="0" lang="en-US" sz="8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filtering, hybrid search, reranking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523577" y="4170387"/>
            <a:ext cx="220861" cy="1380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800"/>
              <a:buFont typeface="Funnel Display Light"/>
              <a:buNone/>
            </a:pPr>
            <a:r>
              <a:rPr b="0" i="0" lang="en-US" sz="800" u="none" cap="none" strike="noStrike">
                <a:solidFill>
                  <a:srgbClr val="2B3541"/>
                </a:solidFill>
                <a:latin typeface="Funnel Display Light"/>
                <a:ea typeface="Funnel Display Light"/>
                <a:cs typeface="Funnel Display Light"/>
                <a:sym typeface="Funnel Display Light"/>
              </a:rPr>
              <a:t>06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523577" y="4343772"/>
            <a:ext cx="3913733" cy="14288"/>
          </a:xfrm>
          <a:prstGeom prst="rect">
            <a:avLst/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523577" y="4427562"/>
            <a:ext cx="3913733" cy="1628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800"/>
              <a:buFont typeface="Funnel Sans"/>
              <a:buNone/>
            </a:pPr>
            <a:r>
              <a:rPr b="0" i="0" lang="en-US" sz="8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Cách đánh giá và tối ưu </a:t>
            </a:r>
            <a:r>
              <a:rPr b="1" i="0" lang="en-US" sz="8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retrieval pipeline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4711452" y="923330"/>
            <a:ext cx="3913733" cy="1623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950"/>
              <a:buFont typeface="Funnel Display"/>
              <a:buNone/>
            </a:pPr>
            <a:r>
              <a:rPr b="0" i="0" lang="en-US" sz="9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Vấn đề thực tế: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4877098" y="1274341"/>
            <a:ext cx="4205288" cy="1628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800"/>
              <a:buFont typeface="Funnel Sans"/>
              <a:buNone/>
            </a:pPr>
            <a:r>
              <a:rPr b="0" i="0" lang="en-US" sz="8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User hỏi: </a:t>
            </a:r>
            <a:r>
              <a:rPr b="1" i="0" lang="en-US" sz="8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"I forgot my password"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4711452" y="1190476"/>
            <a:ext cx="14288" cy="330547"/>
          </a:xfrm>
          <a:prstGeom prst="roundRect">
            <a:avLst>
              <a:gd fmla="val 49998" name="adj"/>
            </a:avLst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51" name="Google Shape;51;p4"/>
          <p:cNvGraphicFramePr/>
          <p:nvPr/>
        </p:nvGraphicFramePr>
        <p:xfrm>
          <a:off x="4711452" y="16257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{3B3E4DE5-BB9D-4D9E-814C-6277CECA3E85}</a:tableStyleId>
              </a:tblPr>
              <a:tblGrid>
                <a:gridCol w="2348250"/>
                <a:gridCol w="1565500"/>
              </a:tblGrid>
              <a:tr h="286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Document A: "How to reset your password"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10450" marL="110450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 match?</a:t>
                      </a:r>
                      <a:endParaRPr sz="8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10450" marL="11045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Document B: "Change account password"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10450" marL="110450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 match?</a:t>
                      </a:r>
                      <a:endParaRPr sz="8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10450" marL="11045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Document C: "Create production order"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10450" marL="110450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 no match</a:t>
                      </a:r>
                      <a:endParaRPr sz="8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10450" marL="11045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2" name="Google Shape;52;p4"/>
          <p:cNvSpPr/>
          <p:nvPr/>
        </p:nvSpPr>
        <p:spPr>
          <a:xfrm>
            <a:off x="4711452" y="2601962"/>
            <a:ext cx="3913733" cy="3256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800"/>
              <a:buFont typeface="Funnel Sans"/>
              <a:buNone/>
            </a:pPr>
            <a:r>
              <a:rPr b="0" i="0" lang="en-US" sz="8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Keyword search có thể </a:t>
            </a:r>
            <a:r>
              <a:rPr b="1" i="0" lang="en-US" sz="8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không match</a:t>
            </a:r>
            <a:r>
              <a:rPr b="0" i="0" lang="en-US" sz="8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. Làm sao máy hiểu hai câu này </a:t>
            </a:r>
            <a:r>
              <a:rPr b="1" i="0" lang="en-US" sz="8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gần nghĩa nhau</a:t>
            </a:r>
            <a:r>
              <a:rPr b="0" i="0" lang="en-US" sz="8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?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5EB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"/>
          <p:cNvSpPr/>
          <p:nvPr/>
        </p:nvSpPr>
        <p:spPr>
          <a:xfrm>
            <a:off x="523577" y="449238"/>
            <a:ext cx="8096845" cy="2888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1750"/>
              <a:buFont typeface="Funnel Display"/>
              <a:buNone/>
            </a:pPr>
            <a:r>
              <a:rPr b="0" i="0" lang="en-US" sz="17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Vector Space — Nền tảng của Semantic Search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523577" y="922065"/>
            <a:ext cx="3928690" cy="144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850"/>
              <a:buFont typeface="Funnel Display"/>
              <a:buNone/>
            </a:pPr>
            <a:r>
              <a:rPr b="0" i="0" lang="en-US" sz="8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Vector là gì?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523577" y="1149251"/>
            <a:ext cx="3928690" cy="510332"/>
          </a:xfrm>
          <a:prstGeom prst="roundRect">
            <a:avLst>
              <a:gd fmla="val 8080" name="adj"/>
            </a:avLst>
          </a:prstGeom>
          <a:solidFill>
            <a:srgbClr val="EDE8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641375" y="1247403"/>
            <a:ext cx="3693096" cy="3140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2863A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22863A"/>
                </a:solidFill>
                <a:latin typeface="Consolas"/>
                <a:ea typeface="Consolas"/>
                <a:cs typeface="Consolas"/>
                <a:sym typeface="Consolas"/>
              </a:rPr>
              <a:t>A = (2, 3)   → điểm trên mặt phẳng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2863A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22863A"/>
                </a:solidFill>
                <a:latin typeface="Consolas"/>
                <a:ea typeface="Consolas"/>
                <a:cs typeface="Consolas"/>
                <a:sym typeface="Consolas"/>
              </a:rPr>
              <a:t>B = (5, 4)   → điểm khác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523577" y="1742405"/>
            <a:ext cx="3928690" cy="4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42240" lvl="0" marL="14224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00"/>
              <a:buFont typeface="Funnel Sans"/>
              <a:buChar char="•"/>
            </a:pPr>
            <a:r>
              <a:rPr b="0" i="0" lang="en-US" sz="7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Vector = điểm có vị trí trong không gian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240" lvl="0" marL="14224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00"/>
              <a:buFont typeface="Funnel Sans"/>
              <a:buChar char="•"/>
            </a:pPr>
            <a:r>
              <a:rPr b="0" i="0" lang="en-US" sz="7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Vị trí tương đối = mối quan hệ có thể đo được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240" lvl="0" marL="14224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00"/>
              <a:buFont typeface="Funnel Sans"/>
              <a:buChar char="•"/>
            </a:pPr>
            <a:r>
              <a:rPr b="0" i="0" lang="en-US" sz="7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Không gian 2D → dễ visualize; N chiều → AI làm việc thực tế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523577" y="2279600"/>
            <a:ext cx="3928690" cy="144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850"/>
              <a:buFont typeface="Funnel Display"/>
              <a:buNone/>
            </a:pPr>
            <a:r>
              <a:rPr b="0" i="0" lang="en-US" sz="8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Từ 2D đến N chiều: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4" name="Google Shape;6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577" y="2506787"/>
            <a:ext cx="490910" cy="589062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5"/>
          <p:cNvSpPr/>
          <p:nvPr/>
        </p:nvSpPr>
        <p:spPr>
          <a:xfrm>
            <a:off x="1088082" y="2604939"/>
            <a:ext cx="3364185" cy="144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850"/>
              <a:buFont typeface="Funnel Display"/>
              <a:buNone/>
            </a:pPr>
            <a:r>
              <a:rPr b="0" i="0" lang="en-US" sz="8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2D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1088082" y="2822897"/>
            <a:ext cx="3364185" cy="137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00"/>
              <a:buFont typeface="Funnel Sans"/>
              <a:buNone/>
            </a:pPr>
            <a:r>
              <a:rPr b="0" i="0" lang="en-US" sz="7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(x, y)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7" name="Google Shape;6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3577" y="3095848"/>
            <a:ext cx="490910" cy="589062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5"/>
          <p:cNvSpPr/>
          <p:nvPr/>
        </p:nvSpPr>
        <p:spPr>
          <a:xfrm>
            <a:off x="1088082" y="3194000"/>
            <a:ext cx="3364185" cy="144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850"/>
              <a:buFont typeface="Funnel Display"/>
              <a:buNone/>
            </a:pPr>
            <a:r>
              <a:rPr b="0" i="0" lang="en-US" sz="8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3D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1088082" y="3411959"/>
            <a:ext cx="3364185" cy="137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00"/>
              <a:buFont typeface="Funnel Sans"/>
              <a:buNone/>
            </a:pPr>
            <a:r>
              <a:rPr b="0" i="0" lang="en-US" sz="7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(x, y, z)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0" name="Google Shape;7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3577" y="3684910"/>
            <a:ext cx="490910" cy="589062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5"/>
          <p:cNvSpPr/>
          <p:nvPr/>
        </p:nvSpPr>
        <p:spPr>
          <a:xfrm>
            <a:off x="1088082" y="3783062"/>
            <a:ext cx="3364185" cy="144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850"/>
              <a:buFont typeface="Funnel Display"/>
              <a:buNone/>
            </a:pPr>
            <a:r>
              <a:rPr b="0" i="0" lang="en-US" sz="8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768D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1088082" y="4001021"/>
            <a:ext cx="3364185" cy="137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00"/>
              <a:buFont typeface="Funnel Sans"/>
              <a:buNone/>
            </a:pPr>
            <a:r>
              <a:rPr b="0" i="0" lang="en-US" sz="7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(x₁, x₂, ..., x₇₆₈) — embedding thực tế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4696495" y="922065"/>
            <a:ext cx="3928690" cy="144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850"/>
              <a:buFont typeface="Funnel Display"/>
              <a:buNone/>
            </a:pPr>
            <a:r>
              <a:rPr b="0" i="0" lang="en-US" sz="8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Tại sao vị trí quan trọng?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4" name="Google Shape;74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87553" y="1149251"/>
            <a:ext cx="2946499" cy="2763813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5"/>
          <p:cNvSpPr/>
          <p:nvPr/>
        </p:nvSpPr>
        <p:spPr>
          <a:xfrm>
            <a:off x="5464894" y="3172803"/>
            <a:ext cx="623921" cy="77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Funnel Display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reset password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7232791" y="3172803"/>
            <a:ext cx="623920" cy="77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Funnel Display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forgot password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6348843" y="1625892"/>
            <a:ext cx="623920" cy="77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Funnel Display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create order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5826944" y="2325685"/>
            <a:ext cx="599612" cy="77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Funnel Display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Gần nhau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6895049" y="2325685"/>
            <a:ext cx="599612" cy="77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Funnel Display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Xa nhau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6489906" y="3133853"/>
            <a:ext cx="341793" cy="155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Funnel Display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Khu vực trên phải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6453075" y="2581385"/>
            <a:ext cx="415456" cy="155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Funnel Display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Khu vực dưới trái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4843760" y="4062115"/>
            <a:ext cx="3781425" cy="274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00"/>
              <a:buFont typeface="Funnel Sans"/>
              <a:buNone/>
            </a:pPr>
            <a:r>
              <a:rPr b="0" i="0" lang="en-US" sz="7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Các object có đặc điểm tương tự → có xu hướng </a:t>
            </a:r>
            <a:r>
              <a:rPr b="1" i="0" lang="en-US" sz="7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nằm gần nhau</a:t>
            </a:r>
            <a:r>
              <a:rPr b="0" i="0" lang="en-US" sz="7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 trong vector space. Đây là nền tảng của toàn bộ semantic search.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4696495" y="3995886"/>
            <a:ext cx="14288" cy="407194"/>
          </a:xfrm>
          <a:prstGeom prst="roundRect">
            <a:avLst>
              <a:gd fmla="val 49998" name="adj"/>
            </a:avLst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4696495" y="4485903"/>
            <a:ext cx="4385890" cy="1421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REM"/>
              <a:buNone/>
            </a:pPr>
            <a:r>
              <a:rPr b="0" i="0" lang="en-US" sz="7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⚠️</a:t>
            </a:r>
            <a:r>
              <a:rPr b="0" i="0" lang="en-US" sz="7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 Visualization 2D chỉ là minh họa — embedding thực tế có </a:t>
            </a:r>
            <a:r>
              <a:rPr b="1" i="0" lang="en-US" sz="7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384–3072 chiều</a:t>
            </a:r>
            <a:r>
              <a:rPr b="0" i="0" lang="en-US" sz="7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5EB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"/>
          <p:cNvSpPr/>
          <p:nvPr/>
        </p:nvSpPr>
        <p:spPr>
          <a:xfrm>
            <a:off x="523577" y="373410"/>
            <a:ext cx="8096845" cy="2526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1550"/>
              <a:buFont typeface="Funnel Display"/>
              <a:buNone/>
            </a:pPr>
            <a:r>
              <a:rPr b="0" i="0" lang="en-US" sz="15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Vector Representation — Từ Object đến Vector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523577" y="766911"/>
            <a:ext cx="3943648" cy="126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750"/>
              <a:buFont typeface="Funnel Display"/>
              <a:buNone/>
            </a:pPr>
            <a:r>
              <a:rPr b="0" i="0" lang="en-US" sz="7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Nhiều loại object khác nhau có thể được biểu diễn thành vector: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2" name="Google Shape;9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577" y="956593"/>
            <a:ext cx="3943648" cy="515392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6"/>
          <p:cNvSpPr/>
          <p:nvPr/>
        </p:nvSpPr>
        <p:spPr>
          <a:xfrm>
            <a:off x="933004" y="1051992"/>
            <a:ext cx="3438823" cy="126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50"/>
              <a:buFont typeface="Funnel Display"/>
              <a:buNone/>
            </a:pPr>
            <a:r>
              <a:rPr b="0" i="0" lang="en-US" sz="7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Text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933004" y="1234604"/>
            <a:ext cx="3438823" cy="113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50"/>
              <a:buFont typeface="Funnel Sans"/>
              <a:buNone/>
            </a:pPr>
            <a:r>
              <a:rPr b="0" i="0" lang="en-US" sz="6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"reset password" → [0.12, -0.44, 0.81, ...]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5" name="Google Shape;9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577" y="1528316"/>
            <a:ext cx="3943648" cy="51539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6"/>
          <p:cNvSpPr/>
          <p:nvPr/>
        </p:nvSpPr>
        <p:spPr>
          <a:xfrm>
            <a:off x="933004" y="1623715"/>
            <a:ext cx="3438823" cy="126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50"/>
              <a:buFont typeface="Funnel Display"/>
              <a:buNone/>
            </a:pPr>
            <a:r>
              <a:rPr b="0" i="0" lang="en-US" sz="7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Image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933004" y="1806327"/>
            <a:ext cx="3438823" cy="113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Sans"/>
              <a:buNone/>
            </a:pPr>
            <a:r>
              <a:rPr b="0" i="0" lang="en-US" sz="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photo.jpg → [0.33, 0.71, -0.22, ...]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8" name="Google Shape;9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577" y="2100039"/>
            <a:ext cx="3943648" cy="515392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6"/>
          <p:cNvSpPr/>
          <p:nvPr/>
        </p:nvSpPr>
        <p:spPr>
          <a:xfrm>
            <a:off x="933004" y="2195438"/>
            <a:ext cx="3438823" cy="126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50"/>
              <a:buFont typeface="Funnel Display"/>
              <a:buNone/>
            </a:pPr>
            <a:r>
              <a:rPr b="0" i="0" lang="en-US" sz="7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Product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933004" y="2378050"/>
            <a:ext cx="3438823" cy="113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50"/>
              <a:buFont typeface="Funnel Sans"/>
              <a:buNone/>
            </a:pPr>
            <a:r>
              <a:rPr b="0" i="0" lang="en-US" sz="6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SKU-001 → [0.55, -0.18, 0.90, ...]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1" name="Google Shape;10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577" y="2671762"/>
            <a:ext cx="3943648" cy="515392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6"/>
          <p:cNvSpPr/>
          <p:nvPr/>
        </p:nvSpPr>
        <p:spPr>
          <a:xfrm>
            <a:off x="933004" y="2767161"/>
            <a:ext cx="3438823" cy="126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50"/>
              <a:buFont typeface="Funnel Display"/>
              <a:buNone/>
            </a:pPr>
            <a:r>
              <a:rPr b="0" i="0" lang="en-US" sz="7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User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933004" y="2949773"/>
            <a:ext cx="3438823" cy="113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Sans"/>
              <a:buNone/>
            </a:pPr>
            <a:r>
              <a:rPr b="0" i="0" lang="en-US" sz="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user_42 → [0.08, 0.63, -0.41, ...]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4681538" y="766911"/>
            <a:ext cx="3943648" cy="126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750"/>
              <a:buFont typeface="Funnel Display"/>
              <a:buNone/>
            </a:pPr>
            <a:r>
              <a:rPr b="0" i="0" lang="en-US" sz="7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Tại sao biểu diễn dạng vector?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4681538" y="949523"/>
            <a:ext cx="3943648" cy="380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32080" lvl="0" marL="13208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50"/>
              <a:buFont typeface="Funnel Sans"/>
              <a:buChar char="•"/>
            </a:pPr>
            <a:r>
              <a:rPr b="1" i="0" lang="en-US" sz="6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Compare:</a:t>
            </a:r>
            <a:r>
              <a:rPr b="0" i="0" lang="en-US" sz="6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 đo độ tương đồng giữa bất kỳ hai object nào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2080" lvl="0" marL="13208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50"/>
              <a:buFont typeface="Funnel Sans"/>
              <a:buChar char="•"/>
            </a:pPr>
            <a:r>
              <a:rPr b="1" i="0" lang="en-US" sz="6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Search:</a:t>
            </a:r>
            <a:r>
              <a:rPr b="0" i="0" lang="en-US" sz="6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 tìm object gần nhất trong không gian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2080" lvl="0" marL="13208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50"/>
              <a:buFont typeface="Funnel Sans"/>
              <a:buChar char="•"/>
            </a:pPr>
            <a:r>
              <a:rPr b="1" i="0" lang="en-US" sz="6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Rank:</a:t>
            </a:r>
            <a:r>
              <a:rPr b="0" i="0" lang="en-US" sz="6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 sắp xếp theo mức độ liên quan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4810348" y="1444377"/>
            <a:ext cx="4272037" cy="113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Sans"/>
              <a:buNone/>
            </a:pPr>
            <a:r>
              <a:rPr b="0" i="0" lang="en-US" sz="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Khi đã có vector, mọi bài toán tìm kiếm đều trở thành: tìm điểm gần nhất trong không gian.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4681538" y="1393701"/>
            <a:ext cx="9525" cy="215131"/>
          </a:xfrm>
          <a:prstGeom prst="roundRect">
            <a:avLst>
              <a:gd fmla="val 50000" name="adj"/>
            </a:avLst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523577" y="3335089"/>
            <a:ext cx="8096845" cy="126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750"/>
              <a:buFont typeface="Funnel Display"/>
              <a:buNone/>
            </a:pPr>
            <a:r>
              <a:rPr b="0" i="0" lang="en-US" sz="7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Pipeline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9" name="Google Shape;10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3577" y="3545904"/>
            <a:ext cx="4048423" cy="34357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6"/>
          <p:cNvSpPr/>
          <p:nvPr/>
        </p:nvSpPr>
        <p:spPr>
          <a:xfrm>
            <a:off x="609451" y="3945806"/>
            <a:ext cx="3876675" cy="126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50"/>
              <a:buFont typeface="Funnel Display"/>
              <a:buNone/>
            </a:pPr>
            <a:r>
              <a:rPr b="0" i="0" lang="en-US" sz="7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Object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1" name="Google Shape;111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0" y="3545904"/>
            <a:ext cx="4048423" cy="34357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6"/>
          <p:cNvSpPr/>
          <p:nvPr/>
        </p:nvSpPr>
        <p:spPr>
          <a:xfrm>
            <a:off x="4657874" y="3945806"/>
            <a:ext cx="3876675" cy="126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50"/>
              <a:buFont typeface="Funnel Display"/>
              <a:buNone/>
            </a:pPr>
            <a:r>
              <a:rPr b="0" i="0" lang="en-US" sz="7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Embedding Model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3" name="Google Shape;11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3577" y="4157960"/>
            <a:ext cx="4048423" cy="34357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6"/>
          <p:cNvSpPr/>
          <p:nvPr/>
        </p:nvSpPr>
        <p:spPr>
          <a:xfrm>
            <a:off x="609451" y="4557861"/>
            <a:ext cx="3876675" cy="126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50"/>
              <a:buFont typeface="Funnel Display"/>
              <a:buNone/>
            </a:pPr>
            <a:r>
              <a:rPr b="0" i="0" lang="en-US" sz="7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Vector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5" name="Google Shape;115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72000" y="4157960"/>
            <a:ext cx="4048423" cy="34357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6"/>
          <p:cNvSpPr/>
          <p:nvPr/>
        </p:nvSpPr>
        <p:spPr>
          <a:xfrm>
            <a:off x="4657874" y="4557861"/>
            <a:ext cx="3876675" cy="126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50"/>
              <a:buFont typeface="Funnel Display"/>
              <a:buNone/>
            </a:pPr>
            <a:r>
              <a:rPr b="0" i="0" lang="en-US" sz="7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Vector Space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5EB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"/>
          <p:cNvSpPr/>
          <p:nvPr/>
        </p:nvSpPr>
        <p:spPr>
          <a:xfrm>
            <a:off x="523577" y="521568"/>
            <a:ext cx="8096845" cy="269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1650"/>
              <a:buFont typeface="Funnel Display"/>
              <a:buNone/>
            </a:pPr>
            <a:r>
              <a:rPr b="0" i="0" lang="en-US" sz="16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Embedding — Biểu diễn được học từ dữ liệu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523577" y="951458"/>
            <a:ext cx="3936653" cy="134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800"/>
              <a:buFont typeface="Funnel Display"/>
              <a:buNone/>
            </a:pPr>
            <a:r>
              <a:rPr b="0" i="0" lang="en-US" sz="8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Định nghĩa chính xác: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661020" y="1216000"/>
            <a:ext cx="3799210" cy="2491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50"/>
              <a:buFont typeface="Funnel Sans"/>
              <a:buNone/>
            </a:pPr>
            <a:r>
              <a:rPr b="0" i="0" lang="en-US" sz="6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Embedding là biểu diễn số được học của một object trong không gian vector liên tục — sao cho các object có đặc điểm tương tự có xu hướng nằm gần nhau.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523577" y="1158329"/>
            <a:ext cx="9525" cy="364480"/>
          </a:xfrm>
          <a:prstGeom prst="roundRect">
            <a:avLst>
              <a:gd fmla="val 50000" name="adj"/>
            </a:avLst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6" name="Google Shape;12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577" y="1594917"/>
            <a:ext cx="3936653" cy="773162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7"/>
          <p:cNvSpPr/>
          <p:nvPr/>
        </p:nvSpPr>
        <p:spPr>
          <a:xfrm>
            <a:off x="624706" y="1943472"/>
            <a:ext cx="3734395" cy="134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800"/>
              <a:buFont typeface="Funnel Display"/>
              <a:buNone/>
            </a:pPr>
            <a:r>
              <a:rPr b="0" i="0" lang="en-US" sz="8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Được học (Learned)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624706" y="2142381"/>
            <a:ext cx="3734395" cy="1245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50"/>
              <a:buFont typeface="Funnel Sans"/>
              <a:buNone/>
            </a:pPr>
            <a:r>
              <a:rPr b="0" i="0" lang="en-US" sz="6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Từ dữ liệu huấn luyện quy mô lớn, không phải quy tắc cứng.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9" name="Google Shape;12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577" y="2432224"/>
            <a:ext cx="3936653" cy="773162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7"/>
          <p:cNvSpPr/>
          <p:nvPr/>
        </p:nvSpPr>
        <p:spPr>
          <a:xfrm>
            <a:off x="624706" y="2780779"/>
            <a:ext cx="3734395" cy="134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800"/>
              <a:buFont typeface="Funnel Display"/>
              <a:buNone/>
            </a:pPr>
            <a:r>
              <a:rPr b="0" i="0" lang="en-US" sz="8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Dạng số (Numerical)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624706" y="2979688"/>
            <a:ext cx="3734395" cy="1245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50"/>
              <a:buFont typeface="Funnel Sans"/>
              <a:buNone/>
            </a:pPr>
            <a:r>
              <a:rPr b="0" i="0" lang="en-US" sz="6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Vector số thực, máy tính tính toán được.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2" name="Google Shape;13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577" y="3269531"/>
            <a:ext cx="3936653" cy="773162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7"/>
          <p:cNvSpPr/>
          <p:nvPr/>
        </p:nvSpPr>
        <p:spPr>
          <a:xfrm>
            <a:off x="624706" y="3618086"/>
            <a:ext cx="3734395" cy="134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800"/>
              <a:buFont typeface="Funnel Display"/>
              <a:buNone/>
            </a:pPr>
            <a:r>
              <a:rPr b="0" i="0" lang="en-US" sz="8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Liên tục (Continuous)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624706" y="3816995"/>
            <a:ext cx="3734395" cy="1245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50"/>
              <a:buFont typeface="Funnel Sans"/>
              <a:buNone/>
            </a:pPr>
            <a:r>
              <a:rPr b="0" i="0" lang="en-US" sz="6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Có thể đo khoảng cách, nội suy.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523577" y="4114800"/>
            <a:ext cx="3936653" cy="1395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REM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⚠️</a:t>
            </a:r>
            <a:r>
              <a:rPr b="0" i="0" lang="en-US" sz="8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 Không nói: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523577" y="4318471"/>
            <a:ext cx="3936653" cy="2810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32080" lvl="0" marL="13208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REM"/>
              <a:buChar char="•"/>
            </a:pPr>
            <a:r>
              <a:rPr b="0" i="0" lang="en-US" sz="6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❌</a:t>
            </a:r>
            <a:r>
              <a:rPr b="0" i="0" lang="en-US" sz="6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 "Embedding hiểu ngôn ngữ"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2080" lvl="0" marL="13208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REM"/>
              <a:buChar char="•"/>
            </a:pPr>
            <a:r>
              <a:rPr b="0" i="0" lang="en-US" sz="6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✅</a:t>
            </a:r>
            <a:r>
              <a:rPr b="0" i="0" lang="en-US" sz="6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 "Embedding nắm bắt các mẫu thống kê từ dữ liệu huấn luyện"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4688532" y="951458"/>
            <a:ext cx="3936653" cy="134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800"/>
              <a:buFont typeface="Funnel Display"/>
              <a:buNone/>
            </a:pPr>
            <a:r>
              <a:rPr b="0" i="0" lang="en-US" sz="8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Semantic Space — Kết quả của Embedding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8" name="Google Shape;13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79008" y="1158329"/>
            <a:ext cx="2755627" cy="202696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7"/>
          <p:cNvSpPr/>
          <p:nvPr/>
        </p:nvSpPr>
        <p:spPr>
          <a:xfrm>
            <a:off x="5489445" y="2368061"/>
            <a:ext cx="779248" cy="973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Funnel Display"/>
              <a:buNone/>
            </a:pPr>
            <a:r>
              <a:rPr b="0" i="0" lang="en-US" sz="550" u="none" cap="none" strike="noStrike">
                <a:solidFill>
                  <a:srgbClr val="FFFFFF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Mật khẩu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6460514" y="1834456"/>
            <a:ext cx="684487" cy="973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Funnel Display"/>
              <a:buNone/>
            </a:pPr>
            <a:r>
              <a:rPr b="0" i="0" lang="en-US" sz="550" u="none" cap="none" strike="noStrike">
                <a:solidFill>
                  <a:srgbClr val="FFFFFF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Đặt lại mật khẩu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7262763" y="2360701"/>
            <a:ext cx="618247" cy="973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Funnel Display"/>
              <a:buNone/>
            </a:pPr>
            <a:r>
              <a:rPr b="0" i="0" lang="en-US" sz="550" u="none" cap="none" strike="noStrike">
                <a:solidFill>
                  <a:srgbClr val="FFFFFF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Sản xuất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6519395" y="2717665"/>
            <a:ext cx="581446" cy="973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Funnel Display"/>
              <a:buNone/>
            </a:pPr>
            <a:r>
              <a:rPr b="0" i="0" lang="en-US" sz="550" u="none" cap="none" strike="noStrike">
                <a:solidFill>
                  <a:srgbClr val="FFFFFF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Tạo đơn / Vật tư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5816508" y="1389344"/>
            <a:ext cx="507846" cy="292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Funnel Display"/>
              <a:buNone/>
            </a:pPr>
            <a:r>
              <a:rPr b="0" i="0" lang="en-US" sz="550" u="none" cap="none" strike="noStrike">
                <a:solidFill>
                  <a:srgbClr val="FFFFFF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Truy vấn: Tôi quên mật khẩu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4688532" y="3257401"/>
            <a:ext cx="4393853" cy="1245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50"/>
              <a:buFont typeface="Funnel Sans"/>
              <a:buNone/>
            </a:pPr>
            <a:r>
              <a:rPr b="0" i="0" lang="en-US" sz="6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Model khác nhau → embedding space khác nhau → retrieval quality khác nhau.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5EB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"/>
          <p:cNvSpPr/>
          <p:nvPr/>
        </p:nvSpPr>
        <p:spPr>
          <a:xfrm>
            <a:off x="523577" y="489124"/>
            <a:ext cx="8096845" cy="2888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1750"/>
              <a:buFont typeface="Funnel Display"/>
              <a:buNone/>
            </a:pPr>
            <a:r>
              <a:rPr b="0" i="0" lang="en-US" sz="17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Chunking Strategy — Chia nhỏ tài liệu cho Retrieval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523577" y="961951"/>
            <a:ext cx="3928690" cy="144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850"/>
              <a:buFont typeface="Funnel Display"/>
              <a:buNone/>
            </a:pPr>
            <a:r>
              <a:rPr b="0" i="0" lang="en-US" sz="8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Tại sao Chunking quan trọng?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670843" y="1255365"/>
            <a:ext cx="3781425" cy="274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00"/>
              <a:buFont typeface="Funnel Sans"/>
              <a:buNone/>
            </a:pPr>
            <a:r>
              <a:rPr b="0" i="0" lang="en-US" sz="7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Embedding model có giới hạn context window. Tài liệu dài phải được chia nhỏ trước khi embed.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523577" y="1189137"/>
            <a:ext cx="14288" cy="407194"/>
          </a:xfrm>
          <a:prstGeom prst="roundRect">
            <a:avLst>
              <a:gd fmla="val 49998" name="adj"/>
            </a:avLst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"/>
          <p:cNvSpPr/>
          <p:nvPr/>
        </p:nvSpPr>
        <p:spPr>
          <a:xfrm>
            <a:off x="523577" y="1679153"/>
            <a:ext cx="3928690" cy="4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42240" lvl="0" marL="14224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00"/>
              <a:buFont typeface="Funnel Sans"/>
              <a:buChar char="•"/>
            </a:pPr>
            <a:r>
              <a:rPr b="0" i="0" lang="en-US" sz="7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Chunk quá nhỏ → mất context, nhiều chunk hơn, retrieval kém precise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240" lvl="0" marL="14224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00"/>
              <a:buFont typeface="Funnel Sans"/>
              <a:buChar char="•"/>
            </a:pPr>
            <a:r>
              <a:rPr b="0" i="0" lang="en-US" sz="7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Chunk quá lớn → embedding chất lượng thấp hơn, retrieval không precise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240" lvl="0" marL="14224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00"/>
              <a:buFont typeface="Funnel Sans"/>
              <a:buChar char="•"/>
            </a:pPr>
            <a:r>
              <a:rPr b="0" i="0" lang="en-US" sz="7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Chunk size tối ưu phụ thuộc vào domain và loại tài liệu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523577" y="2216348"/>
            <a:ext cx="3928690" cy="144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850"/>
              <a:buFont typeface="Funnel Display"/>
              <a:buNone/>
            </a:pPr>
            <a:r>
              <a:rPr b="0" i="0" lang="en-US" sz="8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Các chiến lược chunking: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6" name="Google Shape;156;p8"/>
          <p:cNvGraphicFramePr/>
          <p:nvPr/>
        </p:nvGraphicFramePr>
        <p:xfrm>
          <a:off x="523577" y="24435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{3B3E4DE5-BB9D-4D9E-814C-6277CECA3E85}</a:tableStyleId>
              </a:tblPr>
              <a:tblGrid>
                <a:gridCol w="1309575"/>
                <a:gridCol w="1309575"/>
                <a:gridCol w="1309575"/>
              </a:tblGrid>
              <a:tr h="237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Chiến lược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Mô tả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Phù hợp khi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7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Fixed size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Chia theo số token cố định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Tài liệu đồng nhất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Sentence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Chia theo câu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Tài liệu văn xuôi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Paragraph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Chia theo đoạn văn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Tài liệu có cấu trúc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Semantic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Chia theo chủ đề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Tài liệu phức tạp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4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Recursive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Chia đệ quy theo separator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Tài liệu hỗn hợp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7" name="Google Shape;157;p8"/>
          <p:cNvSpPr/>
          <p:nvPr/>
        </p:nvSpPr>
        <p:spPr>
          <a:xfrm>
            <a:off x="4696495" y="961951"/>
            <a:ext cx="3928690" cy="144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850"/>
              <a:buFont typeface="Funnel Display"/>
              <a:buNone/>
            </a:pPr>
            <a:r>
              <a:rPr b="0" i="0" lang="en-US" sz="8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Ví dụ code — Chunking với overlap: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4696495" y="1189137"/>
            <a:ext cx="3928690" cy="1766441"/>
          </a:xfrm>
          <a:prstGeom prst="roundRect">
            <a:avLst>
              <a:gd fmla="val 2334" name="adj"/>
            </a:avLst>
          </a:prstGeom>
          <a:solidFill>
            <a:srgbClr val="EDE8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4814292" y="1287289"/>
            <a:ext cx="3693096" cy="15701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from langchain.text_splitter import RecursiveCharacterTextSplitter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splitter = RecursiveCharacterTextSplitter(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  chunk_size=512,      # tokens per chunk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  chunk_overlap=64,    # overlap để giữ context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  separators=["\n\n", "\n", ". ", " "]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chunks = splitter.split_text(document_text)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# Mỗi chunk → embed → lưu vào vector DB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4696495" y="3038401"/>
            <a:ext cx="3928690" cy="144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850"/>
              <a:buFont typeface="Funnel Display"/>
              <a:buNone/>
            </a:pPr>
            <a:r>
              <a:rPr b="0" i="0" lang="en-US" sz="8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Lưu ý kỹ thuật: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4696495" y="3256359"/>
            <a:ext cx="3928690" cy="626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42240" lvl="0" marL="14224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00"/>
              <a:buFont typeface="Funnel Sans"/>
              <a:buChar char="•"/>
            </a:pPr>
            <a:r>
              <a:rPr b="0" i="0" lang="en-US" sz="7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Overlap giúp tránh mất thông tin ở ranh giới chunk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240" lvl="0" marL="14224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00"/>
              <a:buFont typeface="Funnel Sans"/>
              <a:buChar char="•"/>
            </a:pPr>
            <a:r>
              <a:rPr b="0" i="0" lang="en-US" sz="7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Lưu metadata: document_id, chunk_index, page_number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240" lvl="0" marL="14224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00"/>
              <a:buFont typeface="Funnel Sans"/>
              <a:buChar char="•"/>
            </a:pPr>
            <a:r>
              <a:rPr b="0" i="0" lang="en-US" sz="7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Parent-child retrieval: retrieve chunk nhỏ, trả về context cha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240" lvl="0" marL="14224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00"/>
              <a:buFont typeface="Funnel Sans"/>
              <a:buChar char="•"/>
            </a:pPr>
            <a:r>
              <a:rPr b="0" i="0" lang="en-US" sz="7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Đánh giá chunk size bằng Recall@K trên evaluation dataset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523577" y="4328145"/>
            <a:ext cx="8096845" cy="326157"/>
          </a:xfrm>
          <a:prstGeom prst="roundRect">
            <a:avLst>
              <a:gd fmla="val 12643" name="adj"/>
            </a:avLst>
          </a:prstGeom>
          <a:solidFill>
            <a:srgbClr val="D8E7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3" name="Google Shape;16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729" y="4430762"/>
            <a:ext cx="122709" cy="98152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8"/>
          <p:cNvSpPr/>
          <p:nvPr/>
        </p:nvSpPr>
        <p:spPr>
          <a:xfrm>
            <a:off x="842590" y="4426223"/>
            <a:ext cx="8136880" cy="137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Funnel Sans"/>
              <a:buNone/>
            </a:pPr>
            <a:r>
              <a:rPr b="0" i="0" lang="en-US" sz="700" u="none" cap="none" strike="noStrike">
                <a:solidFill>
                  <a:srgbClr val="000000"/>
                </a:solidFill>
                <a:latin typeface="Funnel Sans"/>
                <a:ea typeface="Funnel Sans"/>
                <a:cs typeface="Funnel Sans"/>
                <a:sym typeface="Funnel Sans"/>
              </a:rPr>
              <a:t>Chunking là bước đầu tiên trong pipeline — quyết định này ảnh hưởng đến toàn bộ chất lượng retrieval.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5EB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"/>
          <p:cNvSpPr/>
          <p:nvPr/>
        </p:nvSpPr>
        <p:spPr>
          <a:xfrm>
            <a:off x="523577" y="359941"/>
            <a:ext cx="8096845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1050"/>
              <a:buFont typeface="Funnel Display"/>
              <a:buNone/>
            </a:pPr>
            <a:r>
              <a:rPr b="0" i="0" lang="en-US" sz="10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Chunking &amp; Indexing — Xây dựng Vector Store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523577" y="599405"/>
            <a:ext cx="3976613" cy="86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500"/>
              <a:buFont typeface="Funnel Display"/>
              <a:buNone/>
            </a:pPr>
            <a:r>
              <a:rPr b="0" i="0" lang="en-US" sz="5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Document Indexing Pipeline: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523577" y="715714"/>
            <a:ext cx="117797" cy="735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00"/>
              <a:buFont typeface="Funnel Display Light"/>
              <a:buNone/>
            </a:pPr>
            <a:r>
              <a:rPr b="0" i="0" lang="en-US" sz="400" u="none" cap="none" strike="noStrike">
                <a:solidFill>
                  <a:srgbClr val="2B3541"/>
                </a:solidFill>
                <a:latin typeface="Funnel Display Light"/>
                <a:ea typeface="Funnel Display Light"/>
                <a:cs typeface="Funnel Display Light"/>
                <a:sym typeface="Funnel Display Light"/>
              </a:rPr>
              <a:t>01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523577" y="806202"/>
            <a:ext cx="3976613" cy="9525"/>
          </a:xfrm>
          <a:prstGeom prst="rect">
            <a:avLst/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9"/>
          <p:cNvSpPr/>
          <p:nvPr/>
        </p:nvSpPr>
        <p:spPr>
          <a:xfrm>
            <a:off x="523577" y="854646"/>
            <a:ext cx="3976613" cy="86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500"/>
              <a:buFont typeface="Funnel Display"/>
              <a:buNone/>
            </a:pPr>
            <a:r>
              <a:rPr b="0" i="0" lang="en-US" sz="5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Load Documents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523577" y="967680"/>
            <a:ext cx="3976613" cy="68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00"/>
              <a:buFont typeface="Funnel Sans"/>
              <a:buNone/>
            </a:pPr>
            <a:r>
              <a:rPr b="0" i="0" lang="en-US" sz="4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PDF, Word, HTML, Markdown, Database records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523577" y="1106612"/>
            <a:ext cx="117797" cy="735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00"/>
              <a:buFont typeface="Funnel Display Light"/>
              <a:buNone/>
            </a:pPr>
            <a:r>
              <a:rPr b="0" i="0" lang="en-US" sz="400" u="none" cap="none" strike="noStrike">
                <a:solidFill>
                  <a:srgbClr val="2B3541"/>
                </a:solidFill>
                <a:latin typeface="Funnel Display Light"/>
                <a:ea typeface="Funnel Display Light"/>
                <a:cs typeface="Funnel Display Light"/>
                <a:sym typeface="Funnel Display Light"/>
              </a:rPr>
              <a:t>02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523577" y="1197099"/>
            <a:ext cx="3976613" cy="9525"/>
          </a:xfrm>
          <a:prstGeom prst="rect">
            <a:avLst/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9"/>
          <p:cNvSpPr/>
          <p:nvPr/>
        </p:nvSpPr>
        <p:spPr>
          <a:xfrm>
            <a:off x="523577" y="1245543"/>
            <a:ext cx="3976613" cy="86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500"/>
              <a:buFont typeface="Funnel Display"/>
              <a:buNone/>
            </a:pPr>
            <a:r>
              <a:rPr b="0" i="0" lang="en-US" sz="5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Chunking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523577" y="1358578"/>
            <a:ext cx="3976613" cy="68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00"/>
              <a:buFont typeface="Funnel Sans"/>
              <a:buNone/>
            </a:pPr>
            <a:r>
              <a:rPr b="0" i="0" lang="en-US" sz="4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Chia nhỏ theo chiến lược phù hợp (fixed, semantic, recursive)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523577" y="1497509"/>
            <a:ext cx="117797" cy="735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00"/>
              <a:buFont typeface="Funnel Display Light"/>
              <a:buNone/>
            </a:pPr>
            <a:r>
              <a:rPr b="0" i="0" lang="en-US" sz="400" u="none" cap="none" strike="noStrike">
                <a:solidFill>
                  <a:srgbClr val="2B3541"/>
                </a:solidFill>
                <a:latin typeface="Funnel Display Light"/>
                <a:ea typeface="Funnel Display Light"/>
                <a:cs typeface="Funnel Display Light"/>
                <a:sym typeface="Funnel Display Light"/>
              </a:rPr>
              <a:t>03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523577" y="1587996"/>
            <a:ext cx="3976613" cy="9525"/>
          </a:xfrm>
          <a:prstGeom prst="rect">
            <a:avLst/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"/>
          <p:cNvSpPr/>
          <p:nvPr/>
        </p:nvSpPr>
        <p:spPr>
          <a:xfrm>
            <a:off x="523577" y="1636440"/>
            <a:ext cx="3976613" cy="86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500"/>
              <a:buFont typeface="Funnel Display"/>
              <a:buNone/>
            </a:pPr>
            <a:r>
              <a:rPr b="0" i="0" lang="en-US" sz="5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Embedding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523577" y="1749475"/>
            <a:ext cx="3976613" cy="68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00"/>
              <a:buFont typeface="Funnel Sans"/>
              <a:buNone/>
            </a:pPr>
            <a:r>
              <a:rPr b="0" i="0" lang="en-US" sz="4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Mỗi chunk → embedding vector qua model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523577" y="1888406"/>
            <a:ext cx="117797" cy="735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00"/>
              <a:buFont typeface="Funnel Display Light"/>
              <a:buNone/>
            </a:pPr>
            <a:r>
              <a:rPr b="0" i="0" lang="en-US" sz="400" u="none" cap="none" strike="noStrike">
                <a:solidFill>
                  <a:srgbClr val="2B3541"/>
                </a:solidFill>
                <a:latin typeface="Funnel Display Light"/>
                <a:ea typeface="Funnel Display Light"/>
                <a:cs typeface="Funnel Display Light"/>
                <a:sym typeface="Funnel Display Light"/>
              </a:rPr>
              <a:t>04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523577" y="1978893"/>
            <a:ext cx="3976613" cy="9525"/>
          </a:xfrm>
          <a:prstGeom prst="rect">
            <a:avLst/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"/>
          <p:cNvSpPr/>
          <p:nvPr/>
        </p:nvSpPr>
        <p:spPr>
          <a:xfrm>
            <a:off x="523577" y="2027337"/>
            <a:ext cx="3976613" cy="86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500"/>
              <a:buFont typeface="Funnel Display"/>
              <a:buNone/>
            </a:pPr>
            <a:r>
              <a:rPr b="0" i="0" lang="en-US" sz="5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Store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523577" y="2140372"/>
            <a:ext cx="3976613" cy="68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00"/>
              <a:buFont typeface="Funnel Sans"/>
              <a:buNone/>
            </a:pPr>
            <a:r>
              <a:rPr b="0" i="0" lang="en-US" sz="4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Vector + metadata → Vector DB (Qdrant / pgvector)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523577" y="2279303"/>
            <a:ext cx="117797" cy="735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00"/>
              <a:buFont typeface="Funnel Display Light"/>
              <a:buNone/>
            </a:pPr>
            <a:r>
              <a:rPr b="0" i="0" lang="en-US" sz="400" u="none" cap="none" strike="noStrike">
                <a:solidFill>
                  <a:srgbClr val="2B3541"/>
                </a:solidFill>
                <a:latin typeface="Funnel Display Light"/>
                <a:ea typeface="Funnel Display Light"/>
                <a:cs typeface="Funnel Display Light"/>
                <a:sym typeface="Funnel Display Light"/>
              </a:rPr>
              <a:t>05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523577" y="2369790"/>
            <a:ext cx="3976613" cy="9525"/>
          </a:xfrm>
          <a:prstGeom prst="rect">
            <a:avLst/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"/>
          <p:cNvSpPr/>
          <p:nvPr/>
        </p:nvSpPr>
        <p:spPr>
          <a:xfrm>
            <a:off x="523577" y="2418234"/>
            <a:ext cx="3976613" cy="86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500"/>
              <a:buFont typeface="Funnel Display"/>
              <a:buNone/>
            </a:pPr>
            <a:r>
              <a:rPr b="0" i="0" lang="en-US" sz="5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Index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523577" y="2531269"/>
            <a:ext cx="3976613" cy="68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00"/>
              <a:buFont typeface="Funnel Sans"/>
              <a:buNone/>
            </a:pPr>
            <a:r>
              <a:rPr b="0" i="0" lang="en-US" sz="4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Xây dựng ANN index (HNSW / IVFFlat)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523577" y="2673474"/>
            <a:ext cx="3976613" cy="86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500"/>
              <a:buFont typeface="Funnel Display"/>
              <a:buNone/>
            </a:pPr>
            <a:r>
              <a:rPr b="0" i="0" lang="en-US" sz="5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Ví dụ code — Indexing pipeline: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523577" y="2789783"/>
            <a:ext cx="3976613" cy="2191941"/>
          </a:xfrm>
          <a:prstGeom prst="roundRect">
            <a:avLst>
              <a:gd fmla="val 1129" name="adj"/>
            </a:avLst>
          </a:prstGeom>
          <a:solidFill>
            <a:srgbClr val="EDE8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"/>
          <p:cNvSpPr/>
          <p:nvPr/>
        </p:nvSpPr>
        <p:spPr>
          <a:xfrm>
            <a:off x="594196" y="2848645"/>
            <a:ext cx="3835375" cy="20742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async def index_documents(docs: list[Document]):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for doc in docs: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    # 1. Chunk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    chunks = chunker.split(doc.content, size=512, overlap=64)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    # 2. Embed (batch for efficiency)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    embeddings = await embed_model.encode_batch(chunks)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    # 3. Store với metadata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    await vector_db.upsert([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        {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            "id": f"{doc.id}_{i}",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            "vector": emb,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            "payload": {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                "content": chunk,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                "doc_id": doc.id,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                "tenant_id": doc.tenant_id,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                "status": "current"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            }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        }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        for i, (chunk, emb) in enumerate(zip(chunks, embeddings))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    ])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4648572" y="599405"/>
            <a:ext cx="3976613" cy="86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500"/>
              <a:buFont typeface="Funnel Display"/>
              <a:buNone/>
            </a:pPr>
            <a:r>
              <a:rPr b="0" i="0" lang="en-US" sz="5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Lưu ý kỹ thuật quan trọng: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6" name="Google Shape;19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8572" y="715714"/>
            <a:ext cx="1975024" cy="31812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9"/>
          <p:cNvSpPr/>
          <p:nvPr/>
        </p:nvSpPr>
        <p:spPr>
          <a:xfrm>
            <a:off x="4755059" y="784101"/>
            <a:ext cx="1800151" cy="86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500"/>
              <a:buFont typeface="Funnel Display"/>
              <a:buNone/>
            </a:pPr>
            <a:r>
              <a:rPr b="0" i="0" lang="en-US" sz="5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Batch embedding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4755059" y="897136"/>
            <a:ext cx="1800151" cy="68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00"/>
              <a:buFont typeface="Funnel Sans"/>
              <a:buNone/>
            </a:pPr>
            <a:r>
              <a:rPr b="0" i="0" lang="en-US" sz="4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Embed nhiều chunk cùng lúc — nhanh hơn 10-50x so với từng chunk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9" name="Google Shape;19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50087" y="715714"/>
            <a:ext cx="1975098" cy="31812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9"/>
          <p:cNvSpPr/>
          <p:nvPr/>
        </p:nvSpPr>
        <p:spPr>
          <a:xfrm>
            <a:off x="6756574" y="784101"/>
            <a:ext cx="1800225" cy="86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500"/>
              <a:buFont typeface="Funnel Display"/>
              <a:buNone/>
            </a:pPr>
            <a:r>
              <a:rPr b="0" i="0" lang="en-US" sz="5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Idempotent indexing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6756574" y="897136"/>
            <a:ext cx="1800225" cy="68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00"/>
              <a:buFont typeface="Funnel Sans"/>
              <a:buNone/>
            </a:pPr>
            <a:r>
              <a:rPr b="0" i="0" lang="en-US" sz="4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Upsert thay vì insert — tránh duplicate khi re-index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2" name="Google Shape;20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8572" y="1060326"/>
            <a:ext cx="1975024" cy="31812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9"/>
          <p:cNvSpPr/>
          <p:nvPr/>
        </p:nvSpPr>
        <p:spPr>
          <a:xfrm>
            <a:off x="4755059" y="1128713"/>
            <a:ext cx="1800151" cy="86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500"/>
              <a:buFont typeface="Funnel Display"/>
              <a:buNone/>
            </a:pPr>
            <a:r>
              <a:rPr b="0" i="0" lang="en-US" sz="5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Metadata đầy đủ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4755059" y="1241747"/>
            <a:ext cx="1800151" cy="68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00"/>
              <a:buFont typeface="Funnel Sans"/>
              <a:buNone/>
            </a:pPr>
            <a:r>
              <a:rPr b="0" i="0" lang="en-US" sz="4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Lưu đủ metadata để filter và debug — không thể thêm sau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5" name="Google Shape;20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50087" y="1060326"/>
            <a:ext cx="1975098" cy="31812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9"/>
          <p:cNvSpPr/>
          <p:nvPr/>
        </p:nvSpPr>
        <p:spPr>
          <a:xfrm>
            <a:off x="6756574" y="1128713"/>
            <a:ext cx="1800225" cy="86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500"/>
              <a:buFont typeface="Funnel Display"/>
              <a:buNone/>
            </a:pPr>
            <a:r>
              <a:rPr b="0" i="0" lang="en-US" sz="5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Re-indexing strategy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6756574" y="1241747"/>
            <a:ext cx="1800225" cy="68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00"/>
              <a:buFont typeface="Funnel Sans"/>
              <a:buNone/>
            </a:pPr>
            <a:r>
              <a:rPr b="0" i="0" lang="en-US" sz="4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Thay đổi embedding model → phải re-index toàn bộ corpus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4648572" y="1408212"/>
            <a:ext cx="3976613" cy="86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500"/>
              <a:buFont typeface="Funnel Display"/>
              <a:buNone/>
            </a:pPr>
            <a:r>
              <a:rPr b="0" i="0" lang="en-US" sz="5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Monitoring indexing: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4648572" y="1521247"/>
            <a:ext cx="3976613" cy="223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81280" lvl="0" marL="8128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00"/>
              <a:buFont typeface="Funnel Sans"/>
              <a:buChar char="•"/>
            </a:pPr>
            <a:r>
              <a:rPr b="0" i="0" lang="en-US" sz="4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Theo dõi số chunk được index mỗi document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1280" lvl="0" marL="8128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00"/>
              <a:buFont typeface="Funnel Sans"/>
              <a:buChar char="•"/>
            </a:pPr>
            <a:r>
              <a:rPr b="0" i="0" lang="en-US" sz="4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Alert khi indexing lag quá lớn (real-time vs batch)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1280" lvl="0" marL="8128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00"/>
              <a:buFont typeface="Funnel Sans"/>
              <a:buChar char="•"/>
            </a:pPr>
            <a:r>
              <a:rPr b="0" i="0" lang="en-US" sz="4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Kiểm tra embedding quality sau khi index (sample và visualize)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5EB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"/>
          <p:cNvSpPr/>
          <p:nvPr/>
        </p:nvSpPr>
        <p:spPr>
          <a:xfrm>
            <a:off x="523577" y="494109"/>
            <a:ext cx="8096845" cy="269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1650"/>
              <a:buFont typeface="Funnel Display"/>
              <a:buNone/>
            </a:pPr>
            <a:r>
              <a:rPr b="0" i="0" lang="en-US" sz="16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Embedding Pipeline — Từ Text đến Vector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523577" y="923999"/>
            <a:ext cx="3936653" cy="134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800"/>
              <a:buFont typeface="Funnel Display"/>
              <a:buNone/>
            </a:pPr>
            <a:r>
              <a:rPr b="0" i="0" lang="en-US" sz="8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Pipeline chi tiết: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523577" y="1130871"/>
            <a:ext cx="183207" cy="114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50"/>
              <a:buFont typeface="Funnel Display Light"/>
              <a:buNone/>
            </a:pPr>
            <a:r>
              <a:rPr b="0" i="0" lang="en-US" sz="650" u="none" cap="none" strike="noStrike">
                <a:solidFill>
                  <a:srgbClr val="2B3541"/>
                </a:solidFill>
                <a:latin typeface="Funnel Display Light"/>
                <a:ea typeface="Funnel Display Light"/>
                <a:cs typeface="Funnel Display Light"/>
                <a:sym typeface="Funnel Display Light"/>
              </a:rPr>
              <a:t>01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523577" y="1277020"/>
            <a:ext cx="3936653" cy="9525"/>
          </a:xfrm>
          <a:prstGeom prst="rect">
            <a:avLst/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0"/>
          <p:cNvSpPr/>
          <p:nvPr/>
        </p:nvSpPr>
        <p:spPr>
          <a:xfrm>
            <a:off x="523577" y="1341834"/>
            <a:ext cx="3936653" cy="134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800"/>
              <a:buFont typeface="Funnel Display"/>
              <a:buNone/>
            </a:pPr>
            <a:r>
              <a:rPr b="0" i="0" lang="en-US" sz="8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Input Text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523577" y="1540743"/>
            <a:ext cx="3936653" cy="1245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50"/>
              <a:buFont typeface="Consolas"/>
              <a:buNone/>
            </a:pPr>
            <a:r>
              <a:rPr b="0" i="0" lang="en-US" sz="650" u="none" cap="none" strike="noStrike">
                <a:solidFill>
                  <a:srgbClr val="2B3541"/>
                </a:solidFill>
                <a:highlight>
                  <a:srgbClr val="EDE8DE"/>
                </a:highlight>
                <a:latin typeface="Consolas"/>
                <a:ea typeface="Consolas"/>
                <a:cs typeface="Consolas"/>
                <a:sym typeface="Consolas"/>
              </a:rPr>
              <a:t>"How to reset your password?"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523577" y="1798141"/>
            <a:ext cx="183207" cy="114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50"/>
              <a:buFont typeface="Funnel Display Light"/>
              <a:buNone/>
            </a:pPr>
            <a:r>
              <a:rPr b="0" i="0" lang="en-US" sz="650" u="none" cap="none" strike="noStrike">
                <a:solidFill>
                  <a:srgbClr val="2B3541"/>
                </a:solidFill>
                <a:latin typeface="Funnel Display Light"/>
                <a:ea typeface="Funnel Display Light"/>
                <a:cs typeface="Funnel Display Light"/>
                <a:sym typeface="Funnel Display Light"/>
              </a:rPr>
              <a:t>02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523577" y="1944291"/>
            <a:ext cx="3936653" cy="9525"/>
          </a:xfrm>
          <a:prstGeom prst="rect">
            <a:avLst/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0"/>
          <p:cNvSpPr/>
          <p:nvPr/>
        </p:nvSpPr>
        <p:spPr>
          <a:xfrm>
            <a:off x="523577" y="2009105"/>
            <a:ext cx="3936653" cy="134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800"/>
              <a:buFont typeface="Funnel Display"/>
              <a:buNone/>
            </a:pPr>
            <a:r>
              <a:rPr b="0" i="0" lang="en-US" sz="8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Tokenizer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523577" y="2208014"/>
            <a:ext cx="3936653" cy="1245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50"/>
              <a:buFont typeface="Funnel Sans"/>
              <a:buNone/>
            </a:pPr>
            <a:r>
              <a:rPr b="0" i="0" lang="en-US" sz="6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Text → tokens </a:t>
            </a:r>
            <a:r>
              <a:rPr b="0" i="0" lang="en-US" sz="650" u="none" cap="none" strike="noStrike">
                <a:solidFill>
                  <a:srgbClr val="2B3541"/>
                </a:solidFill>
                <a:highlight>
                  <a:srgbClr val="EDE8DE"/>
                </a:highlight>
                <a:latin typeface="Consolas"/>
                <a:ea typeface="Consolas"/>
                <a:cs typeface="Consolas"/>
                <a:sym typeface="Consolas"/>
              </a:rPr>
              <a:t>["How", "to", "reset", "your", "password", "?"]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523577" y="2465412"/>
            <a:ext cx="183207" cy="114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50"/>
              <a:buFont typeface="Funnel Display Light"/>
              <a:buNone/>
            </a:pPr>
            <a:r>
              <a:rPr b="0" i="0" lang="en-US" sz="650" u="none" cap="none" strike="noStrike">
                <a:solidFill>
                  <a:srgbClr val="2B3541"/>
                </a:solidFill>
                <a:latin typeface="Funnel Display Light"/>
                <a:ea typeface="Funnel Display Light"/>
                <a:cs typeface="Funnel Display Light"/>
                <a:sym typeface="Funnel Display Light"/>
              </a:rPr>
              <a:t>03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523577" y="2611562"/>
            <a:ext cx="3936653" cy="9525"/>
          </a:xfrm>
          <a:prstGeom prst="rect">
            <a:avLst/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0"/>
          <p:cNvSpPr/>
          <p:nvPr/>
        </p:nvSpPr>
        <p:spPr>
          <a:xfrm>
            <a:off x="523577" y="2676376"/>
            <a:ext cx="3936653" cy="134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800"/>
              <a:buFont typeface="Funnel Display"/>
              <a:buNone/>
            </a:pPr>
            <a:r>
              <a:rPr b="0" i="0" lang="en-US" sz="8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Transformer + Pooling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523577" y="2875285"/>
            <a:ext cx="3936653" cy="1245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50"/>
              <a:buFont typeface="Funnel Sans"/>
              <a:buNone/>
            </a:pPr>
            <a:r>
              <a:rPr b="0" i="0" lang="en-US" sz="6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Xử lý chuỗi token → tổng hợp thành 1 vector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523577" y="3132683"/>
            <a:ext cx="183207" cy="114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50"/>
              <a:buFont typeface="Funnel Display Light"/>
              <a:buNone/>
            </a:pPr>
            <a:r>
              <a:rPr b="0" i="0" lang="en-US" sz="650" u="none" cap="none" strike="noStrike">
                <a:solidFill>
                  <a:srgbClr val="2B3541"/>
                </a:solidFill>
                <a:latin typeface="Funnel Display Light"/>
                <a:ea typeface="Funnel Display Light"/>
                <a:cs typeface="Funnel Display Light"/>
                <a:sym typeface="Funnel Display Light"/>
              </a:rPr>
              <a:t>04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523577" y="3278832"/>
            <a:ext cx="3936653" cy="9525"/>
          </a:xfrm>
          <a:prstGeom prst="rect">
            <a:avLst/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0"/>
          <p:cNvSpPr/>
          <p:nvPr/>
        </p:nvSpPr>
        <p:spPr>
          <a:xfrm>
            <a:off x="523577" y="3343647"/>
            <a:ext cx="3936653" cy="134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800"/>
              <a:buFont typeface="Funnel Display"/>
              <a:buNone/>
            </a:pPr>
            <a:r>
              <a:rPr b="0" i="0" lang="en-US" sz="8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Output Vector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523577" y="3542556"/>
            <a:ext cx="3936653" cy="1245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50"/>
              <a:buFont typeface="Consolas"/>
              <a:buNone/>
            </a:pPr>
            <a:r>
              <a:rPr b="0" i="0" lang="en-US" sz="650" u="none" cap="none" strike="noStrike">
                <a:solidFill>
                  <a:srgbClr val="2B3541"/>
                </a:solidFill>
                <a:highlight>
                  <a:srgbClr val="EDE8DE"/>
                </a:highlight>
                <a:latin typeface="Consolas"/>
                <a:ea typeface="Consolas"/>
                <a:cs typeface="Consolas"/>
                <a:sym typeface="Consolas"/>
              </a:rPr>
              <a:t>[0.12, -0.31, 0.74, ..., 0.08]</a:t>
            </a:r>
            <a:r>
              <a:rPr b="0" i="0" lang="en-US" sz="6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 — 768 chiều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523577" y="3807916"/>
            <a:ext cx="3936653" cy="769293"/>
          </a:xfrm>
          <a:prstGeom prst="roundRect">
            <a:avLst>
              <a:gd fmla="val 5003" name="adj"/>
            </a:avLst>
          </a:prstGeom>
          <a:solidFill>
            <a:srgbClr val="EDE8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0"/>
          <p:cNvSpPr/>
          <p:nvPr/>
        </p:nvSpPr>
        <p:spPr>
          <a:xfrm>
            <a:off x="633487" y="3899520"/>
            <a:ext cx="3716834" cy="586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650"/>
              <a:buFont typeface="Consolas"/>
              <a:buNone/>
            </a:pPr>
            <a:r>
              <a:rPr b="0" i="0" lang="en-US" sz="65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from sentence_transformers import SentenceTransformer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650"/>
              <a:buFont typeface="Consolas"/>
              <a:buNone/>
            </a:pPr>
            <a:r>
              <a:rPr b="0" i="0" lang="en-US" sz="65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model = SentenceTransformer("BAAI/bge-m3")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650"/>
              <a:buFont typeface="Consolas"/>
              <a:buNone/>
            </a:pPr>
            <a:r>
              <a:rPr b="0" i="0" lang="en-US" sz="65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vector = model.encode("How to reset your password?")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650"/>
              <a:buFont typeface="Consolas"/>
              <a:buNone/>
            </a:pPr>
            <a:r>
              <a:rPr b="0" i="0" lang="en-US" sz="65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# vector.shape → (768,)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4688532" y="923999"/>
            <a:ext cx="3936653" cy="134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800"/>
              <a:buFont typeface="Funnel Display"/>
              <a:buNone/>
            </a:pPr>
            <a:r>
              <a:rPr b="0" i="0" lang="en-US" sz="8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Các Embedding Model phổ biến: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6" name="Google Shape;236;p10"/>
          <p:cNvGraphicFramePr/>
          <p:nvPr/>
        </p:nvGraphicFramePr>
        <p:xfrm>
          <a:off x="4688532" y="113087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{3B3E4DE5-BB9D-4D9E-814C-6277CECA3E85}</a:tableStyleId>
              </a:tblPr>
              <a:tblGrid>
                <a:gridCol w="1312225"/>
                <a:gridCol w="1312225"/>
                <a:gridCol w="1312225"/>
              </a:tblGrid>
              <a:tr h="213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Model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1650" marL="91650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Dimensions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1650" marL="9165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Đặc điểm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1650" marL="9165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all-MiniLM-L6-v2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1650" marL="91650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384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1650" marL="9165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Nhanh, nhẹ, tiếng Anh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1650" marL="9165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BGE-M3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1650" marL="91650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1024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1650" marL="9165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Đa ngôn ngữ, hybrid search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1650" marL="9165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text-embedding-3-small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1650" marL="91650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1536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1650" marL="9165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OpenAI, đa mục đích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1650" marL="9165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Qwen3-Embedding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1650" marL="91650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2048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1650" marL="9165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Mới, hiệu năng cao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1650" marL="9165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7" name="Google Shape;237;p10"/>
          <p:cNvSpPr/>
          <p:nvPr/>
        </p:nvSpPr>
        <p:spPr>
          <a:xfrm>
            <a:off x="4688532" y="2286744"/>
            <a:ext cx="3936653" cy="1395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REM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⚠️</a:t>
            </a:r>
            <a:r>
              <a:rPr b="0" i="0" lang="en-US" sz="8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 Nguyên tắc quan trọng: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4688532" y="2490415"/>
            <a:ext cx="3936653" cy="4185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32080" lvl="0" marL="13208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50"/>
              <a:buFont typeface="Funnel Sans"/>
              <a:buChar char="•"/>
            </a:pPr>
            <a:r>
              <a:rPr b="0" i="0" lang="en-US" sz="6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Dimension cao ≠ chất lượng tốt hơn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2080" lvl="0" marL="13208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50"/>
              <a:buFont typeface="Funnel Sans"/>
              <a:buChar char="•"/>
            </a:pPr>
            <a:r>
              <a:rPr b="0" i="0" lang="en-US" sz="6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Không thể trộn vector từ model khác nhau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2080" lvl="0" marL="13208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50"/>
              <a:buFont typeface="Funnel Sans"/>
              <a:buChar char="•"/>
            </a:pPr>
            <a:r>
              <a:rPr b="0" i="0" lang="en-US" sz="6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Đánh giá trên dữ liệu domain của bạn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5EB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1"/>
          <p:cNvSpPr/>
          <p:nvPr/>
        </p:nvSpPr>
        <p:spPr>
          <a:xfrm>
            <a:off x="523577" y="394692"/>
            <a:ext cx="8096845" cy="269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1650"/>
              <a:buFont typeface="Funnel Display"/>
              <a:buNone/>
            </a:pPr>
            <a:r>
              <a:rPr b="0" i="0" lang="en-US" sz="16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Embedding Model Selection — Chọn model phù hợp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523577" y="824582"/>
            <a:ext cx="3936653" cy="134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800"/>
              <a:buFont typeface="Funnel Display"/>
              <a:buNone/>
            </a:pPr>
            <a:r>
              <a:rPr b="0" i="0" lang="en-US" sz="8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Các tiêu chí chọn Embedding Model: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6" name="Google Shape;24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577" y="1031453"/>
            <a:ext cx="3936653" cy="549771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1"/>
          <p:cNvSpPr/>
          <p:nvPr/>
        </p:nvSpPr>
        <p:spPr>
          <a:xfrm>
            <a:off x="645244" y="1220465"/>
            <a:ext cx="137443" cy="1717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050"/>
              <a:buFont typeface="Funnel Display"/>
              <a:buNone/>
            </a:pPr>
            <a:r>
              <a:rPr b="0" i="0" lang="en-US" sz="10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963737" y="1132582"/>
            <a:ext cx="3395365" cy="134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800"/>
              <a:buFont typeface="Funnel Display"/>
              <a:buNone/>
            </a:pPr>
            <a:r>
              <a:rPr b="0" i="0" lang="en-US" sz="8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Domain fit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963737" y="1331491"/>
            <a:ext cx="3395365" cy="1245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50"/>
              <a:buFont typeface="Funnel Sans"/>
              <a:buNone/>
            </a:pPr>
            <a:r>
              <a:rPr b="0" i="0" lang="en-US" sz="6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Model được huấn luyện trên dữ liệu gần với domain của bạn → tốt hơn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0" name="Google Shape;25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577" y="1645369"/>
            <a:ext cx="3936653" cy="549771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1"/>
          <p:cNvSpPr/>
          <p:nvPr/>
        </p:nvSpPr>
        <p:spPr>
          <a:xfrm>
            <a:off x="645244" y="1834381"/>
            <a:ext cx="137443" cy="1717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050"/>
              <a:buFont typeface="Funnel Display"/>
              <a:buNone/>
            </a:pPr>
            <a:r>
              <a:rPr b="0" i="0" lang="en-US" sz="10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963737" y="1746498"/>
            <a:ext cx="3395365" cy="134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800"/>
              <a:buFont typeface="Funnel Display"/>
              <a:buNone/>
            </a:pPr>
            <a:r>
              <a:rPr b="0" i="0" lang="en-US" sz="8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Language support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963737" y="1945407"/>
            <a:ext cx="3395365" cy="1245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50"/>
              <a:buFont typeface="Funnel Sans"/>
              <a:buNone/>
            </a:pPr>
            <a:r>
              <a:rPr b="0" i="0" lang="en-US" sz="6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Multilingual nếu cần đa ngôn ngữ — nhưng có thể kém hơn monolingual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4" name="Google Shape;25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577" y="2259285"/>
            <a:ext cx="3936653" cy="549771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1"/>
          <p:cNvSpPr/>
          <p:nvPr/>
        </p:nvSpPr>
        <p:spPr>
          <a:xfrm>
            <a:off x="645244" y="2448297"/>
            <a:ext cx="137443" cy="1717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050"/>
              <a:buFont typeface="Funnel Display"/>
              <a:buNone/>
            </a:pPr>
            <a:r>
              <a:rPr b="0" i="0" lang="en-US" sz="10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963737" y="2360414"/>
            <a:ext cx="3395365" cy="134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800"/>
              <a:buFont typeface="Funnel Display"/>
              <a:buNone/>
            </a:pPr>
            <a:r>
              <a:rPr b="0" i="0" lang="en-US" sz="8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Dimension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963737" y="2559323"/>
            <a:ext cx="3395365" cy="1245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50"/>
              <a:buFont typeface="Funnel Sans"/>
              <a:buNone/>
            </a:pPr>
            <a:r>
              <a:rPr b="0" i="0" lang="en-US" sz="6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Không phải dimension cao = tốt hơn — benchmark trên dữ liệu của bạn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8" name="Google Shape;25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577" y="2873201"/>
            <a:ext cx="3936653" cy="549771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1"/>
          <p:cNvSpPr/>
          <p:nvPr/>
        </p:nvSpPr>
        <p:spPr>
          <a:xfrm>
            <a:off x="645244" y="3062213"/>
            <a:ext cx="137443" cy="1717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050"/>
              <a:buFont typeface="Funnel Display"/>
              <a:buNone/>
            </a:pPr>
            <a:r>
              <a:rPr b="0" i="0" lang="en-US" sz="10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4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963737" y="2974330"/>
            <a:ext cx="3395365" cy="134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800"/>
              <a:buFont typeface="Funnel Display"/>
              <a:buNone/>
            </a:pPr>
            <a:r>
              <a:rPr b="0" i="0" lang="en-US" sz="8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Context window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963737" y="3173239"/>
            <a:ext cx="3395365" cy="1245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50"/>
              <a:buFont typeface="Funnel Sans"/>
              <a:buNone/>
            </a:pPr>
            <a:r>
              <a:rPr b="0" i="0" lang="en-US" sz="6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Model có context window lớn hơn → chunk size lớn hơn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2" name="Google Shape;26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577" y="3487117"/>
            <a:ext cx="3936653" cy="549771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11"/>
          <p:cNvSpPr/>
          <p:nvPr/>
        </p:nvSpPr>
        <p:spPr>
          <a:xfrm>
            <a:off x="645244" y="3676129"/>
            <a:ext cx="137443" cy="1717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050"/>
              <a:buFont typeface="Funnel Display"/>
              <a:buNone/>
            </a:pPr>
            <a:r>
              <a:rPr b="0" i="0" lang="en-US" sz="10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963737" y="3588246"/>
            <a:ext cx="3395365" cy="134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800"/>
              <a:buFont typeface="Funnel Display"/>
              <a:buNone/>
            </a:pPr>
            <a:r>
              <a:rPr b="0" i="0" lang="en-US" sz="8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Inference cost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963737" y="3787155"/>
            <a:ext cx="3395365" cy="1245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50"/>
              <a:buFont typeface="Funnel Sans"/>
              <a:buNone/>
            </a:pPr>
            <a:r>
              <a:rPr b="0" i="0" lang="en-US" sz="6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Latency và cost của embedding service — ảnh hưởng đến SLA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523577" y="4108996"/>
            <a:ext cx="3936653" cy="134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800"/>
              <a:buFont typeface="Funnel Display"/>
              <a:buNone/>
            </a:pPr>
            <a:r>
              <a:rPr b="0" i="0" lang="en-US" sz="8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Benchmark trước khi chọn: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523577" y="4307904"/>
            <a:ext cx="3936653" cy="4185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32080" lvl="0" marL="13208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50"/>
              <a:buFont typeface="Funnel Sans"/>
              <a:buChar char="•"/>
            </a:pPr>
            <a:r>
              <a:rPr b="0" i="0" lang="en-US" sz="6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Tạo evaluation dataset từ dữ liệu domain của bạn (100-500 query-doc pairs)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2080" lvl="0" marL="13208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50"/>
              <a:buFont typeface="Funnel Sans"/>
              <a:buChar char="•"/>
            </a:pPr>
            <a:r>
              <a:rPr b="0" i="0" lang="en-US" sz="6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Chạy từng model → tính Recall@10, Precision@5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2080" lvl="0" marL="13208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50"/>
              <a:buFont typeface="Funnel Sans"/>
              <a:buChar char="•"/>
            </a:pPr>
            <a:r>
              <a:rPr b="0" i="0" lang="en-US" sz="6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Chọn model có Recall@10 cao nhất trên dữ liệu của bạn — không phải trên MTEB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4688532" y="824582"/>
            <a:ext cx="3936653" cy="134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800"/>
              <a:buFont typeface="Funnel Display"/>
              <a:buNone/>
            </a:pPr>
            <a:r>
              <a:rPr b="0" i="0" lang="en-US" sz="8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So sánh model phổ biến: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9" name="Google Shape;269;p11"/>
          <p:cNvGraphicFramePr/>
          <p:nvPr/>
        </p:nvGraphicFramePr>
        <p:xfrm>
          <a:off x="4688532" y="10314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{3B3E4DE5-BB9D-4D9E-814C-6277CECA3E85}</a:tableStyleId>
              </a:tblPr>
              <a:tblGrid>
                <a:gridCol w="1181025"/>
                <a:gridCol w="472350"/>
                <a:gridCol w="708600"/>
                <a:gridCol w="1574675"/>
              </a:tblGrid>
              <a:tr h="213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Model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1650" marL="91650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Dim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1650" marL="9165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Multilingual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1650" marL="9165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Đặc điểm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1650" marL="9165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0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all-MiniLM-L6-v2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1650" marL="91650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384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1650" marL="9165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91650" marL="9165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Nhanh, nhẹ, tiếng Anh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1650" marL="9165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0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BGE-M3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1650" marL="91650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1024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1650" marL="9165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91650" marL="9165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Hybrid search, đa ngôn ngữ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1650" marL="9165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0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E5-large-v2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1650" marL="91650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1024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1650" marL="9165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91650" marL="9165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Tốt cho asymmetric retrieval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1650" marL="9165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0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text-embedding-3-small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1650" marL="91650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1536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1650" marL="9165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91650" marL="9165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OpenAI, đa mục đích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1650" marL="9165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0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Qwen3-Embedding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1650" marL="91650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2048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1650" marL="9165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91650" marL="9165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Mới, hiệu năng cao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1650" marL="9165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domain-specific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1650" marL="91650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varies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1650" marL="9165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depends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1650" marL="9165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Fine-tuned trên domain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1650" marL="9165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0" name="Google Shape;270;p11"/>
          <p:cNvSpPr/>
          <p:nvPr/>
        </p:nvSpPr>
        <p:spPr>
          <a:xfrm>
            <a:off x="4688532" y="2642741"/>
            <a:ext cx="3936653" cy="134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800"/>
              <a:buFont typeface="Funnel Display"/>
              <a:buNone/>
            </a:pPr>
            <a:r>
              <a:rPr b="0" i="0" lang="en-US" sz="8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Fine-tuning khi nào?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4688532" y="2841650"/>
            <a:ext cx="3936653" cy="4185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32080" lvl="0" marL="13208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50"/>
              <a:buFont typeface="Funnel Sans"/>
              <a:buChar char="•"/>
            </a:pPr>
            <a:r>
              <a:rPr b="0" i="0" lang="en-US" sz="6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General model recall &lt; 0.7 trên domain data → cân nhắc fine-tuning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2080" lvl="0" marL="13208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50"/>
              <a:buFont typeface="Funnel Sans"/>
              <a:buChar char="•"/>
            </a:pPr>
            <a:r>
              <a:rPr b="0" i="0" lang="en-US" sz="6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Có đủ labeled data (&gt;1000 query-doc pairs) → fine-tuning khả thi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2080" lvl="0" marL="13208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50"/>
              <a:buFont typeface="Funnel Sans"/>
              <a:buChar char="•"/>
            </a:pPr>
            <a:r>
              <a:rPr b="0" i="0" lang="en-US" sz="6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Chi phí fine-tuning vs chi phí retrieval kém — tính toán ROI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4688532" y="3332262"/>
            <a:ext cx="3936653" cy="290364"/>
          </a:xfrm>
          <a:prstGeom prst="roundRect">
            <a:avLst>
              <a:gd fmla="val 13255" name="adj"/>
            </a:avLst>
          </a:prstGeom>
          <a:solidFill>
            <a:srgbClr val="FCF2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3" name="Google Shape;27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0136" y="3434283"/>
            <a:ext cx="114523" cy="91604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11"/>
          <p:cNvSpPr/>
          <p:nvPr/>
        </p:nvSpPr>
        <p:spPr>
          <a:xfrm>
            <a:off x="4986263" y="3412778"/>
            <a:ext cx="4004518" cy="12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REM"/>
              <a:buNone/>
            </a:pPr>
            <a:r>
              <a:rPr b="0" i="0" lang="en-US" sz="6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⚠️</a:t>
            </a:r>
            <a:r>
              <a:rPr b="0" i="0" lang="en-US" sz="650" u="none" cap="none" strike="noStrike">
                <a:solidFill>
                  <a:srgbClr val="000000"/>
                </a:solidFill>
                <a:latin typeface="Funnel Sans"/>
                <a:ea typeface="Funnel Sans"/>
                <a:cs typeface="Funnel Sans"/>
                <a:sym typeface="Funnel Sans"/>
              </a:rPr>
              <a:t> Không thể trộn vector từ model khác nhau — thay đổi model = rebuild toàn bộ index.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5EB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2"/>
          <p:cNvSpPr/>
          <p:nvPr/>
        </p:nvSpPr>
        <p:spPr>
          <a:xfrm>
            <a:off x="523577" y="426244"/>
            <a:ext cx="8096845" cy="2888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1750"/>
              <a:buFont typeface="Funnel Display"/>
              <a:buNone/>
            </a:pPr>
            <a:r>
              <a:rPr b="0" i="0" lang="en-US" sz="17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Similarity Metrics — Đo khoảng cách giữa hai vector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2"/>
          <p:cNvSpPr/>
          <p:nvPr/>
        </p:nvSpPr>
        <p:spPr>
          <a:xfrm>
            <a:off x="523577" y="899071"/>
            <a:ext cx="3928690" cy="144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850"/>
              <a:buFont typeface="Funnel Display"/>
              <a:buNone/>
            </a:pPr>
            <a:r>
              <a:rPr b="0" i="0" lang="en-US" sz="8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Câu hỏi cốt lõi: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2"/>
          <p:cNvSpPr/>
          <p:nvPr/>
        </p:nvSpPr>
        <p:spPr>
          <a:xfrm>
            <a:off x="670843" y="1192485"/>
            <a:ext cx="4238625" cy="137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00"/>
              <a:buFont typeface="Funnel Sans"/>
              <a:buNone/>
            </a:pPr>
            <a:r>
              <a:rPr b="0" i="0" lang="en-US" sz="7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Nếu hai câu đã trở thành vector, làm sao biết chúng giống nhau?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2"/>
          <p:cNvSpPr/>
          <p:nvPr/>
        </p:nvSpPr>
        <p:spPr>
          <a:xfrm>
            <a:off x="523577" y="1126257"/>
            <a:ext cx="14288" cy="269825"/>
          </a:xfrm>
          <a:prstGeom prst="roundRect">
            <a:avLst>
              <a:gd fmla="val 49998" name="adj"/>
            </a:avLst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2"/>
          <p:cNvSpPr/>
          <p:nvPr/>
        </p:nvSpPr>
        <p:spPr>
          <a:xfrm>
            <a:off x="523577" y="1478905"/>
            <a:ext cx="3928690" cy="144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850"/>
              <a:buFont typeface="Funnel Display"/>
              <a:buNone/>
            </a:pPr>
            <a:r>
              <a:rPr b="0" i="0" lang="en-US" sz="8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Cosine Similarity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5" name="Google Shape;28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577" y="1716435"/>
            <a:ext cx="3928690" cy="306884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12"/>
          <p:cNvSpPr/>
          <p:nvPr/>
        </p:nvSpPr>
        <p:spPr>
          <a:xfrm>
            <a:off x="523577" y="2116485"/>
            <a:ext cx="4385890" cy="137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00"/>
              <a:buFont typeface="Funnel Sans"/>
              <a:buNone/>
            </a:pPr>
            <a:r>
              <a:rPr b="0" i="0" lang="en-US" sz="7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Đo góc giữa hai vector — không quan tâm độ lớn. Phổ biến nhất cho text.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2"/>
          <p:cNvSpPr/>
          <p:nvPr/>
        </p:nvSpPr>
        <p:spPr>
          <a:xfrm>
            <a:off x="523577" y="2327449"/>
            <a:ext cx="3928690" cy="144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850"/>
              <a:buFont typeface="Funnel Display"/>
              <a:buNone/>
            </a:pPr>
            <a:r>
              <a:rPr b="0" i="0" lang="en-US" sz="8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Dot Product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8" name="Google Shape;288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3577" y="2564978"/>
            <a:ext cx="3928690" cy="311051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12"/>
          <p:cNvSpPr/>
          <p:nvPr/>
        </p:nvSpPr>
        <p:spPr>
          <a:xfrm>
            <a:off x="523577" y="2969196"/>
            <a:ext cx="4385890" cy="137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00"/>
              <a:buFont typeface="Funnel Sans"/>
              <a:buNone/>
            </a:pPr>
            <a:r>
              <a:rPr b="0" i="0" lang="en-US" sz="7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Bị ảnh hưởng bởi cả hướng VÀ độ lớn. Dùng khi magnitude có ý nghĩa.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2"/>
          <p:cNvSpPr/>
          <p:nvPr/>
        </p:nvSpPr>
        <p:spPr>
          <a:xfrm>
            <a:off x="523577" y="3180159"/>
            <a:ext cx="3928690" cy="144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850"/>
              <a:buFont typeface="Funnel Display"/>
              <a:buNone/>
            </a:pPr>
            <a:r>
              <a:rPr b="0" i="0" lang="en-US" sz="8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Euclidean Distance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1" name="Google Shape;291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3577" y="3417689"/>
            <a:ext cx="3928690" cy="406301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12"/>
          <p:cNvSpPr/>
          <p:nvPr/>
        </p:nvSpPr>
        <p:spPr>
          <a:xfrm>
            <a:off x="523577" y="3917156"/>
            <a:ext cx="4385890" cy="137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00"/>
              <a:buFont typeface="Funnel Sans"/>
              <a:buNone/>
            </a:pPr>
            <a:r>
              <a:rPr b="0" i="0" lang="en-US" sz="7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Khoảng cách đường thẳng. Ít dùng cho text embedding.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2"/>
          <p:cNvSpPr/>
          <p:nvPr/>
        </p:nvSpPr>
        <p:spPr>
          <a:xfrm>
            <a:off x="4696495" y="899071"/>
            <a:ext cx="3928690" cy="144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850"/>
              <a:buFont typeface="Funnel Display"/>
              <a:buNone/>
            </a:pPr>
            <a:r>
              <a:rPr b="0" i="0" lang="en-US" sz="8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Ví dụ thực tế — Ranking Documents: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2"/>
          <p:cNvSpPr/>
          <p:nvPr/>
        </p:nvSpPr>
        <p:spPr>
          <a:xfrm>
            <a:off x="4696495" y="1117029"/>
            <a:ext cx="4385890" cy="137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00"/>
              <a:buFont typeface="Funnel Sans"/>
              <a:buNone/>
            </a:pPr>
            <a:r>
              <a:rPr b="0" i="0" lang="en-US" sz="7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Query: </a:t>
            </a:r>
            <a:r>
              <a:rPr b="0" i="0" lang="en-US" sz="700" u="none" cap="none" strike="noStrike">
                <a:solidFill>
                  <a:srgbClr val="2B3541"/>
                </a:solidFill>
                <a:highlight>
                  <a:srgbClr val="EDE8DE"/>
                </a:highlight>
                <a:latin typeface="Consolas"/>
                <a:ea typeface="Consolas"/>
                <a:cs typeface="Consolas"/>
                <a:sym typeface="Consolas"/>
              </a:rPr>
              <a:t>"How do I reset my password?"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5" name="Google Shape;295;p12"/>
          <p:cNvGraphicFramePr/>
          <p:nvPr/>
        </p:nvGraphicFramePr>
        <p:xfrm>
          <a:off x="4696495" y="13372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{3B3E4DE5-BB9D-4D9E-814C-6277CECA3E85}</a:tableStyleId>
              </a:tblPr>
              <a:tblGrid>
                <a:gridCol w="1309575"/>
                <a:gridCol w="1309575"/>
                <a:gridCol w="1309575"/>
              </a:tblGrid>
              <a:tr h="237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Document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Cosine Score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Rank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7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How to reset your password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0.92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#1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7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Change account password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0.87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#2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Update user profile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0.54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#3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Create production order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0.21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#4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6" name="Google Shape;296;p12"/>
          <p:cNvSpPr/>
          <p:nvPr/>
        </p:nvSpPr>
        <p:spPr>
          <a:xfrm>
            <a:off x="4696495" y="2899097"/>
            <a:ext cx="3928690" cy="144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850"/>
              <a:buFont typeface="Funnel Display"/>
              <a:buNone/>
            </a:pPr>
            <a:r>
              <a:rPr b="0" i="0" lang="en-US" sz="8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So sánh các Metric: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7" name="Google Shape;297;p12"/>
          <p:cNvGraphicFramePr/>
          <p:nvPr/>
        </p:nvGraphicFramePr>
        <p:xfrm>
          <a:off x="4696495" y="312628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{3B3E4DE5-BB9D-4D9E-814C-6277CECA3E85}</a:tableStyleId>
              </a:tblPr>
              <a:tblGrid>
                <a:gridCol w="1309575"/>
                <a:gridCol w="1309575"/>
                <a:gridCol w="1309575"/>
              </a:tblGrid>
              <a:tr h="237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Metric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Nhạy với độ lớn?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Dùng khi nào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Cosine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Không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Semantic text similarity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Dot Product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Có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Retrieval / learned scoring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4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Euclidean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Có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Geometric / image similarity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8" name="Google Shape;298;p12"/>
          <p:cNvSpPr/>
          <p:nvPr/>
        </p:nvSpPr>
        <p:spPr>
          <a:xfrm>
            <a:off x="4696495" y="4310881"/>
            <a:ext cx="3928690" cy="323552"/>
          </a:xfrm>
          <a:prstGeom prst="roundRect">
            <a:avLst>
              <a:gd fmla="val 12745" name="adj"/>
            </a:avLst>
          </a:prstGeom>
          <a:solidFill>
            <a:srgbClr val="FCF2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9" name="Google Shape;299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94647" y="4427786"/>
            <a:ext cx="122709" cy="98152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12"/>
          <p:cNvSpPr/>
          <p:nvPr/>
        </p:nvSpPr>
        <p:spPr>
          <a:xfrm>
            <a:off x="5015508" y="4401592"/>
            <a:ext cx="3968725" cy="1421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REM"/>
              <a:buNone/>
            </a:pPr>
            <a:r>
              <a:rPr b="0" i="0" lang="en-US" sz="7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⚠️</a:t>
            </a:r>
            <a:r>
              <a:rPr b="0" i="0" lang="en-US" sz="700" u="none" cap="none" strike="noStrike">
                <a:solidFill>
                  <a:srgbClr val="000000"/>
                </a:solidFill>
                <a:latin typeface="Funnel Sans"/>
                <a:ea typeface="Funnel Sans"/>
                <a:cs typeface="Funnel Sans"/>
                <a:sym typeface="Funnel Sans"/>
              </a:rPr>
              <a:t> Metric phải khớp với cách embedding model được huấn luyện.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5EB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3"/>
          <p:cNvSpPr/>
          <p:nvPr/>
        </p:nvSpPr>
        <p:spPr>
          <a:xfrm>
            <a:off x="523577" y="400050"/>
            <a:ext cx="8096845" cy="242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1500"/>
              <a:buFont typeface="Funnel Display"/>
              <a:buNone/>
            </a:pPr>
            <a:r>
              <a:rPr b="0" i="0" lang="en-US" sz="15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Semantic Search — Pipeline đầy đủ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3"/>
          <p:cNvSpPr/>
          <p:nvPr/>
        </p:nvSpPr>
        <p:spPr>
          <a:xfrm>
            <a:off x="523577" y="772195"/>
            <a:ext cx="3947889" cy="1211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700"/>
              <a:buFont typeface="Funnel Display"/>
              <a:buNone/>
            </a:pPr>
            <a:r>
              <a:rPr b="0" i="0" lang="en-US" sz="7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Keyword Search vs Semantic Search: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8" name="Google Shape;308;p13"/>
          <p:cNvGraphicFramePr/>
          <p:nvPr/>
        </p:nvGraphicFramePr>
        <p:xfrm>
          <a:off x="523577" y="9516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{3B3E4DE5-BB9D-4D9E-814C-6277CECA3E85}</a:tableStyleId>
              </a:tblPr>
              <a:tblGrid>
                <a:gridCol w="1315975"/>
                <a:gridCol w="1315975"/>
                <a:gridCol w="1315975"/>
              </a:tblGrid>
              <a:tr h="18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2425" marL="82425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Keyword Search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2425" marL="8242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Semantic Search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2425" marL="8242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3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Cơ chế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2425" marL="82425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Khớp từ chính xác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2425" marL="8242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Đo similarity trong vector space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2425" marL="8242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1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Query "forgot password"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2425" marL="82425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Tìm doc có "forgot" + "password"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2425" marL="8242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Tìm doc gần nghĩa với query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2425" marL="8242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3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Paraphrase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2425" marL="82425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 Bỏ sót</a:t>
                      </a:r>
                      <a:endParaRPr sz="8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82425" marL="8242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 Tìm được</a:t>
                      </a:r>
                      <a:endParaRPr sz="8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82425" marL="8242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3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Exact codes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2425" marL="82425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 Tốt</a:t>
                      </a:r>
                      <a:endParaRPr sz="8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82425" marL="8242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 Có thể bỏ sót</a:t>
                      </a:r>
                      <a:endParaRPr sz="8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82425" marL="8242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Tốc độ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2425" marL="82425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Nhanh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2425" marL="8242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Phụ thuộc vào index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2425" marL="8242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09" name="Google Shape;309;p13"/>
          <p:cNvSpPr/>
          <p:nvPr/>
        </p:nvSpPr>
        <p:spPr>
          <a:xfrm>
            <a:off x="4677296" y="772195"/>
            <a:ext cx="3947889" cy="1211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700"/>
              <a:buFont typeface="Funnel Display"/>
              <a:buNone/>
            </a:pPr>
            <a:r>
              <a:rPr b="0" i="0" lang="en-US" sz="7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Pipeline Semantic Search: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3"/>
          <p:cNvSpPr/>
          <p:nvPr/>
        </p:nvSpPr>
        <p:spPr>
          <a:xfrm>
            <a:off x="4677296" y="951681"/>
            <a:ext cx="164827" cy="1029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Display Light"/>
              <a:buNone/>
            </a:pPr>
            <a:r>
              <a:rPr b="0" i="0" lang="en-US" sz="600" u="none" cap="none" strike="noStrike">
                <a:solidFill>
                  <a:srgbClr val="2B3541"/>
                </a:solidFill>
                <a:latin typeface="Funnel Display Light"/>
                <a:ea typeface="Funnel Display Light"/>
                <a:cs typeface="Funnel Display Light"/>
                <a:sym typeface="Funnel Display Light"/>
              </a:rPr>
              <a:t>01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3"/>
          <p:cNvSpPr/>
          <p:nvPr/>
        </p:nvSpPr>
        <p:spPr>
          <a:xfrm>
            <a:off x="4677296" y="1082129"/>
            <a:ext cx="3947889" cy="9525"/>
          </a:xfrm>
          <a:prstGeom prst="rect">
            <a:avLst/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3"/>
          <p:cNvSpPr/>
          <p:nvPr/>
        </p:nvSpPr>
        <p:spPr>
          <a:xfrm>
            <a:off x="4677296" y="1142330"/>
            <a:ext cx="3947889" cy="1211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00"/>
              <a:buFont typeface="Funnel Display"/>
              <a:buNone/>
            </a:pPr>
            <a:r>
              <a:rPr b="0" i="0" lang="en-US" sz="7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Indexing (offline)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3"/>
          <p:cNvSpPr/>
          <p:nvPr/>
        </p:nvSpPr>
        <p:spPr>
          <a:xfrm>
            <a:off x="4677296" y="1315343"/>
            <a:ext cx="3947889" cy="107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Sans"/>
              <a:buNone/>
            </a:pPr>
            <a:r>
              <a:rPr b="0" i="0" lang="en-US" sz="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Documents → Embedding Model → Document Vectors → Vector Store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3"/>
          <p:cNvSpPr/>
          <p:nvPr/>
        </p:nvSpPr>
        <p:spPr>
          <a:xfrm>
            <a:off x="4677296" y="1536427"/>
            <a:ext cx="164827" cy="1029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Display Light"/>
              <a:buNone/>
            </a:pPr>
            <a:r>
              <a:rPr b="0" i="0" lang="en-US" sz="600" u="none" cap="none" strike="noStrike">
                <a:solidFill>
                  <a:srgbClr val="2B3541"/>
                </a:solidFill>
                <a:latin typeface="Funnel Display Light"/>
                <a:ea typeface="Funnel Display Light"/>
                <a:cs typeface="Funnel Display Light"/>
                <a:sym typeface="Funnel Display Light"/>
              </a:rPr>
              <a:t>02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3"/>
          <p:cNvSpPr/>
          <p:nvPr/>
        </p:nvSpPr>
        <p:spPr>
          <a:xfrm>
            <a:off x="4677296" y="1666875"/>
            <a:ext cx="3947889" cy="9525"/>
          </a:xfrm>
          <a:prstGeom prst="rect">
            <a:avLst/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3"/>
          <p:cNvSpPr/>
          <p:nvPr/>
        </p:nvSpPr>
        <p:spPr>
          <a:xfrm>
            <a:off x="4677296" y="1727076"/>
            <a:ext cx="3947889" cy="1211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00"/>
              <a:buFont typeface="Funnel Display"/>
              <a:buNone/>
            </a:pPr>
            <a:r>
              <a:rPr b="0" i="0" lang="en-US" sz="7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Query (online)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3"/>
          <p:cNvSpPr/>
          <p:nvPr/>
        </p:nvSpPr>
        <p:spPr>
          <a:xfrm>
            <a:off x="4677296" y="1900089"/>
            <a:ext cx="3947889" cy="107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Sans"/>
              <a:buNone/>
            </a:pPr>
            <a:r>
              <a:rPr b="0" i="0" lang="en-US" sz="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User Query → Embedding Model → Query Vector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3"/>
          <p:cNvSpPr/>
          <p:nvPr/>
        </p:nvSpPr>
        <p:spPr>
          <a:xfrm>
            <a:off x="4677296" y="2121173"/>
            <a:ext cx="164827" cy="1029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Display Light"/>
              <a:buNone/>
            </a:pPr>
            <a:r>
              <a:rPr b="0" i="0" lang="en-US" sz="600" u="none" cap="none" strike="noStrike">
                <a:solidFill>
                  <a:srgbClr val="2B3541"/>
                </a:solidFill>
                <a:latin typeface="Funnel Display Light"/>
                <a:ea typeface="Funnel Display Light"/>
                <a:cs typeface="Funnel Display Light"/>
                <a:sym typeface="Funnel Display Light"/>
              </a:rPr>
              <a:t>03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3"/>
          <p:cNvSpPr/>
          <p:nvPr/>
        </p:nvSpPr>
        <p:spPr>
          <a:xfrm>
            <a:off x="4677296" y="2251621"/>
            <a:ext cx="3947889" cy="9525"/>
          </a:xfrm>
          <a:prstGeom prst="rect">
            <a:avLst/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3"/>
          <p:cNvSpPr/>
          <p:nvPr/>
        </p:nvSpPr>
        <p:spPr>
          <a:xfrm>
            <a:off x="4677296" y="2311822"/>
            <a:ext cx="3947889" cy="1211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00"/>
              <a:buFont typeface="Funnel Display"/>
              <a:buNone/>
            </a:pPr>
            <a:r>
              <a:rPr b="0" i="0" lang="en-US" sz="7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Search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3"/>
          <p:cNvSpPr/>
          <p:nvPr/>
        </p:nvSpPr>
        <p:spPr>
          <a:xfrm>
            <a:off x="4677296" y="2484834"/>
            <a:ext cx="3947889" cy="107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Sans"/>
              <a:buNone/>
            </a:pPr>
            <a:r>
              <a:rPr b="0" i="0" lang="en-US" sz="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Query Vector vs Document Vectors → Similarity Score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3"/>
          <p:cNvSpPr/>
          <p:nvPr/>
        </p:nvSpPr>
        <p:spPr>
          <a:xfrm>
            <a:off x="4677296" y="2705919"/>
            <a:ext cx="164827" cy="1029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Display Light"/>
              <a:buNone/>
            </a:pPr>
            <a:r>
              <a:rPr b="0" i="0" lang="en-US" sz="600" u="none" cap="none" strike="noStrike">
                <a:solidFill>
                  <a:srgbClr val="2B3541"/>
                </a:solidFill>
                <a:latin typeface="Funnel Display Light"/>
                <a:ea typeface="Funnel Display Light"/>
                <a:cs typeface="Funnel Display Light"/>
                <a:sym typeface="Funnel Display Light"/>
              </a:rPr>
              <a:t>04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3"/>
          <p:cNvSpPr/>
          <p:nvPr/>
        </p:nvSpPr>
        <p:spPr>
          <a:xfrm>
            <a:off x="4677296" y="2836366"/>
            <a:ext cx="3947889" cy="9525"/>
          </a:xfrm>
          <a:prstGeom prst="rect">
            <a:avLst/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3"/>
          <p:cNvSpPr/>
          <p:nvPr/>
        </p:nvSpPr>
        <p:spPr>
          <a:xfrm>
            <a:off x="4677296" y="2896567"/>
            <a:ext cx="3947889" cy="1211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00"/>
              <a:buFont typeface="Funnel Display"/>
              <a:buNone/>
            </a:pPr>
            <a:r>
              <a:rPr b="0" i="0" lang="en-US" sz="7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Rank &amp; Return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3"/>
          <p:cNvSpPr/>
          <p:nvPr/>
        </p:nvSpPr>
        <p:spPr>
          <a:xfrm>
            <a:off x="4677296" y="3069580"/>
            <a:ext cx="3947889" cy="107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Sans"/>
              <a:buNone/>
            </a:pPr>
            <a:r>
              <a:rPr b="0" i="0" lang="en-US" sz="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Sort by score → Top-K results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3"/>
          <p:cNvSpPr/>
          <p:nvPr/>
        </p:nvSpPr>
        <p:spPr>
          <a:xfrm>
            <a:off x="4677296" y="3297138"/>
            <a:ext cx="3947889" cy="1087785"/>
          </a:xfrm>
          <a:prstGeom prst="roundRect">
            <a:avLst>
              <a:gd fmla="val 3183" name="adj"/>
            </a:avLst>
          </a:prstGeom>
          <a:solidFill>
            <a:srgbClr val="EDE8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3"/>
          <p:cNvSpPr/>
          <p:nvPr/>
        </p:nvSpPr>
        <p:spPr>
          <a:xfrm>
            <a:off x="4776192" y="3379515"/>
            <a:ext cx="3750097" cy="923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# Indexing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doc_vectors = model.encode(documents)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index.add(doc_vectors)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# Query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query_vec = model.encode("I forgot my password")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scores, indices = index.search(query_vec, k=5)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3"/>
          <p:cNvSpPr/>
          <p:nvPr/>
        </p:nvSpPr>
        <p:spPr>
          <a:xfrm>
            <a:off x="4677296" y="4443264"/>
            <a:ext cx="3947889" cy="241846"/>
          </a:xfrm>
          <a:prstGeom prst="roundRect">
            <a:avLst>
              <a:gd fmla="val 14316" name="adj"/>
            </a:avLst>
          </a:prstGeom>
          <a:solidFill>
            <a:srgbClr val="FCF2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9" name="Google Shape;32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9672" y="4524524"/>
            <a:ext cx="102989" cy="82376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13"/>
          <p:cNvSpPr/>
          <p:nvPr/>
        </p:nvSpPr>
        <p:spPr>
          <a:xfrm>
            <a:off x="4945038" y="4510460"/>
            <a:ext cx="4054971" cy="107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REM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⚠️</a:t>
            </a:r>
            <a:r>
              <a:rPr b="0" i="0" lang="en-US" sz="600" u="none" cap="none" strike="noStrike">
                <a:solidFill>
                  <a:srgbClr val="000000"/>
                </a:solidFill>
                <a:latin typeface="Funnel Sans"/>
                <a:ea typeface="Funnel Sans"/>
                <a:cs typeface="Funnel Sans"/>
                <a:sym typeface="Funnel Sans"/>
              </a:rPr>
              <a:t> Query và document phải dùng cùng embedding model — thay đổi model = rebuild toàn bộ index.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5EB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4"/>
          <p:cNvSpPr/>
          <p:nvPr/>
        </p:nvSpPr>
        <p:spPr>
          <a:xfrm>
            <a:off x="523577" y="449907"/>
            <a:ext cx="8096845" cy="327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2000"/>
              <a:buFont typeface="Funnel Display"/>
              <a:buNone/>
            </a:pPr>
            <a:r>
              <a:rPr b="0" i="0" lang="en-US" sz="20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Exact Search vs Scaling Problem — Tại sao cần ANN?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4"/>
          <p:cNvSpPr/>
          <p:nvPr/>
        </p:nvSpPr>
        <p:spPr>
          <a:xfrm>
            <a:off x="523577" y="1013520"/>
            <a:ext cx="3912691" cy="163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950"/>
              <a:buFont typeface="Funnel Display"/>
              <a:buNone/>
            </a:pPr>
            <a:r>
              <a:rPr b="0" i="0" lang="en-US" sz="9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Exact Nearest Neighbor Search: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4"/>
          <p:cNvSpPr/>
          <p:nvPr/>
        </p:nvSpPr>
        <p:spPr>
          <a:xfrm>
            <a:off x="523577" y="1283419"/>
            <a:ext cx="3912691" cy="934492"/>
          </a:xfrm>
          <a:prstGeom prst="roundRect">
            <a:avLst>
              <a:gd fmla="val 5001" name="adj"/>
            </a:avLst>
          </a:prstGeom>
          <a:solidFill>
            <a:srgbClr val="EDE8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4"/>
          <p:cNvSpPr/>
          <p:nvPr/>
        </p:nvSpPr>
        <p:spPr>
          <a:xfrm>
            <a:off x="657076" y="1394668"/>
            <a:ext cx="3645694" cy="7119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# Brute force — so sánh với TẤT CẢ vector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scores = np.dot(query_vector, doc_vectors.T)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top_k = np.argsort(scores)[::-1][:k]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# O(N × D) mỗi query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4"/>
          <p:cNvSpPr/>
          <p:nvPr/>
        </p:nvSpPr>
        <p:spPr>
          <a:xfrm>
            <a:off x="523577" y="2324249"/>
            <a:ext cx="3912691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62560" lvl="0" marL="16256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REM"/>
              <a:buChar char="•"/>
            </a:pPr>
            <a:r>
              <a:rPr b="0" i="0" lang="en-US" sz="8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✅</a:t>
            </a:r>
            <a:r>
              <a:rPr b="0" i="0" lang="en-US" sz="8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 Độ chính xác 100% — đảm bảo tìm đúng nearest neighbor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2560" lvl="0" marL="16256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REM"/>
              <a:buChar char="•"/>
            </a:pPr>
            <a:r>
              <a:rPr b="0" i="0" lang="en-US" sz="8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❌</a:t>
            </a:r>
            <a:r>
              <a:rPr b="0" i="0" lang="en-US" sz="8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 O(N × D) — tuyến tính theo số vector và số chiều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2560" lvl="0" marL="16256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REM"/>
              <a:buChar char="•"/>
            </a:pPr>
            <a:r>
              <a:rPr b="0" i="0" lang="en-US" sz="8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❌</a:t>
            </a:r>
            <a:r>
              <a:rPr b="0" i="0" lang="en-US" sz="8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 Không scale được khi N lớn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4"/>
          <p:cNvSpPr/>
          <p:nvPr/>
        </p:nvSpPr>
        <p:spPr>
          <a:xfrm>
            <a:off x="523577" y="2978721"/>
            <a:ext cx="3912691" cy="163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1000"/>
              <a:buFont typeface="Funnel Display"/>
              <a:buNone/>
            </a:pPr>
            <a:r>
              <a:rPr b="0" i="0" lang="en-US" sz="10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Vấn đề quy mô: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42" name="Google Shape;342;p14"/>
          <p:cNvGraphicFramePr/>
          <p:nvPr/>
        </p:nvGraphicFramePr>
        <p:xfrm>
          <a:off x="523577" y="32486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{3B3E4DE5-BB9D-4D9E-814C-6277CECA3E85}</a:tableStyleId>
              </a:tblPr>
              <a:tblGrid>
                <a:gridCol w="1304225"/>
                <a:gridCol w="1304225"/>
                <a:gridCol w="1304225"/>
              </a:tblGrid>
              <a:tr h="289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Corpus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11275" marL="111275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Phép tính/query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11275" marL="1112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Latency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11275" marL="1112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10K vectors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11275" marL="111275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~15M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11275" marL="1112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50"/>
                        <a:buFont typeface="Funnel Sans"/>
                        <a:buNone/>
                      </a:pPr>
                      <a:r>
                        <a:rPr lang="en-US" sz="85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ms — OK</a:t>
                      </a:r>
                      <a:endParaRPr sz="85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11275" marL="1112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1M vectors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11275" marL="111275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~1.5B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11275" marL="1112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tens of ms — giới hạn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11275" marL="1112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100M vectors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11275" marL="111275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~150B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11275" marL="1112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vài giây — không chấp nhận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11275" marL="1112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3" name="Google Shape;343;p14"/>
          <p:cNvSpPr/>
          <p:nvPr/>
        </p:nvSpPr>
        <p:spPr>
          <a:xfrm>
            <a:off x="4712494" y="1013520"/>
            <a:ext cx="3912691" cy="163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950"/>
              <a:buFont typeface="Funnel Display"/>
              <a:buNone/>
            </a:pPr>
            <a:r>
              <a:rPr b="0" i="0" lang="en-US" sz="9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Giải pháp: Approximate Nearest Neighbor (ANN)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4"/>
          <p:cNvSpPr/>
          <p:nvPr/>
        </p:nvSpPr>
        <p:spPr>
          <a:xfrm>
            <a:off x="4879404" y="1368475"/>
            <a:ext cx="3745781" cy="329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800"/>
              <a:buFont typeface="Funnel Sans"/>
              <a:buNone/>
            </a:pPr>
            <a:r>
              <a:rPr b="0" i="0" lang="en-US" sz="8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Thay vì so sánh với TẤT CẢ vector, điều hướng đến vùng ứng viên → chỉ tìm kiếm trong vùng đó.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4"/>
          <p:cNvSpPr/>
          <p:nvPr/>
        </p:nvSpPr>
        <p:spPr>
          <a:xfrm>
            <a:off x="4712494" y="1283419"/>
            <a:ext cx="14288" cy="499318"/>
          </a:xfrm>
          <a:prstGeom prst="roundRect">
            <a:avLst>
              <a:gd fmla="val 49998" name="adj"/>
            </a:avLst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4"/>
          <p:cNvSpPr/>
          <p:nvPr/>
        </p:nvSpPr>
        <p:spPr>
          <a:xfrm>
            <a:off x="4712494" y="1889075"/>
            <a:ext cx="3912691" cy="9221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62560" lvl="0" marL="16256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800"/>
              <a:buFont typeface="Funnel Sans"/>
              <a:buChar char="•"/>
            </a:pPr>
            <a:r>
              <a:rPr b="0" i="0" lang="en-US" sz="8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ANN ≠ tìm kiếm ngẫu nhiên — dùng cấu trúc dữ liệu thông minh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2560" lvl="0" marL="16256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800"/>
              <a:buFont typeface="Funnel Sans"/>
              <a:buChar char="•"/>
            </a:pPr>
            <a:r>
              <a:rPr b="0" i="0" lang="en-US" sz="8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Đánh đổi: có thể bỏ sót một số nearest neighbor thực sự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2560" lvl="0" marL="16256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800"/>
              <a:buFont typeface="Funnel Sans"/>
              <a:buChar char="•"/>
            </a:pPr>
            <a:r>
              <a:rPr b="0" i="0" lang="en-US" sz="8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Recall@K: metric đo chất lượng ANN — "Top-K của ANN có bao nhiêu % là true top-K?"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2560" lvl="0" marL="16256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800"/>
              <a:buFont typeface="Funnel Sans"/>
              <a:buChar char="•"/>
            </a:pPr>
            <a:r>
              <a:rPr b="0" i="0" lang="en-US" sz="8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Recall điển hình: 95–99% với tốc độ nhanh hơn 10–100 lần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4"/>
          <p:cNvSpPr/>
          <p:nvPr/>
        </p:nvSpPr>
        <p:spPr>
          <a:xfrm>
            <a:off x="4712494" y="2905795"/>
            <a:ext cx="3912691" cy="163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950"/>
              <a:buFont typeface="Funnel Display"/>
              <a:buNone/>
            </a:pPr>
            <a:r>
              <a:rPr b="0" i="0" lang="en-US" sz="9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So sánh trực quan: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8" name="Google Shape;34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2494" y="3175695"/>
            <a:ext cx="1909018" cy="838423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14"/>
          <p:cNvSpPr/>
          <p:nvPr/>
        </p:nvSpPr>
        <p:spPr>
          <a:xfrm>
            <a:off x="4895180" y="3301231"/>
            <a:ext cx="1600795" cy="163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950"/>
              <a:buFont typeface="Funnel Display"/>
              <a:buNone/>
            </a:pPr>
            <a:r>
              <a:rPr b="0" i="0" lang="en-US" sz="9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Exact Search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4"/>
          <p:cNvSpPr/>
          <p:nvPr/>
        </p:nvSpPr>
        <p:spPr>
          <a:xfrm>
            <a:off x="4895180" y="3559373"/>
            <a:ext cx="1600795" cy="329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800"/>
              <a:buFont typeface="Funnel Sans"/>
              <a:buNone/>
            </a:pPr>
            <a:r>
              <a:rPr b="0" i="0" lang="en-US" sz="8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Query → </a:t>
            </a:r>
            <a:r>
              <a:rPr b="1" i="0" lang="en-US" sz="8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ALL N vectors</a:t>
            </a:r>
            <a:r>
              <a:rPr b="0" i="0" lang="en-US" sz="8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 → sort → Top-K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1" name="Google Shape;35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16092" y="3175695"/>
            <a:ext cx="1909093" cy="838423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14"/>
          <p:cNvSpPr/>
          <p:nvPr/>
        </p:nvSpPr>
        <p:spPr>
          <a:xfrm>
            <a:off x="6898779" y="3301231"/>
            <a:ext cx="1600870" cy="163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000"/>
              <a:buFont typeface="Funnel Display"/>
              <a:buNone/>
            </a:pPr>
            <a:r>
              <a:rPr b="0" i="0" lang="en-US" sz="10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ANN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4"/>
          <p:cNvSpPr/>
          <p:nvPr/>
        </p:nvSpPr>
        <p:spPr>
          <a:xfrm>
            <a:off x="6898779" y="3559373"/>
            <a:ext cx="1600870" cy="329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800"/>
              <a:buFont typeface="Funnel Sans"/>
              <a:buNone/>
            </a:pPr>
            <a:r>
              <a:rPr b="0" i="0" lang="en-US" sz="8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Query → </a:t>
            </a:r>
            <a:r>
              <a:rPr b="1" i="0" lang="en-US" sz="8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candidate region</a:t>
            </a:r>
            <a:r>
              <a:rPr b="0" i="0" lang="en-US" sz="8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 → small set → Top-K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4"/>
          <p:cNvSpPr/>
          <p:nvPr/>
        </p:nvSpPr>
        <p:spPr>
          <a:xfrm>
            <a:off x="4712494" y="4120455"/>
            <a:ext cx="3912691" cy="390227"/>
          </a:xfrm>
          <a:prstGeom prst="roundRect">
            <a:avLst>
              <a:gd fmla="val 11976" name="adj"/>
            </a:avLst>
          </a:prstGeom>
          <a:solidFill>
            <a:srgbClr val="D8E7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5" name="Google Shape;35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23743" y="4264447"/>
            <a:ext cx="139080" cy="111249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14"/>
          <p:cNvSpPr/>
          <p:nvPr/>
        </p:nvSpPr>
        <p:spPr>
          <a:xfrm>
            <a:off x="5074072" y="4233267"/>
            <a:ext cx="3897064" cy="1646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Funnel Sans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Funnel Sans"/>
                <a:ea typeface="Funnel Sans"/>
                <a:cs typeface="Funnel Sans"/>
                <a:sym typeface="Funnel Sans"/>
              </a:rPr>
              <a:t>Exact search cho testing/baseline. ANN cho production với corpus lớn.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5EB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5"/>
          <p:cNvSpPr/>
          <p:nvPr/>
        </p:nvSpPr>
        <p:spPr>
          <a:xfrm>
            <a:off x="523577" y="367382"/>
            <a:ext cx="8096845" cy="302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1850"/>
              <a:buFont typeface="Funnel Display"/>
              <a:buNone/>
            </a:pPr>
            <a:r>
              <a:rPr b="0" i="0" lang="en-US" sz="18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HNSW — Hierarchical Navigable Small World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5"/>
          <p:cNvSpPr/>
          <p:nvPr/>
        </p:nvSpPr>
        <p:spPr>
          <a:xfrm>
            <a:off x="523577" y="872803"/>
            <a:ext cx="3922812" cy="1514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900"/>
              <a:buFont typeface="Funnel Display"/>
              <a:buNone/>
            </a:pPr>
            <a:r>
              <a:rPr b="0" i="0" lang="en-US" sz="9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Ý tưởng cốt lõi: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5"/>
          <p:cNvSpPr/>
          <p:nvPr/>
        </p:nvSpPr>
        <p:spPr>
          <a:xfrm>
            <a:off x="678061" y="1188169"/>
            <a:ext cx="3768328" cy="2943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50"/>
              <a:buFont typeface="Funnel Sans"/>
              <a:buNone/>
            </a:pPr>
            <a:r>
              <a:rPr b="0" i="0" lang="en-US" sz="7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Index dựa trên đồ thị với nhiều lớp — lớp trên cung cấp đường tắt, lớp dưới tinh chỉnh tìm kiếm.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5"/>
          <p:cNvSpPr/>
          <p:nvPr/>
        </p:nvSpPr>
        <p:spPr>
          <a:xfrm>
            <a:off x="523577" y="1115318"/>
            <a:ext cx="14288" cy="440085"/>
          </a:xfrm>
          <a:prstGeom prst="roundRect">
            <a:avLst>
              <a:gd fmla="val 49998" name="adj"/>
            </a:avLst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5"/>
          <p:cNvSpPr/>
          <p:nvPr/>
        </p:nvSpPr>
        <p:spPr>
          <a:xfrm>
            <a:off x="523577" y="1646486"/>
            <a:ext cx="205978" cy="128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50"/>
              <a:buFont typeface="Funnel Display Light"/>
              <a:buNone/>
            </a:pPr>
            <a:r>
              <a:rPr b="0" i="0" lang="en-US" sz="750" u="none" cap="none" strike="noStrike">
                <a:solidFill>
                  <a:srgbClr val="2B3541"/>
                </a:solidFill>
                <a:latin typeface="Funnel Display Light"/>
                <a:ea typeface="Funnel Display Light"/>
                <a:cs typeface="Funnel Display Light"/>
                <a:sym typeface="Funnel Display Light"/>
              </a:rPr>
              <a:t>01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5"/>
          <p:cNvSpPr/>
          <p:nvPr/>
        </p:nvSpPr>
        <p:spPr>
          <a:xfrm>
            <a:off x="523577" y="1807220"/>
            <a:ext cx="3922812" cy="14288"/>
          </a:xfrm>
          <a:prstGeom prst="rect">
            <a:avLst/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5"/>
          <p:cNvSpPr/>
          <p:nvPr/>
        </p:nvSpPr>
        <p:spPr>
          <a:xfrm>
            <a:off x="523577" y="1887289"/>
            <a:ext cx="3922812" cy="1514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900"/>
              <a:buFont typeface="Funnel Display"/>
              <a:buNone/>
            </a:pPr>
            <a:r>
              <a:rPr b="0" i="0" lang="en-US" sz="9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Vào đồ thị tại lớp trên cùng (entry point)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5"/>
          <p:cNvSpPr/>
          <p:nvPr/>
        </p:nvSpPr>
        <p:spPr>
          <a:xfrm>
            <a:off x="523577" y="2196926"/>
            <a:ext cx="205978" cy="128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50"/>
              <a:buFont typeface="Funnel Display Light"/>
              <a:buNone/>
            </a:pPr>
            <a:r>
              <a:rPr b="0" i="0" lang="en-US" sz="750" u="none" cap="none" strike="noStrike">
                <a:solidFill>
                  <a:srgbClr val="2B3541"/>
                </a:solidFill>
                <a:latin typeface="Funnel Display Light"/>
                <a:ea typeface="Funnel Display Light"/>
                <a:cs typeface="Funnel Display Light"/>
                <a:sym typeface="Funnel Display Light"/>
              </a:rPr>
              <a:t>02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5"/>
          <p:cNvSpPr/>
          <p:nvPr/>
        </p:nvSpPr>
        <p:spPr>
          <a:xfrm>
            <a:off x="523577" y="2357661"/>
            <a:ext cx="3922812" cy="14288"/>
          </a:xfrm>
          <a:prstGeom prst="rect">
            <a:avLst/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5"/>
          <p:cNvSpPr/>
          <p:nvPr/>
        </p:nvSpPr>
        <p:spPr>
          <a:xfrm>
            <a:off x="523577" y="2437730"/>
            <a:ext cx="3922812" cy="1514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900"/>
              <a:buFont typeface="Funnel Display"/>
              <a:buNone/>
            </a:pPr>
            <a:r>
              <a:rPr b="0" i="0" lang="en-US" sz="9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Điều hướng tham lam — di chuyển đến neighbor gần query nhất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5"/>
          <p:cNvSpPr/>
          <p:nvPr/>
        </p:nvSpPr>
        <p:spPr>
          <a:xfrm>
            <a:off x="523577" y="2747367"/>
            <a:ext cx="205978" cy="128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50"/>
              <a:buFont typeface="Funnel Display Light"/>
              <a:buNone/>
            </a:pPr>
            <a:r>
              <a:rPr b="0" i="0" lang="en-US" sz="750" u="none" cap="none" strike="noStrike">
                <a:solidFill>
                  <a:srgbClr val="2B3541"/>
                </a:solidFill>
                <a:latin typeface="Funnel Display Light"/>
                <a:ea typeface="Funnel Display Light"/>
                <a:cs typeface="Funnel Display Light"/>
                <a:sym typeface="Funnel Display Light"/>
              </a:rPr>
              <a:t>03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5"/>
          <p:cNvSpPr/>
          <p:nvPr/>
        </p:nvSpPr>
        <p:spPr>
          <a:xfrm>
            <a:off x="523577" y="2908102"/>
            <a:ext cx="3922812" cy="14288"/>
          </a:xfrm>
          <a:prstGeom prst="rect">
            <a:avLst/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5"/>
          <p:cNvSpPr/>
          <p:nvPr/>
        </p:nvSpPr>
        <p:spPr>
          <a:xfrm>
            <a:off x="523577" y="2988171"/>
            <a:ext cx="3922812" cy="1514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900"/>
              <a:buFont typeface="Funnel Display"/>
              <a:buNone/>
            </a:pPr>
            <a:r>
              <a:rPr b="0" i="0" lang="en-US" sz="9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Xuống lớp dưới khi không còn neighbor nào gần hơn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5"/>
          <p:cNvSpPr/>
          <p:nvPr/>
        </p:nvSpPr>
        <p:spPr>
          <a:xfrm>
            <a:off x="523577" y="3297808"/>
            <a:ext cx="205978" cy="128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50"/>
              <a:buFont typeface="Funnel Display Light"/>
              <a:buNone/>
            </a:pPr>
            <a:r>
              <a:rPr b="0" i="0" lang="en-US" sz="750" u="none" cap="none" strike="noStrike">
                <a:solidFill>
                  <a:srgbClr val="2B3541"/>
                </a:solidFill>
                <a:latin typeface="Funnel Display Light"/>
                <a:ea typeface="Funnel Display Light"/>
                <a:cs typeface="Funnel Display Light"/>
                <a:sym typeface="Funnel Display Light"/>
              </a:rPr>
              <a:t>04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5"/>
          <p:cNvSpPr/>
          <p:nvPr/>
        </p:nvSpPr>
        <p:spPr>
          <a:xfrm>
            <a:off x="523577" y="3458542"/>
            <a:ext cx="3922812" cy="14288"/>
          </a:xfrm>
          <a:prstGeom prst="rect">
            <a:avLst/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5"/>
          <p:cNvSpPr/>
          <p:nvPr/>
        </p:nvSpPr>
        <p:spPr>
          <a:xfrm>
            <a:off x="523577" y="3538612"/>
            <a:ext cx="3922812" cy="1514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900"/>
              <a:buFont typeface="Funnel Display"/>
              <a:buNone/>
            </a:pPr>
            <a:r>
              <a:rPr b="0" i="0" lang="en-US" sz="9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Lặp lại ở lớp dưới — tìm kiếm chi tiết hơn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5"/>
          <p:cNvSpPr/>
          <p:nvPr/>
        </p:nvSpPr>
        <p:spPr>
          <a:xfrm>
            <a:off x="523577" y="3848249"/>
            <a:ext cx="205978" cy="128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50"/>
              <a:buFont typeface="Funnel Display Light"/>
              <a:buNone/>
            </a:pPr>
            <a:r>
              <a:rPr b="0" i="0" lang="en-US" sz="750" u="none" cap="none" strike="noStrike">
                <a:solidFill>
                  <a:srgbClr val="2B3541"/>
                </a:solidFill>
                <a:latin typeface="Funnel Display Light"/>
                <a:ea typeface="Funnel Display Light"/>
                <a:cs typeface="Funnel Display Light"/>
                <a:sym typeface="Funnel Display Light"/>
              </a:rPr>
              <a:t>05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5"/>
          <p:cNvSpPr/>
          <p:nvPr/>
        </p:nvSpPr>
        <p:spPr>
          <a:xfrm>
            <a:off x="523577" y="4008983"/>
            <a:ext cx="3922812" cy="14288"/>
          </a:xfrm>
          <a:prstGeom prst="rect">
            <a:avLst/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5"/>
          <p:cNvSpPr/>
          <p:nvPr/>
        </p:nvSpPr>
        <p:spPr>
          <a:xfrm>
            <a:off x="523577" y="4089053"/>
            <a:ext cx="3922812" cy="1514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900"/>
              <a:buFont typeface="Funnel Display"/>
              <a:buNone/>
            </a:pPr>
            <a:r>
              <a:rPr b="0" i="0" lang="en-US" sz="9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Tại Layer 0 — thu thập Top-K ứng viên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5"/>
          <p:cNvSpPr/>
          <p:nvPr/>
        </p:nvSpPr>
        <p:spPr>
          <a:xfrm>
            <a:off x="523577" y="4408810"/>
            <a:ext cx="3922812" cy="2943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50"/>
              <a:buFont typeface="Funnel Sans"/>
              <a:buNone/>
            </a:pPr>
            <a:r>
              <a:rPr b="0" i="1" lang="en-US" sz="7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Như hệ thống đường bộ: cao tốc (Layer 2) → đường chính (Layer 1) → đường nội bộ (Layer 0)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5"/>
          <p:cNvSpPr/>
          <p:nvPr/>
        </p:nvSpPr>
        <p:spPr>
          <a:xfrm>
            <a:off x="4702373" y="872803"/>
            <a:ext cx="3922812" cy="1514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900"/>
              <a:buFont typeface="Funnel Display"/>
              <a:buNone/>
            </a:pPr>
            <a:r>
              <a:rPr b="0" i="0" lang="en-US" sz="9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Tham số quan trọng: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83" name="Google Shape;383;p15"/>
          <p:cNvGraphicFramePr/>
          <p:nvPr/>
        </p:nvGraphicFramePr>
        <p:xfrm>
          <a:off x="4702373" y="111531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{3B3E4DE5-BB9D-4D9E-814C-6277CECA3E85}</a:tableStyleId>
              </a:tblPr>
              <a:tblGrid>
                <a:gridCol w="1098375"/>
                <a:gridCol w="1647575"/>
                <a:gridCol w="1176850"/>
              </a:tblGrid>
              <a:tr h="25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Tham số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03000" marL="103000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Ý nghĩa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03000" marL="10300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Tăng →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03000" marL="10300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M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03000" marL="103000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Số kết nối mỗi node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03000" marL="10300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Recall ↑, Memory ↑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03000" marL="10300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5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ef_construction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03000" marL="103000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Ứng viên khi build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03000" marL="10300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Quality ↑, Build time ↑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03000" marL="10300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ef_search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03000" marL="103000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Ứng viên khi query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03000" marL="10300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Recall ↑, Latency ↑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03000" marL="10300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84" name="Google Shape;384;p15"/>
          <p:cNvSpPr/>
          <p:nvPr/>
        </p:nvSpPr>
        <p:spPr>
          <a:xfrm>
            <a:off x="4702373" y="2393007"/>
            <a:ext cx="3922812" cy="1514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900"/>
              <a:buFont typeface="Funnel Display"/>
              <a:buNone/>
            </a:pPr>
            <a:r>
              <a:rPr b="0" i="0" lang="en-US" sz="9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Đặc điểm kỹ thuật: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5"/>
          <p:cNvSpPr/>
          <p:nvPr/>
        </p:nvSpPr>
        <p:spPr>
          <a:xfrm>
            <a:off x="4702373" y="2625403"/>
            <a:ext cx="3922812" cy="692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REM"/>
              <a:buChar char="•"/>
            </a:pPr>
            <a:r>
              <a:rPr b="0" i="0" lang="en-US" sz="7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✅</a:t>
            </a:r>
            <a:r>
              <a:rPr b="0" i="0" lang="en-US" sz="7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 Recall cao: 95–99% với tham số mặc định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REM"/>
              <a:buChar char="•"/>
            </a:pPr>
            <a:r>
              <a:rPr b="0" i="0" lang="en-US" sz="7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✅</a:t>
            </a:r>
            <a:r>
              <a:rPr b="0" i="0" lang="en-US" sz="7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 Hỗ trợ thêm dữ liệu động — không cần rebuild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REM"/>
              <a:buChar char="•"/>
            </a:pPr>
            <a:r>
              <a:rPr b="0" i="0" lang="en-US" sz="7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⚠️</a:t>
            </a:r>
            <a:r>
              <a:rPr b="0" i="0" lang="en-US" sz="7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 Tốn nhiều RAM — cấu trúc đồ thị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REM"/>
              <a:buChar char="•"/>
            </a:pPr>
            <a:r>
              <a:rPr b="0" i="0" lang="en-US" sz="7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⚠️</a:t>
            </a:r>
            <a:r>
              <a:rPr b="0" i="0" lang="en-US" sz="7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 Build time chậm hơn IVFFlat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5"/>
          <p:cNvSpPr/>
          <p:nvPr/>
        </p:nvSpPr>
        <p:spPr>
          <a:xfrm>
            <a:off x="4702373" y="3409355"/>
            <a:ext cx="3922812" cy="1194495"/>
          </a:xfrm>
          <a:prstGeom prst="roundRect">
            <a:avLst>
              <a:gd fmla="val 3621" name="adj"/>
            </a:avLst>
          </a:prstGeom>
          <a:solidFill>
            <a:srgbClr val="EDE8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5"/>
          <p:cNvSpPr/>
          <p:nvPr/>
        </p:nvSpPr>
        <p:spPr>
          <a:xfrm>
            <a:off x="4825901" y="3512344"/>
            <a:ext cx="3675757" cy="9885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# Qdrant HNSW config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client.create_collection(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  collection_name="docs",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  vectors_config=VectorParams(size=768, distance=Distance.COSINE),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  hnsw_config=HnswConfigDiff(m=16, ef_construct=100)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5EB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6"/>
          <p:cNvSpPr/>
          <p:nvPr/>
        </p:nvSpPr>
        <p:spPr>
          <a:xfrm>
            <a:off x="523577" y="416496"/>
            <a:ext cx="8096845" cy="3315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2050"/>
              <a:buFont typeface="Funnel Display"/>
              <a:buNone/>
            </a:pPr>
            <a:r>
              <a:rPr b="0" i="0" lang="en-US" sz="20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IVFFlat — Inverted File Index &amp; So sánh với HNSW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6"/>
          <p:cNvSpPr/>
          <p:nvPr/>
        </p:nvSpPr>
        <p:spPr>
          <a:xfrm>
            <a:off x="523577" y="990451"/>
            <a:ext cx="3910980" cy="165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1000"/>
              <a:buFont typeface="Funnel Display"/>
              <a:buNone/>
            </a:pPr>
            <a:r>
              <a:rPr b="0" i="0" lang="en-US" sz="10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IVFFlat — Ý tưởng cốt lõi: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6"/>
          <p:cNvSpPr/>
          <p:nvPr/>
        </p:nvSpPr>
        <p:spPr>
          <a:xfrm>
            <a:off x="692572" y="1352550"/>
            <a:ext cx="3741986" cy="3356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800"/>
              <a:buFont typeface="Funnel Sans"/>
              <a:buNone/>
            </a:pPr>
            <a:r>
              <a:rPr b="0" i="0" lang="en-US" sz="8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Phân vùng vector space thành các cụm → chỉ tìm kiếm trong các cụm liên quan.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6"/>
          <p:cNvSpPr/>
          <p:nvPr/>
        </p:nvSpPr>
        <p:spPr>
          <a:xfrm>
            <a:off x="523577" y="1265262"/>
            <a:ext cx="14288" cy="510183"/>
          </a:xfrm>
          <a:prstGeom prst="roundRect">
            <a:avLst>
              <a:gd fmla="val 49998" name="adj"/>
            </a:avLst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6"/>
          <p:cNvSpPr/>
          <p:nvPr/>
        </p:nvSpPr>
        <p:spPr>
          <a:xfrm>
            <a:off x="523577" y="1884536"/>
            <a:ext cx="225400" cy="1408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850"/>
              <a:buFont typeface="Funnel Display Light"/>
              <a:buNone/>
            </a:pPr>
            <a:r>
              <a:rPr b="0" i="0" lang="en-US" sz="850" u="none" cap="none" strike="noStrike">
                <a:solidFill>
                  <a:srgbClr val="2B3541"/>
                </a:solidFill>
                <a:latin typeface="Funnel Display Light"/>
                <a:ea typeface="Funnel Display Light"/>
                <a:cs typeface="Funnel Display Light"/>
                <a:sym typeface="Funnel Display Light"/>
              </a:rPr>
              <a:t>01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6"/>
          <p:cNvSpPr/>
          <p:nvPr/>
        </p:nvSpPr>
        <p:spPr>
          <a:xfrm>
            <a:off x="523577" y="2061716"/>
            <a:ext cx="3910980" cy="14288"/>
          </a:xfrm>
          <a:prstGeom prst="rect">
            <a:avLst/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6"/>
          <p:cNvSpPr/>
          <p:nvPr/>
        </p:nvSpPr>
        <p:spPr>
          <a:xfrm>
            <a:off x="523577" y="2146622"/>
            <a:ext cx="3910980" cy="165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000"/>
              <a:buFont typeface="Funnel Display"/>
              <a:buNone/>
            </a:pPr>
            <a:r>
              <a:rPr b="0" i="0" lang="en-US" sz="10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Training: K-means clustering → tạo N centroid (tâm cụm)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6"/>
          <p:cNvSpPr/>
          <p:nvPr/>
        </p:nvSpPr>
        <p:spPr>
          <a:xfrm>
            <a:off x="523577" y="2493764"/>
            <a:ext cx="225400" cy="1408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850"/>
              <a:buFont typeface="Funnel Display Light"/>
              <a:buNone/>
            </a:pPr>
            <a:r>
              <a:rPr b="0" i="0" lang="en-US" sz="850" u="none" cap="none" strike="noStrike">
                <a:solidFill>
                  <a:srgbClr val="2B3541"/>
                </a:solidFill>
                <a:latin typeface="Funnel Display Light"/>
                <a:ea typeface="Funnel Display Light"/>
                <a:cs typeface="Funnel Display Light"/>
                <a:sym typeface="Funnel Display Light"/>
              </a:rPr>
              <a:t>02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6"/>
          <p:cNvSpPr/>
          <p:nvPr/>
        </p:nvSpPr>
        <p:spPr>
          <a:xfrm>
            <a:off x="523577" y="2670944"/>
            <a:ext cx="3910980" cy="14288"/>
          </a:xfrm>
          <a:prstGeom prst="rect">
            <a:avLst/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6"/>
          <p:cNvSpPr/>
          <p:nvPr/>
        </p:nvSpPr>
        <p:spPr>
          <a:xfrm>
            <a:off x="523577" y="2755850"/>
            <a:ext cx="3910980" cy="165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000"/>
              <a:buFont typeface="Funnel Display"/>
              <a:buNone/>
            </a:pPr>
            <a:r>
              <a:rPr b="0" i="0" lang="en-US" sz="10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Indexing: Mỗi vector được gán vào centroid gần nhất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6"/>
          <p:cNvSpPr/>
          <p:nvPr/>
        </p:nvSpPr>
        <p:spPr>
          <a:xfrm>
            <a:off x="523577" y="3102992"/>
            <a:ext cx="225400" cy="1408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850"/>
              <a:buFont typeface="Funnel Display Light"/>
              <a:buNone/>
            </a:pPr>
            <a:r>
              <a:rPr b="0" i="0" lang="en-US" sz="850" u="none" cap="none" strike="noStrike">
                <a:solidFill>
                  <a:srgbClr val="2B3541"/>
                </a:solidFill>
                <a:latin typeface="Funnel Display Light"/>
                <a:ea typeface="Funnel Display Light"/>
                <a:cs typeface="Funnel Display Light"/>
                <a:sym typeface="Funnel Display Light"/>
              </a:rPr>
              <a:t>03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6"/>
          <p:cNvSpPr/>
          <p:nvPr/>
        </p:nvSpPr>
        <p:spPr>
          <a:xfrm>
            <a:off x="523577" y="3280172"/>
            <a:ext cx="3910980" cy="14288"/>
          </a:xfrm>
          <a:prstGeom prst="rect">
            <a:avLst/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6"/>
          <p:cNvSpPr/>
          <p:nvPr/>
        </p:nvSpPr>
        <p:spPr>
          <a:xfrm>
            <a:off x="523577" y="3365078"/>
            <a:ext cx="3910980" cy="331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000"/>
              <a:buFont typeface="Funnel Display"/>
              <a:buNone/>
            </a:pPr>
            <a:r>
              <a:rPr b="0" i="0" lang="en-US" sz="10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Search: Query → tìm centroid gần nhất → chỉ search trong nprobe cụm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6"/>
          <p:cNvSpPr/>
          <p:nvPr/>
        </p:nvSpPr>
        <p:spPr>
          <a:xfrm>
            <a:off x="523577" y="3890070"/>
            <a:ext cx="3910980" cy="739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62560" lvl="0" marL="16256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800"/>
              <a:buFont typeface="Funnel Sans"/>
              <a:buChar char="•"/>
            </a:pPr>
            <a:r>
              <a:rPr b="1" i="0" lang="en-US" sz="8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nlist:</a:t>
            </a:r>
            <a:r>
              <a:rPr b="0" i="0" lang="en-US" sz="8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 số phân vùng — cao hơn = phân vùng mịn hơn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2560" lvl="0" marL="16256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800"/>
              <a:buFont typeface="Funnel Sans"/>
              <a:buChar char="•"/>
            </a:pPr>
            <a:r>
              <a:rPr b="1" i="0" lang="en-US" sz="8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nprobe:</a:t>
            </a:r>
            <a:r>
              <a:rPr b="0" i="0" lang="en-US" sz="8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 số cụm được search mỗi query — cao hơn = recall tốt hơn, latency cao hơn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2560" lvl="0" marL="16256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800"/>
              <a:buFont typeface="Funnel Sans"/>
              <a:buChar char="•"/>
            </a:pPr>
            <a:r>
              <a:rPr b="1" i="0" lang="en-US" sz="8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nprobe = nlist</a:t>
            </a:r>
            <a:r>
              <a:rPr b="0" i="0" lang="en-US" sz="8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 → tương đương exact search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6"/>
          <p:cNvSpPr/>
          <p:nvPr/>
        </p:nvSpPr>
        <p:spPr>
          <a:xfrm>
            <a:off x="4714205" y="990451"/>
            <a:ext cx="3910980" cy="165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1000"/>
              <a:buFont typeface="Funnel Display"/>
              <a:buNone/>
            </a:pPr>
            <a:r>
              <a:rPr b="0" i="0" lang="en-US" sz="10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HNSW vs IVFFlat — Khi nào dùng cái nào?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08" name="Google Shape;408;p16"/>
          <p:cNvGraphicFramePr/>
          <p:nvPr/>
        </p:nvGraphicFramePr>
        <p:xfrm>
          <a:off x="4714205" y="12652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{3B3E4DE5-BB9D-4D9E-814C-6277CECA3E85}</a:tableStyleId>
              </a:tblPr>
              <a:tblGrid>
                <a:gridCol w="1329725"/>
                <a:gridCol w="1290625"/>
                <a:gridCol w="1290625"/>
              </a:tblGrid>
              <a:tr h="296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50"/>
                        <a:buFont typeface="Funnel Sans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Thuộc tính</a:t>
                      </a:r>
                      <a:endParaRPr sz="85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12700" marL="112700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50"/>
                        <a:buFont typeface="Funnel Sans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HNSW</a:t>
                      </a:r>
                      <a:endParaRPr sz="85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12700" marL="11270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IVFFlat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12700" marL="11270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8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Cấu trúc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12700" marL="112700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50"/>
                        <a:buFont typeface="Funnel Sans"/>
                        <a:buNone/>
                      </a:pPr>
                      <a:r>
                        <a:rPr lang="en-US" sz="85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Graph</a:t>
                      </a:r>
                      <a:endParaRPr sz="85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12700" marL="11270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Clusters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12700" marL="11270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8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Recall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12700" marL="112700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50"/>
                        <a:buFont typeface="Funnel Sans"/>
                        <a:buNone/>
                      </a:pPr>
                      <a:r>
                        <a:rPr lang="en-US" sz="85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Cao (95–99%)</a:t>
                      </a:r>
                      <a:endParaRPr sz="85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12700" marL="11270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50"/>
                        <a:buFont typeface="Funnel Sans"/>
                        <a:buNone/>
                      </a:pPr>
                      <a:r>
                        <a:rPr lang="en-US" sz="85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Điều chỉnh được</a:t>
                      </a:r>
                      <a:endParaRPr sz="85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12700" marL="11270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8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50"/>
                        <a:buFont typeface="Funnel Sans"/>
                        <a:buNone/>
                      </a:pPr>
                      <a:r>
                        <a:rPr lang="en-US" sz="85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Memory</a:t>
                      </a:r>
                      <a:endParaRPr sz="85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12700" marL="112700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50"/>
                        <a:buFont typeface="Funnel Sans"/>
                        <a:buNone/>
                      </a:pPr>
                      <a:r>
                        <a:rPr lang="en-US" sz="85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Cao</a:t>
                      </a:r>
                      <a:endParaRPr sz="85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12700" marL="11270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50"/>
                        <a:buFont typeface="Funnel Sans"/>
                        <a:buNone/>
                      </a:pPr>
                      <a:r>
                        <a:rPr lang="en-US" sz="85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Thấp hơn</a:t>
                      </a:r>
                      <a:endParaRPr sz="85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12700" marL="11270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8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Build time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12700" marL="112700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50"/>
                        <a:buFont typeface="Funnel Sans"/>
                        <a:buNone/>
                      </a:pPr>
                      <a:r>
                        <a:rPr lang="en-US" sz="85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Trung bình</a:t>
                      </a:r>
                      <a:endParaRPr sz="85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12700" marL="11270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Nhanh (sau training)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12700" marL="11270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50"/>
                        <a:buFont typeface="Funnel Sans"/>
                        <a:buNone/>
                      </a:pPr>
                      <a:r>
                        <a:rPr lang="en-US" sz="85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Thêm dữ liệu động</a:t>
                      </a:r>
                      <a:endParaRPr sz="85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12700" marL="112700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50"/>
                        <a:buFont typeface="Funnel Sans"/>
                        <a:buNone/>
                      </a:pPr>
                      <a:r>
                        <a:rPr lang="en-US" sz="85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 Có</a:t>
                      </a:r>
                      <a:endParaRPr sz="8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12700" marL="11270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50"/>
                        <a:buFont typeface="Funnel Sans"/>
                        <a:buNone/>
                      </a:pPr>
                      <a:r>
                        <a:rPr lang="en-US" sz="85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 Hạn chế</a:t>
                      </a:r>
                      <a:endParaRPr sz="8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12700" marL="11270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Cần training?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12700" marL="112700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50"/>
                        <a:buFont typeface="Funnel Sans"/>
                        <a:buNone/>
                      </a:pPr>
                      <a:r>
                        <a:rPr lang="en-US" sz="85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Không</a:t>
                      </a:r>
                      <a:endParaRPr sz="85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12700" marL="11270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50"/>
                        <a:buFont typeface="Funnel Sans"/>
                        <a:buNone/>
                      </a:pPr>
                      <a:r>
                        <a:rPr lang="en-US" sz="85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Có (K-means)</a:t>
                      </a:r>
                      <a:endParaRPr sz="85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12700" marL="11270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09" name="Google Shape;409;p16"/>
          <p:cNvSpPr/>
          <p:nvPr/>
        </p:nvSpPr>
        <p:spPr>
          <a:xfrm>
            <a:off x="4714205" y="3473202"/>
            <a:ext cx="3910980" cy="165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1000"/>
              <a:buFont typeface="Funnel Display"/>
              <a:buNone/>
            </a:pPr>
            <a:r>
              <a:rPr b="0" i="0" lang="en-US" sz="10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Hướng dẫn chọn: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6"/>
          <p:cNvSpPr/>
          <p:nvPr/>
        </p:nvSpPr>
        <p:spPr>
          <a:xfrm>
            <a:off x="4714205" y="3735884"/>
            <a:ext cx="3910980" cy="369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2720" lvl="0" marL="17272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850"/>
              <a:buFont typeface="Funnel Sans"/>
              <a:buChar char="•"/>
            </a:pPr>
            <a:r>
              <a:rPr b="0" i="0" lang="en-US" sz="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Corpus &lt;10M, đủ RAM, cập nhật động → </a:t>
            </a:r>
            <a:r>
              <a:rPr b="1" i="0" lang="en-US" sz="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HNSW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2720" lvl="0" marL="17272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850"/>
              <a:buFont typeface="Funnel Sans"/>
              <a:buChar char="•"/>
            </a:pPr>
            <a:r>
              <a:rPr b="0" i="0" lang="en-US" sz="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Corpus &gt;100M, hạn chế RAM, cập nhật batch → </a:t>
            </a:r>
            <a:r>
              <a:rPr b="1" i="0" lang="en-US" sz="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IVFFlat / IVF-PQ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6"/>
          <p:cNvSpPr/>
          <p:nvPr/>
        </p:nvSpPr>
        <p:spPr>
          <a:xfrm>
            <a:off x="4714205" y="4214515"/>
            <a:ext cx="3910980" cy="403399"/>
          </a:xfrm>
          <a:prstGeom prst="roundRect">
            <a:avLst>
              <a:gd fmla="val 11734" name="adj"/>
            </a:avLst>
          </a:prstGeom>
          <a:solidFill>
            <a:srgbClr val="FCF2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2" name="Google Shape;41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6868" y="4364831"/>
            <a:ext cx="140866" cy="112663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16"/>
          <p:cNvSpPr/>
          <p:nvPr/>
        </p:nvSpPr>
        <p:spPr>
          <a:xfrm>
            <a:off x="5080397" y="4329931"/>
            <a:ext cx="3889325" cy="1725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REM"/>
              <a:buNone/>
            </a:pPr>
            <a:r>
              <a:rPr b="0" i="0" lang="en-US" sz="8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⚠️</a:t>
            </a:r>
            <a:r>
              <a:rPr b="0" i="0" lang="en-US" sz="850" u="none" cap="none" strike="noStrike">
                <a:solidFill>
                  <a:srgbClr val="000000"/>
                </a:solidFill>
                <a:latin typeface="Funnel Sans"/>
                <a:ea typeface="Funnel Sans"/>
                <a:cs typeface="Funnel Sans"/>
                <a:sym typeface="Funnel Sans"/>
              </a:rPr>
              <a:t> Không có index "luôn tốt hơn" — benchmark trên dữ liệu của bạn.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5EB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7"/>
          <p:cNvSpPr/>
          <p:nvPr/>
        </p:nvSpPr>
        <p:spPr>
          <a:xfrm>
            <a:off x="523577" y="380479"/>
            <a:ext cx="8096845" cy="269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1650"/>
              <a:buFont typeface="Funnel Display"/>
              <a:buNone/>
            </a:pPr>
            <a:r>
              <a:rPr b="0" i="0" lang="en-US" sz="16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Vector Databases — Công cụ thực tế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7"/>
          <p:cNvSpPr/>
          <p:nvPr/>
        </p:nvSpPr>
        <p:spPr>
          <a:xfrm>
            <a:off x="523577" y="778297"/>
            <a:ext cx="8554045" cy="1245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50"/>
              <a:buFont typeface="Funnel Sans"/>
              <a:buNone/>
            </a:pPr>
            <a:r>
              <a:rPr b="0" i="0" lang="en-US" sz="6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Vector DB là hệ thống lưu trữ và tìm kiếm được thiết kế đặc biệt cho vector embedding — không phải chỉ là database thông thường có thêm tính năng vector.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7"/>
          <p:cNvSpPr/>
          <p:nvPr/>
        </p:nvSpPr>
        <p:spPr>
          <a:xfrm>
            <a:off x="523577" y="1039118"/>
            <a:ext cx="3936653" cy="134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800"/>
              <a:buFont typeface="Funnel Display"/>
              <a:buNone/>
            </a:pPr>
            <a:r>
              <a:rPr b="0" i="0" lang="en-US" sz="8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Qdrant — Self-hosted, hiệu năng cao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7"/>
          <p:cNvSpPr/>
          <p:nvPr/>
        </p:nvSpPr>
        <p:spPr>
          <a:xfrm>
            <a:off x="523577" y="1238027"/>
            <a:ext cx="3936653" cy="4185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32080" lvl="0" marL="13208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50"/>
              <a:buFont typeface="Funnel Sans"/>
              <a:buChar char="•"/>
            </a:pPr>
            <a:r>
              <a:rPr b="0" i="0" lang="en-US" sz="6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Viết bằng Rust, HNSW mặc định, payload filtering mạnh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2080" lvl="0" marL="13208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50"/>
              <a:buFont typeface="Funnel Sans"/>
              <a:buChar char="•"/>
            </a:pPr>
            <a:r>
              <a:rPr b="0" i="0" lang="en-US" sz="6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Hỗ trợ sparse + dense vector → hybrid search native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2080" lvl="0" marL="13208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50"/>
              <a:buFont typeface="Funnel Sans"/>
              <a:buChar char="•"/>
            </a:pPr>
            <a:r>
              <a:rPr b="0" i="0" lang="en-US" sz="6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Phù hợp: production self-hosted, pre-filtering phức tạp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7"/>
          <p:cNvSpPr/>
          <p:nvPr/>
        </p:nvSpPr>
        <p:spPr>
          <a:xfrm>
            <a:off x="523577" y="1728639"/>
            <a:ext cx="3936653" cy="1062335"/>
          </a:xfrm>
          <a:prstGeom prst="roundRect">
            <a:avLst>
              <a:gd fmla="val 3623" name="adj"/>
            </a:avLst>
          </a:prstGeom>
          <a:solidFill>
            <a:srgbClr val="EDE8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7"/>
          <p:cNvSpPr/>
          <p:nvPr/>
        </p:nvSpPr>
        <p:spPr>
          <a:xfrm>
            <a:off x="633487" y="1820242"/>
            <a:ext cx="3716834" cy="879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650"/>
              <a:buFont typeface="Consolas"/>
              <a:buNone/>
            </a:pPr>
            <a:r>
              <a:rPr b="0" i="0" lang="en-US" sz="65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results = client.search(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650"/>
              <a:buFont typeface="Consolas"/>
              <a:buNone/>
            </a:pPr>
            <a:r>
              <a:rPr b="0" i="0" lang="en-US" sz="65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  collection_name="docs",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650"/>
              <a:buFont typeface="Consolas"/>
              <a:buNone/>
            </a:pPr>
            <a:r>
              <a:rPr b="0" i="0" lang="en-US" sz="65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  query_vector=query_embedding,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650"/>
              <a:buFont typeface="Consolas"/>
              <a:buNone/>
            </a:pPr>
            <a:r>
              <a:rPr b="0" i="0" lang="en-US" sz="65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  query_filter={"must": [{"key": "company_id", "match": {"value": 42}}]},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650"/>
              <a:buFont typeface="Consolas"/>
              <a:buNone/>
            </a:pPr>
            <a:r>
              <a:rPr b="0" i="0" lang="en-US" sz="65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  limit=10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650"/>
              <a:buFont typeface="Consolas"/>
              <a:buNone/>
            </a:pPr>
            <a:r>
              <a:rPr b="0" i="0" lang="en-US" sz="65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7"/>
          <p:cNvSpPr/>
          <p:nvPr/>
        </p:nvSpPr>
        <p:spPr>
          <a:xfrm>
            <a:off x="523577" y="2863081"/>
            <a:ext cx="3936653" cy="134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800"/>
              <a:buFont typeface="Funnel Display"/>
              <a:buNone/>
            </a:pPr>
            <a:r>
              <a:rPr b="0" i="0" lang="en-US" sz="8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pgvector — Vector Search trong PostgreSQL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7"/>
          <p:cNvSpPr/>
          <p:nvPr/>
        </p:nvSpPr>
        <p:spPr>
          <a:xfrm>
            <a:off x="523577" y="3061990"/>
            <a:ext cx="3936653" cy="4185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32080" lvl="0" marL="13208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50"/>
              <a:buFont typeface="Funnel Sans"/>
              <a:buChar char="•"/>
            </a:pPr>
            <a:r>
              <a:rPr b="0" i="0" lang="en-US" sz="6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Extension của PostgreSQL — không cần thêm infrastructure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2080" lvl="0" marL="13208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50"/>
              <a:buFont typeface="Funnel Sans"/>
              <a:buChar char="•"/>
            </a:pPr>
            <a:r>
              <a:rPr b="0" i="0" lang="en-US" sz="6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Hỗ trợ HNSW và IVFFlat, metadata filtering bằng SQL WHERE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2080" lvl="0" marL="13208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50"/>
              <a:buFont typeface="Funnel Sans"/>
              <a:buChar char="•"/>
            </a:pPr>
            <a:r>
              <a:rPr b="0" i="0" lang="en-US" sz="6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Phù hợp: đã có PostgreSQL, corpus vừa phải (&lt;10M vectors)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7"/>
          <p:cNvSpPr/>
          <p:nvPr/>
        </p:nvSpPr>
        <p:spPr>
          <a:xfrm>
            <a:off x="523577" y="3552602"/>
            <a:ext cx="3936653" cy="769293"/>
          </a:xfrm>
          <a:prstGeom prst="roundRect">
            <a:avLst>
              <a:gd fmla="val 5003" name="adj"/>
            </a:avLst>
          </a:prstGeom>
          <a:solidFill>
            <a:srgbClr val="EDE8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7"/>
          <p:cNvSpPr/>
          <p:nvPr/>
        </p:nvSpPr>
        <p:spPr>
          <a:xfrm>
            <a:off x="633487" y="3644205"/>
            <a:ext cx="3716834" cy="586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2863A"/>
              </a:buClr>
              <a:buSzPts val="650"/>
              <a:buFont typeface="Consolas"/>
              <a:buNone/>
            </a:pPr>
            <a:r>
              <a:rPr b="0" i="0" lang="en-US" sz="650" u="none" cap="none" strike="noStrike">
                <a:solidFill>
                  <a:srgbClr val="22863A"/>
                </a:solidFill>
                <a:latin typeface="Consolas"/>
                <a:ea typeface="Consolas"/>
                <a:cs typeface="Consolas"/>
                <a:sym typeface="Consolas"/>
              </a:rPr>
              <a:t>SELECT id, content, 1 - (embedding &lt;=&gt; $1) AS score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2863A"/>
              </a:buClr>
              <a:buSzPts val="650"/>
              <a:buFont typeface="Consolas"/>
              <a:buNone/>
            </a:pPr>
            <a:r>
              <a:rPr b="0" i="0" lang="en-US" sz="650" u="none" cap="none" strike="noStrike">
                <a:solidFill>
                  <a:srgbClr val="22863A"/>
                </a:solidFill>
                <a:latin typeface="Consolas"/>
                <a:ea typeface="Consolas"/>
                <a:cs typeface="Consolas"/>
                <a:sym typeface="Consolas"/>
              </a:rPr>
              <a:t>FROM documents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2863A"/>
              </a:buClr>
              <a:buSzPts val="650"/>
              <a:buFont typeface="Consolas"/>
              <a:buNone/>
            </a:pPr>
            <a:r>
              <a:rPr b="0" i="0" lang="en-US" sz="650" u="none" cap="none" strike="noStrike">
                <a:solidFill>
                  <a:srgbClr val="22863A"/>
                </a:solidFill>
                <a:latin typeface="Consolas"/>
                <a:ea typeface="Consolas"/>
                <a:cs typeface="Consolas"/>
                <a:sym typeface="Consolas"/>
              </a:rPr>
              <a:t>WHERE company_id = 42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2863A"/>
              </a:buClr>
              <a:buSzPts val="650"/>
              <a:buFont typeface="Consolas"/>
              <a:buNone/>
            </a:pPr>
            <a:r>
              <a:rPr b="0" i="0" lang="en-US" sz="650" u="none" cap="none" strike="noStrike">
                <a:solidFill>
                  <a:srgbClr val="22863A"/>
                </a:solidFill>
                <a:latin typeface="Consolas"/>
                <a:ea typeface="Consolas"/>
                <a:cs typeface="Consolas"/>
                <a:sym typeface="Consolas"/>
              </a:rPr>
              <a:t>ORDER BY embedding &lt;=&gt; $1 LIMIT 10;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7"/>
          <p:cNvSpPr/>
          <p:nvPr/>
        </p:nvSpPr>
        <p:spPr>
          <a:xfrm>
            <a:off x="4688532" y="1039118"/>
            <a:ext cx="3936653" cy="134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800"/>
              <a:buFont typeface="Funnel Display"/>
              <a:buNone/>
            </a:pPr>
            <a:r>
              <a:rPr b="0" i="0" lang="en-US" sz="8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So sánh nhanh: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30" name="Google Shape;430;p17"/>
          <p:cNvGraphicFramePr/>
          <p:nvPr/>
        </p:nvGraphicFramePr>
        <p:xfrm>
          <a:off x="4688532" y="12459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{3B3E4DE5-BB9D-4D9E-814C-6277CECA3E85}</a:tableStyleId>
              </a:tblPr>
              <a:tblGrid>
                <a:gridCol w="787325"/>
                <a:gridCol w="787325"/>
                <a:gridCol w="787325"/>
                <a:gridCol w="787325"/>
                <a:gridCol w="787325"/>
              </a:tblGrid>
              <a:tr h="213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1650" marL="91650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Qdrant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1650" marL="9165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Pinecone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1650" marL="9165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pgvector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1650" marL="9165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Chroma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1650" marL="9165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Loại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1650" marL="91650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Self-hosted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1650" marL="9165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Managed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1650" marL="9165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PG Extension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1650" marL="9165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Embedded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1650" marL="9165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0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Hybrid search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1650" marL="91650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 Native</a:t>
                      </a:r>
                      <a:endParaRPr sz="8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91650" marL="9165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 Limited</a:t>
                      </a:r>
                      <a:endParaRPr sz="8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91650" marL="9165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 Manual</a:t>
                      </a:r>
                      <a:endParaRPr sz="8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91650" marL="9165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91650" marL="9165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0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Pre-filtering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1650" marL="91650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 Mạnh</a:t>
                      </a:r>
                      <a:endParaRPr sz="8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91650" marL="9165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 Có</a:t>
                      </a:r>
                      <a:endParaRPr sz="8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91650" marL="9165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 SQL</a:t>
                      </a:r>
                      <a:endParaRPr sz="8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91650" marL="9165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 Cơ bản</a:t>
                      </a:r>
                      <a:endParaRPr sz="8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91650" marL="9165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Quy mô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1650" marL="91650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Lớn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1650" marL="9165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Rất lớn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1650" marL="9165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Vừa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1650" marL="9165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Nhỏ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1650" marL="9165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Phù hợp nhất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1650" marL="91650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Production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1650" marL="9165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Managed prod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1650" marL="9165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Đã có PG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1650" marL="9165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Prototype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1650" marL="9165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31" name="Google Shape;431;p17"/>
          <p:cNvSpPr/>
          <p:nvPr/>
        </p:nvSpPr>
        <p:spPr>
          <a:xfrm>
            <a:off x="523577" y="4466109"/>
            <a:ext cx="8096845" cy="296838"/>
          </a:xfrm>
          <a:prstGeom prst="roundRect">
            <a:avLst>
              <a:gd fmla="val 12966" name="adj"/>
            </a:avLst>
          </a:prstGeom>
          <a:solidFill>
            <a:srgbClr val="FCF2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2" name="Google Shape;43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181" y="4558605"/>
            <a:ext cx="114523" cy="91604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17"/>
          <p:cNvSpPr/>
          <p:nvPr/>
        </p:nvSpPr>
        <p:spPr>
          <a:xfrm>
            <a:off x="821308" y="4553099"/>
            <a:ext cx="8164711" cy="12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REM"/>
              <a:buNone/>
            </a:pPr>
            <a:r>
              <a:rPr b="0" i="0" lang="en-US" sz="6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⚠️</a:t>
            </a:r>
            <a:r>
              <a:rPr b="0" i="0" lang="en-US" sz="650" u="none" cap="none" strike="noStrike">
                <a:solidFill>
                  <a:srgbClr val="000000"/>
                </a:solidFill>
                <a:latin typeface="Funnel Sans"/>
                <a:ea typeface="Funnel Sans"/>
                <a:cs typeface="Funnel Sans"/>
                <a:sym typeface="Funnel Sans"/>
              </a:rPr>
              <a:t> Vector DB là thành phần lưu trữ và retrieval trong RAG — không phải toàn bộ hệ thống.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5EB"/>
        </a:solidFill>
      </p:bgPr>
    </p:bg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8"/>
          <p:cNvSpPr/>
          <p:nvPr/>
        </p:nvSpPr>
        <p:spPr>
          <a:xfrm>
            <a:off x="523577" y="388516"/>
            <a:ext cx="8096845" cy="2483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1500"/>
              <a:buFont typeface="Funnel Display"/>
              <a:buNone/>
            </a:pPr>
            <a:r>
              <a:rPr b="0" i="0" lang="en-US" sz="15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Metadata Filtering — Ràng buộc nghiệp vụ trong Vector Search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8"/>
          <p:cNvSpPr/>
          <p:nvPr/>
        </p:nvSpPr>
        <p:spPr>
          <a:xfrm>
            <a:off x="523577" y="773088"/>
            <a:ext cx="3945359" cy="124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750"/>
              <a:buFont typeface="Funnel Display"/>
              <a:buNone/>
            </a:pPr>
            <a:r>
              <a:rPr b="0" i="0" lang="en-US" sz="7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Vấn đề: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8"/>
          <p:cNvSpPr/>
          <p:nvPr/>
        </p:nvSpPr>
        <p:spPr>
          <a:xfrm>
            <a:off x="650230" y="1007715"/>
            <a:ext cx="4275906" cy="1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Sans"/>
              <a:buNone/>
            </a:pPr>
            <a:r>
              <a:rPr b="0" i="0" lang="en-US" sz="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Vector similarity tìm các tài liệu "liên quan về ngữ nghĩa" — nhưng không biết gì về ràng buộc nghiệp vụ.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8"/>
          <p:cNvSpPr/>
          <p:nvPr/>
        </p:nvSpPr>
        <p:spPr>
          <a:xfrm>
            <a:off x="523577" y="958676"/>
            <a:ext cx="9525" cy="209178"/>
          </a:xfrm>
          <a:prstGeom prst="roundRect">
            <a:avLst>
              <a:gd fmla="val 50000" name="adj"/>
            </a:avLst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8"/>
          <p:cNvSpPr/>
          <p:nvPr/>
        </p:nvSpPr>
        <p:spPr>
          <a:xfrm>
            <a:off x="523577" y="1229171"/>
            <a:ext cx="3945359" cy="3333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Sans"/>
              <a:buNone/>
            </a:pPr>
            <a:r>
              <a:rPr b="1" i="0" lang="en-US" sz="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Scenario: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Sans"/>
              <a:buNone/>
            </a:pPr>
            <a:r>
              <a:rPr b="0" i="0" lang="en-US" sz="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Query: </a:t>
            </a:r>
            <a:r>
              <a:rPr b="0" i="0" lang="en-US" sz="600" u="none" cap="none" strike="noStrike">
                <a:solidFill>
                  <a:srgbClr val="2B3541"/>
                </a:solidFill>
                <a:highlight>
                  <a:srgbClr val="EDE8DE"/>
                </a:highlight>
                <a:latin typeface="Consolas"/>
                <a:ea typeface="Consolas"/>
                <a:cs typeface="Consolas"/>
                <a:sym typeface="Consolas"/>
              </a:rPr>
              <a:t>"How do I approve an invoice?"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Sans"/>
              <a:buNone/>
            </a:pPr>
            <a:r>
              <a:rPr b="0" i="0" lang="en-US" sz="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Database: 10 triệu tài liệu, 500+ tenant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8"/>
          <p:cNvSpPr/>
          <p:nvPr/>
        </p:nvSpPr>
        <p:spPr>
          <a:xfrm>
            <a:off x="523577" y="1611511"/>
            <a:ext cx="3945359" cy="3714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21920" lvl="0" marL="12192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Sans"/>
              <a:buChar char="•"/>
            </a:pPr>
            <a:r>
              <a:rPr b="0" i="0" lang="en-US" sz="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Top-K semantic results có thể bao gồm tài liệu từ công ty khác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1920" lvl="0" marL="12192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Sans"/>
              <a:buChar char="•"/>
            </a:pPr>
            <a:r>
              <a:rPr b="0" i="0" lang="en-US" sz="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Tài liệu ngôn ngữ khác, phiên bản đã lỗi thời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1920" lvl="0" marL="12192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Sans"/>
              <a:buChar char="•"/>
            </a:pPr>
            <a:r>
              <a:rPr b="0" i="0" lang="en-US" sz="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Hệ thống multi-tenant: cô lập dữ liệu là yêu cầu bắt buộc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8"/>
          <p:cNvSpPr/>
          <p:nvPr/>
        </p:nvSpPr>
        <p:spPr>
          <a:xfrm>
            <a:off x="523577" y="2037383"/>
            <a:ext cx="3945359" cy="124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700"/>
              <a:buFont typeface="Funnel Display"/>
              <a:buNone/>
            </a:pPr>
            <a:r>
              <a:rPr b="0" i="0" lang="en-US" sz="7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Pre-filter vs Post-filter: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46" name="Google Shape;446;p18"/>
          <p:cNvGraphicFramePr/>
          <p:nvPr/>
        </p:nvGraphicFramePr>
        <p:xfrm>
          <a:off x="523577" y="222297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{3B3E4DE5-BB9D-4D9E-814C-6277CECA3E85}</a:tableStyleId>
              </a:tblPr>
              <a:tblGrid>
                <a:gridCol w="1183625"/>
                <a:gridCol w="1380875"/>
                <a:gridCol w="1380875"/>
              </a:tblGrid>
              <a:tr h="188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4475" marL="84475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Pre-filter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4475" marL="844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Post-filter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4475" marL="844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Thứ tự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4475" marL="84475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Filter → Search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4475" marL="844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Search → Filter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4475" marL="844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Recall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4475" marL="84475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Tốt nếu tập đủ lớn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4475" marL="844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Có thể bỏ sót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4475" marL="844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Vấn đề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4475" marL="84475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Tập nhỏ → ANN kém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4475" marL="844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Top-K nhỏ → miss results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4475" marL="844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3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Khuyến nghị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4475" marL="84475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 Ưu tiên</a:t>
                      </a:r>
                      <a:endParaRPr sz="8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84475" marL="844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 Cẩn thận</a:t>
                      </a:r>
                      <a:endParaRPr sz="8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84475" marL="844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47" name="Google Shape;447;p18"/>
          <p:cNvSpPr/>
          <p:nvPr/>
        </p:nvSpPr>
        <p:spPr>
          <a:xfrm>
            <a:off x="4679826" y="773088"/>
            <a:ext cx="3945359" cy="124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750"/>
              <a:buFont typeface="Funnel Display"/>
              <a:buNone/>
            </a:pPr>
            <a:r>
              <a:rPr b="0" i="0" lang="en-US" sz="7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Ví dụ thực tế — Enterprise Permission: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8"/>
          <p:cNvSpPr/>
          <p:nvPr/>
        </p:nvSpPr>
        <p:spPr>
          <a:xfrm>
            <a:off x="4679826" y="958676"/>
            <a:ext cx="3945359" cy="3412182"/>
          </a:xfrm>
          <a:prstGeom prst="roundRect">
            <a:avLst>
              <a:gd fmla="val 1040" name="adj"/>
            </a:avLst>
          </a:prstGeom>
          <a:solidFill>
            <a:srgbClr val="EDE8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8"/>
          <p:cNvSpPr/>
          <p:nvPr/>
        </p:nvSpPr>
        <p:spPr>
          <a:xfrm>
            <a:off x="4781178" y="1043136"/>
            <a:ext cx="3742655" cy="3243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# Document metadata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  "tenant_id": "company_a",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  "department": "production",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  "language": "vi",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  "status": "current",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  "role_access": ["manager", "operator"]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# Query với metadata filter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results = client.search(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    query_vector=query_vec,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    query_filter={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        "must": [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            {"key": "tenant_id",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             "match": {"value": "company_a"}},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            {"key": "status",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             "match": {"value": "current"}},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            {"key": "language",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             "match": {"value": "vi"}}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        ]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    },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    limit=10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8"/>
          <p:cNvSpPr/>
          <p:nvPr/>
        </p:nvSpPr>
        <p:spPr>
          <a:xfrm>
            <a:off x="523577" y="4493493"/>
            <a:ext cx="8096845" cy="261491"/>
          </a:xfrm>
          <a:prstGeom prst="roundRect">
            <a:avLst>
              <a:gd fmla="val 13569" name="adj"/>
            </a:avLst>
          </a:prstGeom>
          <a:solidFill>
            <a:srgbClr val="FCF2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1" name="Google Shape;45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8037" y="4571256"/>
            <a:ext cx="105594" cy="84460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18"/>
          <p:cNvSpPr/>
          <p:nvPr/>
        </p:nvSpPr>
        <p:spPr>
          <a:xfrm>
            <a:off x="798091" y="4569023"/>
            <a:ext cx="8195072" cy="115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REM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⚠️</a:t>
            </a:r>
            <a:r>
              <a:rPr b="0" i="0" lang="en-US" sz="600" u="none" cap="none" strike="noStrike">
                <a:solidFill>
                  <a:srgbClr val="000000"/>
                </a:solidFill>
                <a:latin typeface="Funnel Sans"/>
                <a:ea typeface="Funnel Sans"/>
                <a:cs typeface="Funnel Sans"/>
                <a:sym typeface="Funnel Sans"/>
              </a:rPr>
              <a:t> Vector similarity và ràng buộc nghiệp vụ là hai vấn đề riêng biệt — cần xử lý cả hai.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5EB"/>
        </a:solidFill>
      </p:bgPr>
    </p:bg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9"/>
          <p:cNvSpPr/>
          <p:nvPr/>
        </p:nvSpPr>
        <p:spPr>
          <a:xfrm>
            <a:off x="523577" y="418579"/>
            <a:ext cx="8096845" cy="365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2250"/>
              <a:buFont typeface="Funnel Display"/>
              <a:buNone/>
            </a:pPr>
            <a:r>
              <a:rPr b="0" i="0" lang="en-US" sz="22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Pre-Filter vs Post-Filter — Quyết định kỹ thuật quan trọng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9"/>
          <p:cNvSpPr/>
          <p:nvPr/>
        </p:nvSpPr>
        <p:spPr>
          <a:xfrm>
            <a:off x="523577" y="1079599"/>
            <a:ext cx="3896767" cy="182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1100"/>
              <a:buFont typeface="Funnel Display"/>
              <a:buNone/>
            </a:pPr>
            <a:r>
              <a:rPr b="0" i="0" lang="en-US" sz="11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Pre-filter (lọc trước):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9"/>
          <p:cNvSpPr/>
          <p:nvPr/>
        </p:nvSpPr>
        <p:spPr>
          <a:xfrm>
            <a:off x="710059" y="1501601"/>
            <a:ext cx="3710285" cy="3878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900"/>
              <a:buFont typeface="Funnel Sans"/>
              <a:buNone/>
            </a:pPr>
            <a:r>
              <a:rPr b="0" i="0" lang="en-US" sz="9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Áp dụng metadata filter → thu hẹp tập ứng viên → vector search trong tập đã lọc.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9"/>
          <p:cNvSpPr/>
          <p:nvPr/>
        </p:nvSpPr>
        <p:spPr>
          <a:xfrm>
            <a:off x="523577" y="1395338"/>
            <a:ext cx="14288" cy="600373"/>
          </a:xfrm>
          <a:prstGeom prst="roundRect">
            <a:avLst>
              <a:gd fmla="val 49998" name="adj"/>
            </a:avLst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9"/>
          <p:cNvSpPr/>
          <p:nvPr/>
        </p:nvSpPr>
        <p:spPr>
          <a:xfrm>
            <a:off x="523577" y="2128614"/>
            <a:ext cx="3896767" cy="1134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82880" lvl="0" marL="18288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REM"/>
              <a:buChar char="•"/>
            </a:pPr>
            <a:r>
              <a:rPr b="0" i="0" lang="en-US" sz="9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✅</a:t>
            </a:r>
            <a:r>
              <a:rPr b="0" i="0" lang="en-US" sz="9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 Đảm bảo kết quả luôn thỏa mãn ràng buộc nghiệp vụ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880" lvl="0" marL="18288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REM"/>
              <a:buChar char="•"/>
            </a:pPr>
            <a:r>
              <a:rPr b="0" i="0" lang="en-US" sz="9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✅</a:t>
            </a:r>
            <a:r>
              <a:rPr b="0" i="0" lang="en-US" sz="9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 Không bỏ sót doc liên quan trong tập đã lọc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880" lvl="0" marL="18288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REM"/>
              <a:buChar char="•"/>
            </a:pPr>
            <a:r>
              <a:rPr b="0" i="0" lang="en-US" sz="9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✅</a:t>
            </a:r>
            <a:r>
              <a:rPr b="0" i="0" lang="en-US" sz="9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 Phù hợp với multi-tenant isolation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880" lvl="0" marL="18288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REM"/>
              <a:buChar char="•"/>
            </a:pPr>
            <a:r>
              <a:rPr b="0" i="0" lang="en-US" sz="9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⚠️</a:t>
            </a:r>
            <a:r>
              <a:rPr b="0" i="0" lang="en-US" sz="9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 Nếu tập đã lọc quá nhỏ → ANN index hoạt động kém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880" lvl="0" marL="18288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REM"/>
              <a:buChar char="•"/>
            </a:pPr>
            <a:r>
              <a:rPr b="0" i="0" lang="en-US" sz="9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⚠️</a:t>
            </a:r>
            <a:r>
              <a:rPr b="0" i="0" lang="en-US" sz="9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 Một số vector DB không hỗ trợ pre-filtering hiệu quả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9"/>
          <p:cNvSpPr/>
          <p:nvPr/>
        </p:nvSpPr>
        <p:spPr>
          <a:xfrm>
            <a:off x="4728418" y="1079599"/>
            <a:ext cx="3896767" cy="182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1100"/>
              <a:buFont typeface="Funnel Display"/>
              <a:buNone/>
            </a:pPr>
            <a:r>
              <a:rPr b="0" i="0" lang="en-US" sz="11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Post-filter (tìm kiếm trước):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9"/>
          <p:cNvSpPr/>
          <p:nvPr/>
        </p:nvSpPr>
        <p:spPr>
          <a:xfrm>
            <a:off x="4914900" y="1501601"/>
            <a:ext cx="3710285" cy="3878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900"/>
              <a:buFont typeface="Funnel Sans"/>
              <a:buNone/>
            </a:pPr>
            <a:r>
              <a:rPr b="0" i="0" lang="en-US" sz="9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Vector search → lấy Top-K → áp dụng metadata filter → trả về kết quả đã lọc.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9"/>
          <p:cNvSpPr/>
          <p:nvPr/>
        </p:nvSpPr>
        <p:spPr>
          <a:xfrm>
            <a:off x="4728418" y="1395338"/>
            <a:ext cx="14288" cy="600373"/>
          </a:xfrm>
          <a:prstGeom prst="roundRect">
            <a:avLst>
              <a:gd fmla="val 49998" name="adj"/>
            </a:avLst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9"/>
          <p:cNvSpPr/>
          <p:nvPr/>
        </p:nvSpPr>
        <p:spPr>
          <a:xfrm>
            <a:off x="4728418" y="2128614"/>
            <a:ext cx="3896767" cy="6643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82880" lvl="0" marL="18288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REM"/>
              <a:buChar char="•"/>
            </a:pPr>
            <a:r>
              <a:rPr b="0" i="0" lang="en-US" sz="9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❌</a:t>
            </a:r>
            <a:r>
              <a:rPr b="0" i="0" lang="en-US" sz="9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 Top-10 semantic results → chỉ 1 kết quả thuộc company_id = 42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880" lvl="0" marL="18288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REM"/>
              <a:buChar char="•"/>
            </a:pPr>
            <a:r>
              <a:rPr b="0" i="0" lang="en-US" sz="9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❌</a:t>
            </a:r>
            <a:r>
              <a:rPr b="0" i="0" lang="en-US" sz="9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 Doc liên quan của công ty 42 có thể nằm ở rank 50, 100, 200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880" lvl="0" marL="18288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REM"/>
              <a:buChar char="•"/>
            </a:pPr>
            <a:r>
              <a:rPr b="0" i="0" lang="en-US" sz="9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❌</a:t>
            </a:r>
            <a:r>
              <a:rPr b="0" i="0" lang="en-US" sz="9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 Cách khắc phục: tăng Top-K trước khi lọc (Top-500) → tốn kém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9"/>
          <p:cNvSpPr/>
          <p:nvPr/>
        </p:nvSpPr>
        <p:spPr>
          <a:xfrm>
            <a:off x="4728418" y="2911078"/>
            <a:ext cx="3896767" cy="182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1100"/>
              <a:buFont typeface="Funnel Display"/>
              <a:buNone/>
            </a:pPr>
            <a:r>
              <a:rPr b="0" i="0" lang="en-US" sz="11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Thực hành tốt nhất: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9"/>
          <p:cNvSpPr/>
          <p:nvPr/>
        </p:nvSpPr>
        <p:spPr>
          <a:xfrm>
            <a:off x="4728418" y="3212009"/>
            <a:ext cx="3896767" cy="858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82880" lvl="0" marL="18288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900"/>
              <a:buFont typeface="Funnel Sans"/>
              <a:buChar char="•"/>
            </a:pPr>
            <a:r>
              <a:rPr b="0" i="0" lang="en-US" sz="9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Dùng pre-filter khi có thể — đặc biệt với multi-tenant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880" lvl="0" marL="18288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900"/>
              <a:buFont typeface="Funnel Sans"/>
              <a:buChar char="•"/>
            </a:pPr>
            <a:r>
              <a:rPr b="0" i="0" lang="en-US" sz="9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Nếu tập đã lọc nhỏ → cân nhắc exact search trong tập đó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880" lvl="0" marL="18288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900"/>
              <a:buFont typeface="Funnel Sans"/>
              <a:buChar char="•"/>
            </a:pPr>
            <a:r>
              <a:rPr b="0" i="0" lang="en-US" sz="9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Luôn bắt buộc filter theo tenant_id — không để vector similarity quyết định isolation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9"/>
          <p:cNvSpPr/>
          <p:nvPr/>
        </p:nvSpPr>
        <p:spPr>
          <a:xfrm>
            <a:off x="523577" y="4244504"/>
            <a:ext cx="8096845" cy="480343"/>
          </a:xfrm>
          <a:prstGeom prst="roundRect">
            <a:avLst>
              <a:gd fmla="val 10874" name="adj"/>
            </a:avLst>
          </a:prstGeom>
          <a:solidFill>
            <a:srgbClr val="FCF2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0" name="Google Shape;47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923" y="4413349"/>
            <a:ext cx="155451" cy="124346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19"/>
          <p:cNvSpPr/>
          <p:nvPr/>
        </p:nvSpPr>
        <p:spPr>
          <a:xfrm>
            <a:off x="927720" y="4393629"/>
            <a:ext cx="8025557" cy="1939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REM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⚠️</a:t>
            </a:r>
            <a:r>
              <a:rPr b="0" i="0" lang="en-US" sz="900" u="none" cap="none" strike="noStrike">
                <a:solidFill>
                  <a:srgbClr val="000000"/>
                </a:solidFill>
                <a:latin typeface="Funnel Sans"/>
                <a:ea typeface="Funnel Sans"/>
                <a:cs typeface="Funnel Sans"/>
                <a:sym typeface="Funnel Sans"/>
              </a:rPr>
              <a:t> Rò rỉ dữ liệu multi-tenant là lỗi nghiêm trọng — không thể sửa bằng cách tăng Top-K.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5EB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20"/>
          <p:cNvSpPr/>
          <p:nvPr/>
        </p:nvSpPr>
        <p:spPr>
          <a:xfrm>
            <a:off x="523577" y="544711"/>
            <a:ext cx="8096845" cy="2502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1500"/>
              <a:buFont typeface="Funnel Display"/>
              <a:buNone/>
            </a:pPr>
            <a:r>
              <a:rPr b="0" i="0" lang="en-US" sz="15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Sparse Vector &amp; BM25 — Lexical Retrieval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0"/>
          <p:cNvSpPr/>
          <p:nvPr/>
        </p:nvSpPr>
        <p:spPr>
          <a:xfrm>
            <a:off x="523577" y="933152"/>
            <a:ext cx="3944615" cy="125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750"/>
              <a:buFont typeface="Funnel Display"/>
              <a:buNone/>
            </a:pPr>
            <a:r>
              <a:rPr b="0" i="0" lang="en-US" sz="7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BM25 — Best Match 25: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0"/>
          <p:cNvSpPr/>
          <p:nvPr/>
        </p:nvSpPr>
        <p:spPr>
          <a:xfrm>
            <a:off x="651197" y="1170161"/>
            <a:ext cx="4274195" cy="112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Sans"/>
              <a:buNone/>
            </a:pPr>
            <a:r>
              <a:rPr b="0" i="0" lang="en-US" sz="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BM25 là thuật toán xếp hạng từ khóa xác suất — nền tảng của hầu hết search engine truyền thống.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0"/>
          <p:cNvSpPr/>
          <p:nvPr/>
        </p:nvSpPr>
        <p:spPr>
          <a:xfrm>
            <a:off x="523577" y="1120453"/>
            <a:ext cx="9525" cy="211634"/>
          </a:xfrm>
          <a:prstGeom prst="roundRect">
            <a:avLst>
              <a:gd fmla="val 50000" name="adj"/>
            </a:avLst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20"/>
          <p:cNvSpPr/>
          <p:nvPr/>
        </p:nvSpPr>
        <p:spPr>
          <a:xfrm>
            <a:off x="523577" y="1394296"/>
            <a:ext cx="3944615" cy="125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750"/>
              <a:buFont typeface="Funnel Display"/>
              <a:buNone/>
            </a:pPr>
            <a:r>
              <a:rPr b="0" i="0" lang="en-US" sz="7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Công thức BM25 (trực giác):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0"/>
          <p:cNvSpPr/>
          <p:nvPr/>
        </p:nvSpPr>
        <p:spPr>
          <a:xfrm>
            <a:off x="523577" y="1574676"/>
            <a:ext cx="3944615" cy="375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21920" lvl="0" marL="12192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Sans"/>
              <a:buChar char="•"/>
            </a:pPr>
            <a:r>
              <a:rPr b="1" i="0" lang="en-US" sz="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Term frequency (TF):</a:t>
            </a:r>
            <a:r>
              <a:rPr b="0" i="0" lang="en-US" sz="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 từ xuất hiện nhiều lần trong doc → score cao hơn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1920" lvl="0" marL="12192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Sans"/>
              <a:buChar char="•"/>
            </a:pPr>
            <a:r>
              <a:rPr b="1" i="0" lang="en-US" sz="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Inverse document frequency (IDF):</a:t>
            </a:r>
            <a:r>
              <a:rPr b="0" i="0" lang="en-US" sz="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 từ hiếm → quan trọng hơn từ phổ biến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1920" lvl="0" marL="12192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Sans"/>
              <a:buChar char="•"/>
            </a:pPr>
            <a:r>
              <a:rPr b="1" i="0" lang="en-US" sz="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Document length normalization:</a:t>
            </a:r>
            <a:r>
              <a:rPr b="0" i="0" lang="en-US" sz="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 doc dài không được ưu tiên hơn doc ngắn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0"/>
          <p:cNvSpPr/>
          <p:nvPr/>
        </p:nvSpPr>
        <p:spPr>
          <a:xfrm>
            <a:off x="523577" y="2005310"/>
            <a:ext cx="3944615" cy="125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750"/>
              <a:buFont typeface="Funnel Display"/>
              <a:buNone/>
            </a:pPr>
            <a:r>
              <a:rPr b="0" i="0" lang="en-US" sz="7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Ví dụ code — BM25 với rank_bm25: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0"/>
          <p:cNvSpPr/>
          <p:nvPr/>
        </p:nvSpPr>
        <p:spPr>
          <a:xfrm>
            <a:off x="523577" y="2192610"/>
            <a:ext cx="3944615" cy="1666429"/>
          </a:xfrm>
          <a:prstGeom prst="roundRect">
            <a:avLst>
              <a:gd fmla="val 2145" name="adj"/>
            </a:avLst>
          </a:prstGeom>
          <a:solidFill>
            <a:srgbClr val="EDE8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20"/>
          <p:cNvSpPr/>
          <p:nvPr/>
        </p:nvSpPr>
        <p:spPr>
          <a:xfrm>
            <a:off x="625673" y="2277666"/>
            <a:ext cx="3740423" cy="14963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from rank_bm25 import BM25Okapi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# Tokenize corpus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tokenized_corpus = [doc.split() for doc in documents]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bm25 = BM25Okapi(tokenized_corpus)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# Query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query = "reset password"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tokenized_query = query.split()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scores = bm25.get_scores(tokenized_query)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top_k = sorted(range(len(scores)), key=lambda i: scores[i], reverse=True)[:10]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0"/>
          <p:cNvSpPr/>
          <p:nvPr/>
        </p:nvSpPr>
        <p:spPr>
          <a:xfrm>
            <a:off x="4680570" y="933152"/>
            <a:ext cx="3944615" cy="125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750"/>
              <a:buFont typeface="Funnel Display"/>
              <a:buNone/>
            </a:pPr>
            <a:r>
              <a:rPr b="0" i="0" lang="en-US" sz="7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Sparse Vector — SPLADE &amp; BM25S: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0"/>
          <p:cNvSpPr/>
          <p:nvPr/>
        </p:nvSpPr>
        <p:spPr>
          <a:xfrm>
            <a:off x="4680570" y="1113532"/>
            <a:ext cx="3944615" cy="375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21920" lvl="0" marL="12192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Sans"/>
              <a:buChar char="•"/>
            </a:pPr>
            <a:r>
              <a:rPr b="1" i="0" lang="en-US" sz="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Sparse vector:</a:t>
            </a:r>
            <a:r>
              <a:rPr b="0" i="0" lang="en-US" sz="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 vector có hầu hết giá trị = 0, chỉ một số chiều có giá trị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1920" lvl="0" marL="12192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Sans"/>
              <a:buChar char="•"/>
            </a:pPr>
            <a:r>
              <a:rPr b="1" i="0" lang="en-US" sz="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SPLADE:</a:t>
            </a:r>
            <a:r>
              <a:rPr b="0" i="0" lang="en-US" sz="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 học sparse representation từ transformer — tốt hơn BM25 thuần túy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1920" lvl="0" marL="12192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Sans"/>
              <a:buChar char="•"/>
            </a:pPr>
            <a:r>
              <a:rPr b="1" i="0" lang="en-US" sz="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BGE-M3</a:t>
            </a:r>
            <a:r>
              <a:rPr b="0" i="0" lang="en-US" sz="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 hỗ trợ cả dense và sparse vector trong cùng một model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0"/>
          <p:cNvSpPr/>
          <p:nvPr/>
        </p:nvSpPr>
        <p:spPr>
          <a:xfrm>
            <a:off x="4680570" y="1544166"/>
            <a:ext cx="3944615" cy="125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750"/>
              <a:buFont typeface="Funnel Display"/>
              <a:buNone/>
            </a:pPr>
            <a:r>
              <a:rPr b="0" i="0" lang="en-US" sz="7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Dense vs Sparse Vector: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89" name="Google Shape;489;p20"/>
          <p:cNvGraphicFramePr/>
          <p:nvPr/>
        </p:nvGraphicFramePr>
        <p:xfrm>
          <a:off x="4680570" y="17314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{3B3E4DE5-BB9D-4D9E-814C-6277CECA3E85}</a:tableStyleId>
              </a:tblPr>
              <a:tblGrid>
                <a:gridCol w="1314875"/>
                <a:gridCol w="1314875"/>
                <a:gridCol w="1314875"/>
              </a:tblGrid>
              <a:tr h="19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5100" marL="85100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Dense Vector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5100" marL="8510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Sparse Vector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5100" marL="8510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2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Kích thước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5100" marL="85100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768-3072 chiều, tất cả có giá trị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5100" marL="8510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30K+ chiều, hầu hết = 0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5100" marL="8510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2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Nắm bắt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5100" marL="85100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Semantic meaning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5100" marL="8510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Lexical patterns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5100" marL="8510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2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Tốt cho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5100" marL="85100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Paraphrase, intent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5100" marL="8510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Exact terms, codes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5100" marL="8510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2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Index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5100" marL="85100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HNSW, IVFFlat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5100" marL="8510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Inverted index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5100" marL="8510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Kết hợp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5100" marL="85100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Hybrid search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5100" marL="8510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Hybrid search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5100" marL="8510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90" name="Google Shape;490;p20"/>
          <p:cNvSpPr/>
          <p:nvPr/>
        </p:nvSpPr>
        <p:spPr>
          <a:xfrm>
            <a:off x="4680570" y="2954834"/>
            <a:ext cx="3944615" cy="125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750"/>
              <a:buFont typeface="Funnel Display"/>
              <a:buNone/>
            </a:pPr>
            <a:r>
              <a:rPr b="0" i="0" lang="en-US" sz="7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Hybrid với Qdrant (sparse + dense):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0"/>
          <p:cNvSpPr/>
          <p:nvPr/>
        </p:nvSpPr>
        <p:spPr>
          <a:xfrm>
            <a:off x="4680570" y="3142134"/>
            <a:ext cx="3944615" cy="1394371"/>
          </a:xfrm>
          <a:prstGeom prst="roundRect">
            <a:avLst>
              <a:gd fmla="val 2563" name="adj"/>
            </a:avLst>
          </a:prstGeom>
          <a:solidFill>
            <a:srgbClr val="EDE8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20"/>
          <p:cNvSpPr/>
          <p:nvPr/>
        </p:nvSpPr>
        <p:spPr>
          <a:xfrm>
            <a:off x="4782666" y="3227189"/>
            <a:ext cx="3740423" cy="122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results = client.query_points(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  collection_name="docs",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  prefetch=[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      Prefetch(query=sparse_vector, using="sparse", limit=50),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      Prefetch(query=dense_vector, using="dense", limit=50),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  ],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  query=FusionQuery(fusion=Fusion.RRF),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  limit=10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5EB"/>
        </a:solidFill>
      </p:bgPr>
    </p:bg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21"/>
          <p:cNvSpPr/>
          <p:nvPr/>
        </p:nvSpPr>
        <p:spPr>
          <a:xfrm>
            <a:off x="523577" y="375047"/>
            <a:ext cx="8096845" cy="2384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1450"/>
              <a:buFont typeface="Funnel Display"/>
              <a:buNone/>
            </a:pPr>
            <a:r>
              <a:rPr b="0" i="0" lang="en-US" sz="14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Hybrid Search — Kết hợp Lexical + Semantic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1"/>
          <p:cNvSpPr/>
          <p:nvPr/>
        </p:nvSpPr>
        <p:spPr>
          <a:xfrm>
            <a:off x="523577" y="739080"/>
            <a:ext cx="3949526" cy="1192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700"/>
              <a:buFont typeface="Funnel Display"/>
              <a:buNone/>
            </a:pPr>
            <a:r>
              <a:rPr b="0" i="0" lang="en-US" sz="7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Khi nào Semantic Search thất bại?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00" name="Google Shape;500;p21"/>
          <p:cNvGraphicFramePr/>
          <p:nvPr/>
        </p:nvGraphicFramePr>
        <p:xfrm>
          <a:off x="523577" y="9147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{3B3E4DE5-BB9D-4D9E-814C-6277CECA3E85}</a:tableStyleId>
              </a:tblPr>
              <a:tblGrid>
                <a:gridCol w="987375"/>
                <a:gridCol w="987375"/>
                <a:gridCol w="987375"/>
                <a:gridCol w="987375"/>
              </a:tblGrid>
              <a:tr h="177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Query Type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1100" marL="81100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BM25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1100" marL="8110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Vector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1100" marL="8110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Hybrid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1100" marL="8110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9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Mã lỗi: ERR_CONNECTION_RESET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1100" marL="81100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 Best</a:t>
                      </a:r>
                      <a:endParaRPr sz="8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81100" marL="8110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 Poor</a:t>
                      </a:r>
                      <a:endParaRPr sz="8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81100" marL="8110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 Good</a:t>
                      </a:r>
                      <a:endParaRPr sz="8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81100" marL="8110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9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Ngôn ngữ tự nhiên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1100" marL="81100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 Poor</a:t>
                      </a:r>
                      <a:endParaRPr sz="8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81100" marL="8110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 Best</a:t>
                      </a:r>
                      <a:endParaRPr sz="8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81100" marL="8110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 Good</a:t>
                      </a:r>
                      <a:endParaRPr sz="8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81100" marL="8110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9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Tên riêng / SKU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1100" marL="81100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 Good</a:t>
                      </a:r>
                      <a:endParaRPr sz="8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81100" marL="8110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 Partial</a:t>
                      </a:r>
                      <a:endParaRPr sz="8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81100" marL="8110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 Best</a:t>
                      </a:r>
                      <a:endParaRPr sz="8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81100" marL="8110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9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Paraphrase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1100" marL="81100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 Poor</a:t>
                      </a:r>
                      <a:endParaRPr sz="8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81100" marL="8110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 Best</a:t>
                      </a:r>
                      <a:endParaRPr sz="8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81100" marL="8110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 Good</a:t>
                      </a:r>
                      <a:endParaRPr sz="8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81100" marL="8110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7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Mixed intent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1100" marL="81100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 Poor</a:t>
                      </a:r>
                      <a:endParaRPr sz="8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81100" marL="8110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 Partial</a:t>
                      </a:r>
                      <a:endParaRPr sz="8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81100" marL="8110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 Best</a:t>
                      </a:r>
                      <a:endParaRPr sz="8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81100" marL="8110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01" name="Google Shape;501;p21"/>
          <p:cNvSpPr/>
          <p:nvPr/>
        </p:nvSpPr>
        <p:spPr>
          <a:xfrm>
            <a:off x="523577" y="2263973"/>
            <a:ext cx="3949526" cy="1192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700"/>
              <a:buFont typeface="Funnel Display"/>
              <a:buNone/>
            </a:pPr>
            <a:r>
              <a:rPr b="0" i="0" lang="en-US" sz="7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Nguyên nhân: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1"/>
          <p:cNvSpPr/>
          <p:nvPr/>
        </p:nvSpPr>
        <p:spPr>
          <a:xfrm>
            <a:off x="523577" y="2433414"/>
            <a:ext cx="3949526" cy="332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21920" lvl="0" marL="12192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Sans"/>
              <a:buChar char="•"/>
            </a:pPr>
            <a:r>
              <a:rPr b="0" i="0" lang="en-US" sz="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Embedding model nén thông tin → các mẫu từ vựng chính xác có thể bị mất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1920" lvl="0" marL="12192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Sans"/>
              <a:buChar char="•"/>
            </a:pPr>
            <a:r>
              <a:rPr b="0" i="0" lang="en-US" sz="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Semantic search tốt cho "người dùng muốn gì?" — Keyword search tốt cho "người dùng dùng từ gì chính xác?"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1"/>
          <p:cNvSpPr/>
          <p:nvPr/>
        </p:nvSpPr>
        <p:spPr>
          <a:xfrm>
            <a:off x="4675659" y="739080"/>
            <a:ext cx="3949526" cy="1192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700"/>
              <a:buFont typeface="Funnel Display"/>
              <a:buNone/>
            </a:pPr>
            <a:r>
              <a:rPr b="0" i="0" lang="en-US" sz="7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Hybrid Search Pipeline: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1"/>
          <p:cNvSpPr/>
          <p:nvPr/>
        </p:nvSpPr>
        <p:spPr>
          <a:xfrm>
            <a:off x="4675659" y="914772"/>
            <a:ext cx="162148" cy="101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Display Light"/>
              <a:buNone/>
            </a:pPr>
            <a:r>
              <a:rPr b="0" i="0" lang="en-US" sz="600" u="none" cap="none" strike="noStrike">
                <a:solidFill>
                  <a:srgbClr val="2B3541"/>
                </a:solidFill>
                <a:latin typeface="Funnel Display Light"/>
                <a:ea typeface="Funnel Display Light"/>
                <a:cs typeface="Funnel Display Light"/>
                <a:sym typeface="Funnel Display Light"/>
              </a:rPr>
              <a:t>01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1"/>
          <p:cNvSpPr/>
          <p:nvPr/>
        </p:nvSpPr>
        <p:spPr>
          <a:xfrm>
            <a:off x="4675659" y="1042988"/>
            <a:ext cx="3949526" cy="9525"/>
          </a:xfrm>
          <a:prstGeom prst="rect">
            <a:avLst/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21"/>
          <p:cNvSpPr/>
          <p:nvPr/>
        </p:nvSpPr>
        <p:spPr>
          <a:xfrm>
            <a:off x="4675659" y="1102519"/>
            <a:ext cx="3949526" cy="1192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00"/>
              <a:buFont typeface="Funnel Display"/>
              <a:buNone/>
            </a:pPr>
            <a:r>
              <a:rPr b="0" i="0" lang="en-US" sz="7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Lexical Retrieval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1"/>
          <p:cNvSpPr/>
          <p:nvPr/>
        </p:nvSpPr>
        <p:spPr>
          <a:xfrm>
            <a:off x="4675659" y="1271960"/>
            <a:ext cx="3949526" cy="1050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Sans"/>
              <a:buNone/>
            </a:pPr>
            <a:r>
              <a:rPr b="0" i="0" lang="en-US" sz="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Query → BM25 (lexical) → Ranked list A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1"/>
          <p:cNvSpPr/>
          <p:nvPr/>
        </p:nvSpPr>
        <p:spPr>
          <a:xfrm>
            <a:off x="4675659" y="1488058"/>
            <a:ext cx="162148" cy="101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Display Light"/>
              <a:buNone/>
            </a:pPr>
            <a:r>
              <a:rPr b="0" i="0" lang="en-US" sz="600" u="none" cap="none" strike="noStrike">
                <a:solidFill>
                  <a:srgbClr val="2B3541"/>
                </a:solidFill>
                <a:latin typeface="Funnel Display Light"/>
                <a:ea typeface="Funnel Display Light"/>
                <a:cs typeface="Funnel Display Light"/>
                <a:sym typeface="Funnel Display Light"/>
              </a:rPr>
              <a:t>02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1"/>
          <p:cNvSpPr/>
          <p:nvPr/>
        </p:nvSpPr>
        <p:spPr>
          <a:xfrm>
            <a:off x="4675659" y="1616273"/>
            <a:ext cx="3949526" cy="9525"/>
          </a:xfrm>
          <a:prstGeom prst="rect">
            <a:avLst/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21"/>
          <p:cNvSpPr/>
          <p:nvPr/>
        </p:nvSpPr>
        <p:spPr>
          <a:xfrm>
            <a:off x="4675659" y="1675805"/>
            <a:ext cx="3949526" cy="1192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00"/>
              <a:buFont typeface="Funnel Display"/>
              <a:buNone/>
            </a:pPr>
            <a:r>
              <a:rPr b="0" i="0" lang="en-US" sz="7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Semantic Retrieval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1"/>
          <p:cNvSpPr/>
          <p:nvPr/>
        </p:nvSpPr>
        <p:spPr>
          <a:xfrm>
            <a:off x="4675659" y="1845246"/>
            <a:ext cx="3949526" cy="1050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Sans"/>
              <a:buNone/>
            </a:pPr>
            <a:r>
              <a:rPr b="0" i="0" lang="en-US" sz="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Query → Vector Search (semantic) → Ranked list B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21"/>
          <p:cNvSpPr/>
          <p:nvPr/>
        </p:nvSpPr>
        <p:spPr>
          <a:xfrm>
            <a:off x="4675659" y="2061344"/>
            <a:ext cx="162148" cy="101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Display Light"/>
              <a:buNone/>
            </a:pPr>
            <a:r>
              <a:rPr b="0" i="0" lang="en-US" sz="600" u="none" cap="none" strike="noStrike">
                <a:solidFill>
                  <a:srgbClr val="2B3541"/>
                </a:solidFill>
                <a:latin typeface="Funnel Display Light"/>
                <a:ea typeface="Funnel Display Light"/>
                <a:cs typeface="Funnel Display Light"/>
                <a:sym typeface="Funnel Display Light"/>
              </a:rPr>
              <a:t>03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1"/>
          <p:cNvSpPr/>
          <p:nvPr/>
        </p:nvSpPr>
        <p:spPr>
          <a:xfrm>
            <a:off x="4675659" y="2189559"/>
            <a:ext cx="3949526" cy="9525"/>
          </a:xfrm>
          <a:prstGeom prst="rect">
            <a:avLst/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21"/>
          <p:cNvSpPr/>
          <p:nvPr/>
        </p:nvSpPr>
        <p:spPr>
          <a:xfrm>
            <a:off x="4675659" y="2249091"/>
            <a:ext cx="3949526" cy="1192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00"/>
              <a:buFont typeface="Funnel Display"/>
              <a:buNone/>
            </a:pPr>
            <a:r>
              <a:rPr b="0" i="0" lang="en-US" sz="7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Fusion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1"/>
          <p:cNvSpPr/>
          <p:nvPr/>
        </p:nvSpPr>
        <p:spPr>
          <a:xfrm>
            <a:off x="4675659" y="2418531"/>
            <a:ext cx="3949526" cy="1050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Sans"/>
              <a:buNone/>
            </a:pPr>
            <a:r>
              <a:rPr b="0" i="0" lang="en-US" sz="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Reciprocal Rank Fusion (RRF) → kết hợp hai danh sách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1"/>
          <p:cNvSpPr/>
          <p:nvPr/>
        </p:nvSpPr>
        <p:spPr>
          <a:xfrm>
            <a:off x="4675659" y="2634630"/>
            <a:ext cx="162148" cy="101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Display Light"/>
              <a:buNone/>
            </a:pPr>
            <a:r>
              <a:rPr b="0" i="0" lang="en-US" sz="600" u="none" cap="none" strike="noStrike">
                <a:solidFill>
                  <a:srgbClr val="2B3541"/>
                </a:solidFill>
                <a:latin typeface="Funnel Display Light"/>
                <a:ea typeface="Funnel Display Light"/>
                <a:cs typeface="Funnel Display Light"/>
                <a:sym typeface="Funnel Display Light"/>
              </a:rPr>
              <a:t>04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1"/>
          <p:cNvSpPr/>
          <p:nvPr/>
        </p:nvSpPr>
        <p:spPr>
          <a:xfrm>
            <a:off x="4675659" y="2762845"/>
            <a:ext cx="3949526" cy="9525"/>
          </a:xfrm>
          <a:prstGeom prst="rect">
            <a:avLst/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21"/>
          <p:cNvSpPr/>
          <p:nvPr/>
        </p:nvSpPr>
        <p:spPr>
          <a:xfrm>
            <a:off x="4675659" y="2822377"/>
            <a:ext cx="3949526" cy="1192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00"/>
              <a:buFont typeface="Funnel Display"/>
              <a:buNone/>
            </a:pPr>
            <a:r>
              <a:rPr b="0" i="0" lang="en-US" sz="7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Final Ranking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1"/>
          <p:cNvSpPr/>
          <p:nvPr/>
        </p:nvSpPr>
        <p:spPr>
          <a:xfrm>
            <a:off x="4675659" y="2991817"/>
            <a:ext cx="3949526" cy="1050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Sans"/>
              <a:buNone/>
            </a:pPr>
            <a:r>
              <a:rPr b="0" i="0" lang="en-US" sz="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Final ranking → Top-K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1"/>
          <p:cNvSpPr/>
          <p:nvPr/>
        </p:nvSpPr>
        <p:spPr>
          <a:xfrm>
            <a:off x="4675659" y="3214167"/>
            <a:ext cx="3949526" cy="1200299"/>
          </a:xfrm>
          <a:prstGeom prst="roundRect">
            <a:avLst>
              <a:gd fmla="val 2838" name="adj"/>
            </a:avLst>
          </a:prstGeom>
          <a:solidFill>
            <a:srgbClr val="EDE8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21"/>
          <p:cNvSpPr/>
          <p:nvPr/>
        </p:nvSpPr>
        <p:spPr>
          <a:xfrm>
            <a:off x="4772918" y="3295204"/>
            <a:ext cx="3755008" cy="1038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# Reciprocal Rank Fusion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def rrf(bm25_results, vector_results, k=60):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    scores = {}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    for rank, doc_id in enumerate(bm25_results):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        scores[doc_id] = scores.get(doc_id, 0) + 1/(k + rank + 1)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    for rank, doc_id in enumerate(vector_results):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        scores[doc_id] = scores.get(doc_id, 0) + 1/(k + rank + 1)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    return sorted(scores, key=scores.get, reverse=True)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1"/>
          <p:cNvSpPr/>
          <p:nvPr/>
        </p:nvSpPr>
        <p:spPr>
          <a:xfrm>
            <a:off x="523577" y="4527426"/>
            <a:ext cx="8096845" cy="240953"/>
          </a:xfrm>
          <a:prstGeom prst="roundRect">
            <a:avLst>
              <a:gd fmla="val 14137" name="adj"/>
            </a:avLst>
          </a:prstGeom>
          <a:solidFill>
            <a:srgbClr val="D8E7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23" name="Google Shape;52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4614" y="4603179"/>
            <a:ext cx="101352" cy="81037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21"/>
          <p:cNvSpPr/>
          <p:nvPr/>
        </p:nvSpPr>
        <p:spPr>
          <a:xfrm>
            <a:off x="787003" y="4597896"/>
            <a:ext cx="8209583" cy="1050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Funnel Sans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Funnel Sans"/>
                <a:ea typeface="Funnel Sans"/>
                <a:cs typeface="Funnel Sans"/>
                <a:sym typeface="Funnel Sans"/>
              </a:rPr>
              <a:t>Hybrid search thường bền vững hơn trong enterprise search với các loại query hỗn hợp.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5EB"/>
        </a:solidFill>
      </p:bgPr>
    </p:bg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22"/>
          <p:cNvSpPr/>
          <p:nvPr/>
        </p:nvSpPr>
        <p:spPr>
          <a:xfrm>
            <a:off x="523577" y="404366"/>
            <a:ext cx="8096845" cy="246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1500"/>
              <a:buFont typeface="Funnel Display"/>
              <a:buNone/>
            </a:pPr>
            <a:r>
              <a:rPr b="0" i="0" lang="en-US" sz="15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Reranking — Cải thiện Precision sau Retrieval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2"/>
          <p:cNvSpPr/>
          <p:nvPr/>
        </p:nvSpPr>
        <p:spPr>
          <a:xfrm>
            <a:off x="523577" y="784696"/>
            <a:ext cx="3946252" cy="1231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750"/>
              <a:buFont typeface="Funnel Display"/>
              <a:buNone/>
            </a:pPr>
            <a:r>
              <a:rPr b="0" i="0" lang="en-US" sz="7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Tại sao cần Reranker?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2"/>
          <p:cNvSpPr/>
          <p:nvPr/>
        </p:nvSpPr>
        <p:spPr>
          <a:xfrm>
            <a:off x="649188" y="1016347"/>
            <a:ext cx="4277841" cy="10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Sans"/>
              <a:buNone/>
            </a:pPr>
            <a:r>
              <a:rPr b="0" i="0" lang="en-US" sz="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Vector search ưu tiên tốc độ và recall — không phải precision. Reranker giải quyết vấn đề precision.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2"/>
          <p:cNvSpPr/>
          <p:nvPr/>
        </p:nvSpPr>
        <p:spPr>
          <a:xfrm>
            <a:off x="523577" y="968127"/>
            <a:ext cx="9525" cy="206350"/>
          </a:xfrm>
          <a:prstGeom prst="roundRect">
            <a:avLst>
              <a:gd fmla="val 50000" name="adj"/>
            </a:avLst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22"/>
          <p:cNvSpPr/>
          <p:nvPr/>
        </p:nvSpPr>
        <p:spPr>
          <a:xfrm>
            <a:off x="523577" y="1234753"/>
            <a:ext cx="167506" cy="1047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Display Light"/>
              <a:buNone/>
            </a:pPr>
            <a:r>
              <a:rPr b="0" i="0" lang="en-US" sz="600" u="none" cap="none" strike="noStrike">
                <a:solidFill>
                  <a:srgbClr val="2B3541"/>
                </a:solidFill>
                <a:latin typeface="Funnel Display Light"/>
                <a:ea typeface="Funnel Display Light"/>
                <a:cs typeface="Funnel Display Light"/>
                <a:sym typeface="Funnel Display Light"/>
              </a:rPr>
              <a:t>01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2"/>
          <p:cNvSpPr/>
          <p:nvPr/>
        </p:nvSpPr>
        <p:spPr>
          <a:xfrm>
            <a:off x="523577" y="1367582"/>
            <a:ext cx="3946252" cy="9525"/>
          </a:xfrm>
          <a:prstGeom prst="rect">
            <a:avLst/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22"/>
          <p:cNvSpPr/>
          <p:nvPr/>
        </p:nvSpPr>
        <p:spPr>
          <a:xfrm>
            <a:off x="523577" y="1428452"/>
            <a:ext cx="3946252" cy="1231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00"/>
              <a:buFont typeface="Funnel Display"/>
              <a:buNone/>
            </a:pPr>
            <a:r>
              <a:rPr b="0" i="0" lang="en-US" sz="7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Fast Retriever (Bi-encoder)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2"/>
          <p:cNvSpPr/>
          <p:nvPr/>
        </p:nvSpPr>
        <p:spPr>
          <a:xfrm>
            <a:off x="523577" y="1605186"/>
            <a:ext cx="3946252" cy="10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Sans"/>
              <a:buNone/>
            </a:pPr>
            <a:r>
              <a:rPr b="0" i="0" lang="en-US" sz="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Query → Top-50 ứng viên — nhanh, xấp xỉ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2"/>
          <p:cNvSpPr/>
          <p:nvPr/>
        </p:nvSpPr>
        <p:spPr>
          <a:xfrm>
            <a:off x="523577" y="1831479"/>
            <a:ext cx="167506" cy="1047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Display Light"/>
              <a:buNone/>
            </a:pPr>
            <a:r>
              <a:rPr b="0" i="0" lang="en-US" sz="600" u="none" cap="none" strike="noStrike">
                <a:solidFill>
                  <a:srgbClr val="2B3541"/>
                </a:solidFill>
                <a:latin typeface="Funnel Display Light"/>
                <a:ea typeface="Funnel Display Light"/>
                <a:cs typeface="Funnel Display Light"/>
                <a:sym typeface="Funnel Display Light"/>
              </a:rPr>
              <a:t>02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2"/>
          <p:cNvSpPr/>
          <p:nvPr/>
        </p:nvSpPr>
        <p:spPr>
          <a:xfrm>
            <a:off x="523577" y="1964308"/>
            <a:ext cx="3946252" cy="9525"/>
          </a:xfrm>
          <a:prstGeom prst="rect">
            <a:avLst/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22"/>
          <p:cNvSpPr/>
          <p:nvPr/>
        </p:nvSpPr>
        <p:spPr>
          <a:xfrm>
            <a:off x="523577" y="2025179"/>
            <a:ext cx="3946252" cy="1231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00"/>
              <a:buFont typeface="Funnel Display"/>
              <a:buNone/>
            </a:pPr>
            <a:r>
              <a:rPr b="0" i="0" lang="en-US" sz="7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Reranker (Cross-encoder)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2"/>
          <p:cNvSpPr/>
          <p:nvPr/>
        </p:nvSpPr>
        <p:spPr>
          <a:xfrm>
            <a:off x="523577" y="2201912"/>
            <a:ext cx="3946252" cy="10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Sans"/>
              <a:buNone/>
            </a:pPr>
            <a:r>
              <a:rPr b="0" i="0" lang="en-US" sz="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Top-50 → đánh giá kỹ từng cặp query-document → Top-5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2"/>
          <p:cNvSpPr/>
          <p:nvPr/>
        </p:nvSpPr>
        <p:spPr>
          <a:xfrm>
            <a:off x="523577" y="2428205"/>
            <a:ext cx="167506" cy="1047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Display Light"/>
              <a:buNone/>
            </a:pPr>
            <a:r>
              <a:rPr b="0" i="0" lang="en-US" sz="600" u="none" cap="none" strike="noStrike">
                <a:solidFill>
                  <a:srgbClr val="2B3541"/>
                </a:solidFill>
                <a:latin typeface="Funnel Display Light"/>
                <a:ea typeface="Funnel Display Light"/>
                <a:cs typeface="Funnel Display Light"/>
                <a:sym typeface="Funnel Display Light"/>
              </a:rPr>
              <a:t>03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2"/>
          <p:cNvSpPr/>
          <p:nvPr/>
        </p:nvSpPr>
        <p:spPr>
          <a:xfrm>
            <a:off x="523577" y="2561034"/>
            <a:ext cx="3946252" cy="9525"/>
          </a:xfrm>
          <a:prstGeom prst="rect">
            <a:avLst/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22"/>
          <p:cNvSpPr/>
          <p:nvPr/>
        </p:nvSpPr>
        <p:spPr>
          <a:xfrm>
            <a:off x="523577" y="2621905"/>
            <a:ext cx="3946252" cy="1231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50"/>
              <a:buFont typeface="Funnel Display"/>
              <a:buNone/>
            </a:pPr>
            <a:r>
              <a:rPr b="0" i="0" lang="en-US" sz="7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LLM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2"/>
          <p:cNvSpPr/>
          <p:nvPr/>
        </p:nvSpPr>
        <p:spPr>
          <a:xfrm>
            <a:off x="523577" y="2798638"/>
            <a:ext cx="3946252" cy="10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Sans"/>
              <a:buNone/>
            </a:pPr>
            <a:r>
              <a:rPr b="0" i="0" lang="en-US" sz="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Top-5 context → Generate answer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2"/>
          <p:cNvSpPr/>
          <p:nvPr/>
        </p:nvSpPr>
        <p:spPr>
          <a:xfrm>
            <a:off x="523577" y="3031629"/>
            <a:ext cx="3946252" cy="1231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750"/>
              <a:buFont typeface="Funnel Display"/>
              <a:buNone/>
            </a:pPr>
            <a:r>
              <a:rPr b="0" i="0" lang="en-US" sz="7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Bi-encoder vs Cross-encoder: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47" name="Google Shape;547;p22"/>
          <p:cNvGraphicFramePr/>
          <p:nvPr/>
        </p:nvGraphicFramePr>
        <p:xfrm>
          <a:off x="523577" y="32150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{3B3E4DE5-BB9D-4D9E-814C-6277CECA3E85}</a:tableStyleId>
              </a:tblPr>
              <a:tblGrid>
                <a:gridCol w="1315425"/>
                <a:gridCol w="1315425"/>
                <a:gridCol w="1315425"/>
              </a:tblGrid>
              <a:tr h="186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3775" marL="83775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Bi-encoder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3775" marL="837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Cross-encoder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3775" marL="837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8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Cơ chế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3775" marL="83775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Query + Doc encode riêng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3775" marL="837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Query + Doc encode cùng nhau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3775" marL="837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3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Tốc độ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3775" marL="83775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 Nhanh (precompute)</a:t>
                      </a:r>
                      <a:endParaRPr sz="8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83775" marL="837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 Chậm (per pair)</a:t>
                      </a:r>
                      <a:endParaRPr sz="8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83775" marL="837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3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Chính xác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3775" marL="83775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 Xấp xỉ</a:t>
                      </a:r>
                      <a:endParaRPr sz="8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83775" marL="837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 Cao hơn</a:t>
                      </a:r>
                      <a:endParaRPr sz="8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83775" marL="837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3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Scale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3775" marL="83775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 Corpus lớn</a:t>
                      </a:r>
                      <a:endParaRPr sz="8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83775" marL="837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 Chỉ tập nhỏ</a:t>
                      </a:r>
                      <a:endParaRPr sz="8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83775" marL="837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6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Dùng cho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3775" marL="83775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Retrieval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3775" marL="837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Reranking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3775" marL="837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48" name="Google Shape;548;p22"/>
          <p:cNvSpPr/>
          <p:nvPr/>
        </p:nvSpPr>
        <p:spPr>
          <a:xfrm>
            <a:off x="4678933" y="784696"/>
            <a:ext cx="3946252" cy="1231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750"/>
              <a:buFont typeface="Funnel Display"/>
              <a:buNone/>
            </a:pPr>
            <a:r>
              <a:rPr b="0" i="0" lang="en-US" sz="7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Ví dụ code: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2"/>
          <p:cNvSpPr/>
          <p:nvPr/>
        </p:nvSpPr>
        <p:spPr>
          <a:xfrm>
            <a:off x="4678933" y="968127"/>
            <a:ext cx="3946252" cy="1641649"/>
          </a:xfrm>
          <a:prstGeom prst="roundRect">
            <a:avLst>
              <a:gd fmla="val 2143" name="adj"/>
            </a:avLst>
          </a:prstGeom>
          <a:solidFill>
            <a:srgbClr val="EDE8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22"/>
          <p:cNvSpPr/>
          <p:nvPr/>
        </p:nvSpPr>
        <p:spPr>
          <a:xfrm>
            <a:off x="4779392" y="1051843"/>
            <a:ext cx="3745334" cy="14742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from sentence_transformers import CrossEncoder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reranker = CrossEncoder("cross-encoder/ms-marco-MiniLM-L-6-v2")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# candidates = top-50 từ vector search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pairs = [(query, doc) for doc in candidates]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scores = reranker.predict(pairs)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# Sort và lấy top-5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ranked = sorted(zip(scores, candidates), reverse=True)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top_5 = [doc for _, doc in ranked[:5]]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2"/>
          <p:cNvSpPr/>
          <p:nvPr/>
        </p:nvSpPr>
        <p:spPr>
          <a:xfrm>
            <a:off x="4678933" y="2670051"/>
            <a:ext cx="3946252" cy="1231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750"/>
              <a:buFont typeface="Funnel Display"/>
              <a:buNone/>
            </a:pPr>
            <a:r>
              <a:rPr b="0" i="0" lang="en-US" sz="7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Các Reranker phổ biến: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2"/>
          <p:cNvSpPr/>
          <p:nvPr/>
        </p:nvSpPr>
        <p:spPr>
          <a:xfrm>
            <a:off x="4678933" y="2846784"/>
            <a:ext cx="3946252" cy="3672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21920" lvl="0" marL="12192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Consolas"/>
              <a:buChar char="•"/>
            </a:pPr>
            <a:r>
              <a:rPr b="0" i="0" lang="en-US" sz="600" u="none" cap="none" strike="noStrike">
                <a:solidFill>
                  <a:srgbClr val="2B3541"/>
                </a:solidFill>
                <a:highlight>
                  <a:srgbClr val="EDE8DE"/>
                </a:highlight>
                <a:latin typeface="Consolas"/>
                <a:ea typeface="Consolas"/>
                <a:cs typeface="Consolas"/>
                <a:sym typeface="Consolas"/>
              </a:rPr>
              <a:t>cross-encoder/ms-marco-MiniLM-L-6-v2</a:t>
            </a:r>
            <a:r>
              <a:rPr b="0" i="0" lang="en-US" sz="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 — nhẹ, nhanh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1920" lvl="0" marL="12192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Sans"/>
              <a:buChar char="•"/>
            </a:pPr>
            <a:r>
              <a:rPr b="0" i="0" lang="en-US" sz="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Cohere Rerank — managed API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1920" lvl="0" marL="12192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Sans"/>
              <a:buChar char="•"/>
            </a:pPr>
            <a:r>
              <a:rPr b="0" i="0" lang="en-US" sz="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BGE-Reranker / Qwen3-Reranker — đa ngôn ngữ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22"/>
          <p:cNvSpPr/>
          <p:nvPr/>
        </p:nvSpPr>
        <p:spPr>
          <a:xfrm>
            <a:off x="523577" y="4485605"/>
            <a:ext cx="8096845" cy="253529"/>
          </a:xfrm>
          <a:prstGeom prst="roundRect">
            <a:avLst>
              <a:gd fmla="val 13876" name="adj"/>
            </a:avLst>
          </a:prstGeom>
          <a:solidFill>
            <a:srgbClr val="D8E7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4" name="Google Shape;55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7293" y="4562996"/>
            <a:ext cx="104701" cy="83716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22"/>
          <p:cNvSpPr/>
          <p:nvPr/>
        </p:nvSpPr>
        <p:spPr>
          <a:xfrm>
            <a:off x="795710" y="4560094"/>
            <a:ext cx="8198197" cy="10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Funnel Sans"/>
              <a:buNone/>
            </a:pPr>
            <a:r>
              <a:rPr b="1" i="0" lang="en-US" sz="600" u="none" cap="none" strike="noStrike">
                <a:solidFill>
                  <a:srgbClr val="000000"/>
                </a:solidFill>
                <a:latin typeface="Funnel Sans"/>
                <a:ea typeface="Funnel Sans"/>
                <a:cs typeface="Funnel Sans"/>
                <a:sym typeface="Funnel Sans"/>
              </a:rPr>
              <a:t>Nguyên tắc:</a:t>
            </a:r>
            <a:r>
              <a:rPr b="0" i="0" lang="en-US" sz="600" u="none" cap="none" strike="noStrike">
                <a:solidFill>
                  <a:srgbClr val="000000"/>
                </a:solidFill>
                <a:latin typeface="Funnel Sans"/>
                <a:ea typeface="Funnel Sans"/>
                <a:cs typeface="Funnel Sans"/>
                <a:sym typeface="Funnel Sans"/>
              </a:rPr>
              <a:t> Tối ưu retriever cho recall. Tối ưu reranker cho precision.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5EB"/>
        </a:solidFill>
      </p:bgPr>
    </p:bg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23"/>
          <p:cNvSpPr/>
          <p:nvPr/>
        </p:nvSpPr>
        <p:spPr>
          <a:xfrm>
            <a:off x="523577" y="394320"/>
            <a:ext cx="8096845" cy="2947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1800"/>
              <a:buFont typeface="Funnel Display"/>
              <a:buNone/>
            </a:pPr>
            <a:r>
              <a:rPr b="0" i="0" lang="en-US" sz="18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Đánh giá Retrieval — Metrics &amp; Methodology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3"/>
          <p:cNvSpPr/>
          <p:nvPr/>
        </p:nvSpPr>
        <p:spPr>
          <a:xfrm>
            <a:off x="523577" y="880839"/>
            <a:ext cx="3926160" cy="1474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850"/>
              <a:buFont typeface="Funnel Display"/>
              <a:buNone/>
            </a:pPr>
            <a:r>
              <a:rPr b="0" i="0" lang="en-US" sz="8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Các Metric quan trọng: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63" name="Google Shape;56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577" y="1114574"/>
            <a:ext cx="1924720" cy="1154832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23"/>
          <p:cNvSpPr/>
          <p:nvPr/>
        </p:nvSpPr>
        <p:spPr>
          <a:xfrm>
            <a:off x="1410742" y="1182812"/>
            <a:ext cx="150316" cy="187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150"/>
              <a:buFont typeface="Funnel Display"/>
              <a:buNone/>
            </a:pPr>
            <a:r>
              <a:rPr b="0" i="0" lang="en-US" sz="11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3"/>
          <p:cNvSpPr/>
          <p:nvPr/>
        </p:nvSpPr>
        <p:spPr>
          <a:xfrm>
            <a:off x="638026" y="1506215"/>
            <a:ext cx="1695822" cy="1474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900"/>
              <a:buFont typeface="Funnel Display"/>
              <a:buNone/>
            </a:pPr>
            <a:r>
              <a:rPr b="0" i="0" lang="en-US" sz="9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Recall@K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3"/>
          <p:cNvSpPr/>
          <p:nvPr/>
        </p:nvSpPr>
        <p:spPr>
          <a:xfrm>
            <a:off x="638026" y="1730350"/>
            <a:ext cx="1695822" cy="4246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50"/>
              <a:buFont typeface="Funnel Sans"/>
              <a:buNone/>
            </a:pPr>
            <a:r>
              <a:rPr b="0" i="0" lang="en-US" sz="7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Trong tất cả doc liên quan, bao nhiêu % được retrieve trong Top-K? → Quan trọng nhất cho RAG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67" name="Google Shape;56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25018" y="1114574"/>
            <a:ext cx="1924720" cy="1154832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23"/>
          <p:cNvSpPr/>
          <p:nvPr/>
        </p:nvSpPr>
        <p:spPr>
          <a:xfrm>
            <a:off x="3412182" y="1182812"/>
            <a:ext cx="150316" cy="187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150"/>
              <a:buFont typeface="Funnel Display"/>
              <a:buNone/>
            </a:pPr>
            <a:r>
              <a:rPr b="0" i="0" lang="en-US" sz="11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2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3"/>
          <p:cNvSpPr/>
          <p:nvPr/>
        </p:nvSpPr>
        <p:spPr>
          <a:xfrm>
            <a:off x="2639467" y="1506215"/>
            <a:ext cx="1695822" cy="1474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850"/>
              <a:buFont typeface="Funnel Display"/>
              <a:buNone/>
            </a:pPr>
            <a:r>
              <a:rPr b="0" i="0" lang="en-US" sz="8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Precision@K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3"/>
          <p:cNvSpPr/>
          <p:nvPr/>
        </p:nvSpPr>
        <p:spPr>
          <a:xfrm>
            <a:off x="2639467" y="1730350"/>
            <a:ext cx="1695822" cy="283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50"/>
              <a:buFont typeface="Funnel Sans"/>
              <a:buNone/>
            </a:pPr>
            <a:r>
              <a:rPr b="0" i="0" lang="en-US" sz="7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Trong Top-K được retrieve, bao nhiêu % thực sự liên quan? → Đo mức độ nhiễu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71" name="Google Shape;57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577" y="2346127"/>
            <a:ext cx="1924720" cy="1154832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23"/>
          <p:cNvSpPr/>
          <p:nvPr/>
        </p:nvSpPr>
        <p:spPr>
          <a:xfrm>
            <a:off x="1410742" y="2414364"/>
            <a:ext cx="150316" cy="187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150"/>
              <a:buFont typeface="Funnel Display"/>
              <a:buNone/>
            </a:pPr>
            <a:r>
              <a:rPr b="0" i="0" lang="en-US" sz="11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3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3"/>
          <p:cNvSpPr/>
          <p:nvPr/>
        </p:nvSpPr>
        <p:spPr>
          <a:xfrm>
            <a:off x="638026" y="2737768"/>
            <a:ext cx="1695822" cy="1474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850"/>
              <a:buFont typeface="Funnel Display"/>
              <a:buNone/>
            </a:pPr>
            <a:r>
              <a:rPr b="0" i="0" lang="en-US" sz="8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MRR (Mean Reciprocal Rank)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3"/>
          <p:cNvSpPr/>
          <p:nvPr/>
        </p:nvSpPr>
        <p:spPr>
          <a:xfrm>
            <a:off x="638026" y="2961903"/>
            <a:ext cx="1695822" cy="4246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50"/>
              <a:buFont typeface="Funnel Sans"/>
              <a:buNone/>
            </a:pPr>
            <a:r>
              <a:rPr b="0" i="0" lang="en-US" sz="7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Doc liên quan đầu tiên xuất hiện ở vị trí nào? → Quan trọng khi chỉ cần 1 câu trả lời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75" name="Google Shape;57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25018" y="2346127"/>
            <a:ext cx="1924720" cy="1154832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23"/>
          <p:cNvSpPr/>
          <p:nvPr/>
        </p:nvSpPr>
        <p:spPr>
          <a:xfrm>
            <a:off x="3412182" y="2414364"/>
            <a:ext cx="150316" cy="187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150"/>
              <a:buFont typeface="Funnel Display"/>
              <a:buNone/>
            </a:pPr>
            <a:r>
              <a:rPr b="0" i="0" lang="en-US" sz="11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4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3"/>
          <p:cNvSpPr/>
          <p:nvPr/>
        </p:nvSpPr>
        <p:spPr>
          <a:xfrm>
            <a:off x="2639467" y="2737768"/>
            <a:ext cx="1695822" cy="1474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850"/>
              <a:buFont typeface="Funnel Display"/>
              <a:buNone/>
            </a:pPr>
            <a:r>
              <a:rPr b="0" i="0" lang="en-US" sz="8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Latency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3"/>
          <p:cNvSpPr/>
          <p:nvPr/>
        </p:nvSpPr>
        <p:spPr>
          <a:xfrm>
            <a:off x="2639467" y="2961903"/>
            <a:ext cx="1695822" cy="283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50"/>
              <a:buFont typeface="Funnel Sans"/>
              <a:buNone/>
            </a:pPr>
            <a:r>
              <a:rPr b="0" i="0" lang="en-US" sz="7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Thời gian từ query đến kết quả — SLA requirement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3"/>
          <p:cNvSpPr/>
          <p:nvPr/>
        </p:nvSpPr>
        <p:spPr>
          <a:xfrm>
            <a:off x="523577" y="3587279"/>
            <a:ext cx="3926160" cy="1474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850"/>
              <a:buFont typeface="Funnel Display"/>
              <a:buNone/>
            </a:pPr>
            <a:r>
              <a:rPr b="0" i="0" lang="en-US" sz="8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Ví dụ tính Recall@5: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23"/>
          <p:cNvSpPr/>
          <p:nvPr/>
        </p:nvSpPr>
        <p:spPr>
          <a:xfrm>
            <a:off x="523577" y="3821013"/>
            <a:ext cx="3926160" cy="841772"/>
          </a:xfrm>
          <a:prstGeom prst="roundRect">
            <a:avLst>
              <a:gd fmla="val 5001" name="adj"/>
            </a:avLst>
          </a:prstGeom>
          <a:solidFill>
            <a:srgbClr val="EDE8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23"/>
          <p:cNvSpPr/>
          <p:nvPr/>
        </p:nvSpPr>
        <p:spPr>
          <a:xfrm>
            <a:off x="643830" y="3921175"/>
            <a:ext cx="3685654" cy="6414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# Relevant docs = {A, B, C}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# Top-5 retrieved = {A, X, B, Y, Z}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# A và B được retrieve, C bị bỏ sót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Recall@5 = 2/3 ≈ 0.67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23"/>
          <p:cNvSpPr/>
          <p:nvPr/>
        </p:nvSpPr>
        <p:spPr>
          <a:xfrm>
            <a:off x="4699025" y="880839"/>
            <a:ext cx="3926160" cy="1474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850"/>
              <a:buFont typeface="Funnel Display"/>
              <a:buNone/>
            </a:pPr>
            <a:r>
              <a:rPr b="0" i="0" lang="en-US" sz="8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Chất lượng Retrieval ≠ Chất lượng RAG: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23"/>
          <p:cNvSpPr/>
          <p:nvPr/>
        </p:nvSpPr>
        <p:spPr>
          <a:xfrm>
            <a:off x="4849341" y="1183630"/>
            <a:ext cx="3775844" cy="283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50"/>
              <a:buFont typeface="Funnel Sans"/>
              <a:buNone/>
            </a:pPr>
            <a:r>
              <a:rPr b="0" i="0" lang="en-US" sz="7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Nếu retrieval sai → LLM nhận ngữ cảnh sai → câu trả lời sai nhưng tự tin — dù model rất mạnh.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23"/>
          <p:cNvSpPr/>
          <p:nvPr/>
        </p:nvSpPr>
        <p:spPr>
          <a:xfrm>
            <a:off x="4699025" y="1114574"/>
            <a:ext cx="14288" cy="421184"/>
          </a:xfrm>
          <a:prstGeom prst="roundRect">
            <a:avLst>
              <a:gd fmla="val 49998" name="adj"/>
            </a:avLst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23"/>
          <p:cNvSpPr/>
          <p:nvPr/>
        </p:nvSpPr>
        <p:spPr>
          <a:xfrm>
            <a:off x="4699025" y="1622078"/>
            <a:ext cx="3926160" cy="646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50"/>
              <a:buFont typeface="Funnel Sans"/>
              <a:buChar char="•"/>
            </a:pPr>
            <a:r>
              <a:rPr b="0" i="0" lang="en-US" sz="7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Luôn debug retrieval trước khi đổ lỗi cho LLM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50"/>
              <a:buFont typeface="Funnel Sans"/>
              <a:buChar char="•"/>
            </a:pPr>
            <a:r>
              <a:rPr b="0" i="0" lang="en-US" sz="7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Đo Recall@K độc lập với chất lượng generation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50"/>
              <a:buFont typeface="Funnel Sans"/>
              <a:buChar char="•"/>
            </a:pPr>
            <a:r>
              <a:rPr b="0" i="0" lang="en-US" sz="7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LLM yếu với retrieval tốt thường vượt trội LLM mạnh với retrieval tệ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50"/>
              <a:buFont typeface="Funnel Sans"/>
              <a:buChar char="•"/>
            </a:pPr>
            <a:r>
              <a:rPr b="0" i="0" lang="en-US" sz="7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Cần bộ dữ liệu đánh giá có nhãn — không thể tối ưu bằng cảm giác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3"/>
          <p:cNvSpPr/>
          <p:nvPr/>
        </p:nvSpPr>
        <p:spPr>
          <a:xfrm>
            <a:off x="4699025" y="2345308"/>
            <a:ext cx="3926160" cy="1474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850"/>
              <a:buFont typeface="Funnel Display"/>
              <a:buNone/>
            </a:pPr>
            <a:r>
              <a:rPr b="0" i="0" lang="en-US" sz="8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Quy trình đánh giá: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23"/>
          <p:cNvSpPr/>
          <p:nvPr/>
        </p:nvSpPr>
        <p:spPr>
          <a:xfrm>
            <a:off x="4699025" y="2569443"/>
            <a:ext cx="3926160" cy="478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50"/>
              <a:buFont typeface="Funnel Sans"/>
              <a:buChar char="•"/>
            </a:pPr>
            <a:r>
              <a:rPr b="0" i="0" lang="en-US" sz="7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Tạo evaluation dataset: cặp (query, relevant_docs) có nhãn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50"/>
              <a:buFont typeface="Funnel Sans"/>
              <a:buChar char="•"/>
            </a:pPr>
            <a:r>
              <a:rPr b="0" i="0" lang="en-US" sz="7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Chạy retrieval pipeline → tính Recall@K, Precision@K, MRR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50"/>
              <a:buFont typeface="Funnel Sans"/>
              <a:buChar char="•"/>
            </a:pPr>
            <a:r>
              <a:rPr b="0" i="0" lang="en-US" sz="7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So sánh các cấu hình: embedding model, chunk size, Top-K, reranker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3"/>
          <p:cNvSpPr/>
          <p:nvPr/>
        </p:nvSpPr>
        <p:spPr>
          <a:xfrm>
            <a:off x="4699025" y="3133948"/>
            <a:ext cx="3926160" cy="329654"/>
          </a:xfrm>
          <a:prstGeom prst="roundRect">
            <a:avLst>
              <a:gd fmla="val 12770" name="adj"/>
            </a:avLst>
          </a:prstGeom>
          <a:solidFill>
            <a:srgbClr val="FCF2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9" name="Google Shape;58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99186" y="3252788"/>
            <a:ext cx="125239" cy="100161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23"/>
          <p:cNvSpPr/>
          <p:nvPr/>
        </p:nvSpPr>
        <p:spPr>
          <a:xfrm>
            <a:off x="5024586" y="3228008"/>
            <a:ext cx="3957638" cy="141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REM"/>
              <a:buNone/>
            </a:pPr>
            <a:r>
              <a:rPr b="0" i="0" lang="en-US" sz="7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⚠️</a:t>
            </a:r>
            <a:r>
              <a:rPr b="0" i="0" lang="en-US" sz="750" u="none" cap="none" strike="noStrike">
                <a:solidFill>
                  <a:srgbClr val="000000"/>
                </a:solidFill>
                <a:latin typeface="Funnel Sans"/>
                <a:ea typeface="Funnel Sans"/>
                <a:cs typeface="Funnel Sans"/>
                <a:sym typeface="Funnel Sans"/>
              </a:rPr>
              <a:t> "Cảm giác tốt hơn" không phải kỹ thuật. Đo lường là bắt buộc.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5EB"/>
        </a:solidFill>
      </p:bgPr>
    </p:bg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24"/>
          <p:cNvSpPr/>
          <p:nvPr/>
        </p:nvSpPr>
        <p:spPr>
          <a:xfrm>
            <a:off x="523577" y="425351"/>
            <a:ext cx="8096845" cy="192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1150"/>
              <a:buFont typeface="Funnel Display"/>
              <a:buNone/>
            </a:pPr>
            <a:r>
              <a:rPr b="0" i="0" lang="en-US" sz="11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Retrieval Engineering — Toàn bộ Stack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24"/>
          <p:cNvSpPr/>
          <p:nvPr/>
        </p:nvSpPr>
        <p:spPr>
          <a:xfrm>
            <a:off x="523577" y="683270"/>
            <a:ext cx="8554045" cy="785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Sans"/>
              <a:buNone/>
            </a:pPr>
            <a:r>
              <a:rPr b="0" i="0" lang="en-US" sz="4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Chất lượng retrieval phụ thuộc vào toàn bộ stack — không chỉ vector DB hay embedding model.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4"/>
          <p:cNvSpPr/>
          <p:nvPr/>
        </p:nvSpPr>
        <p:spPr>
          <a:xfrm>
            <a:off x="523577" y="831279"/>
            <a:ext cx="3968576" cy="962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550"/>
              <a:buFont typeface="Funnel Display"/>
              <a:buNone/>
            </a:pPr>
            <a:r>
              <a:rPr b="0" i="0" lang="en-US" sz="5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Các quyết định kỹ thuật trong pipeline: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4"/>
          <p:cNvSpPr/>
          <p:nvPr/>
        </p:nvSpPr>
        <p:spPr>
          <a:xfrm>
            <a:off x="523577" y="964257"/>
            <a:ext cx="130894" cy="817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Display Light"/>
              <a:buNone/>
            </a:pPr>
            <a:r>
              <a:rPr b="0" i="0" lang="en-US" sz="450" u="none" cap="none" strike="noStrike">
                <a:solidFill>
                  <a:srgbClr val="2B3541"/>
                </a:solidFill>
                <a:latin typeface="Funnel Display Light"/>
                <a:ea typeface="Funnel Display Light"/>
                <a:cs typeface="Funnel Display Light"/>
                <a:sym typeface="Funnel Display Light"/>
              </a:rPr>
              <a:t>01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4"/>
          <p:cNvSpPr/>
          <p:nvPr/>
        </p:nvSpPr>
        <p:spPr>
          <a:xfrm>
            <a:off x="523577" y="1065833"/>
            <a:ext cx="3968576" cy="9525"/>
          </a:xfrm>
          <a:prstGeom prst="rect">
            <a:avLst/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24"/>
          <p:cNvSpPr/>
          <p:nvPr/>
        </p:nvSpPr>
        <p:spPr>
          <a:xfrm>
            <a:off x="523577" y="1117550"/>
            <a:ext cx="3968576" cy="962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550"/>
              <a:buFont typeface="Funnel Display"/>
              <a:buNone/>
            </a:pPr>
            <a:r>
              <a:rPr b="0" i="0" lang="en-US" sz="5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Chunking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24"/>
          <p:cNvSpPr/>
          <p:nvPr/>
        </p:nvSpPr>
        <p:spPr>
          <a:xfrm>
            <a:off x="523577" y="1246436"/>
            <a:ext cx="3968576" cy="785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Sans"/>
              <a:buNone/>
            </a:pPr>
            <a:r>
              <a:rPr b="0" i="0" lang="en-US" sz="4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Cách chia nhỏ tài liệu — ảnh hưởng đến embedding quality và retrieval granularity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24"/>
          <p:cNvSpPr/>
          <p:nvPr/>
        </p:nvSpPr>
        <p:spPr>
          <a:xfrm>
            <a:off x="523577" y="1406723"/>
            <a:ext cx="130894" cy="817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Display Light"/>
              <a:buNone/>
            </a:pPr>
            <a:r>
              <a:rPr b="0" i="0" lang="en-US" sz="450" u="none" cap="none" strike="noStrike">
                <a:solidFill>
                  <a:srgbClr val="2B3541"/>
                </a:solidFill>
                <a:latin typeface="Funnel Display Light"/>
                <a:ea typeface="Funnel Display Light"/>
                <a:cs typeface="Funnel Display Light"/>
                <a:sym typeface="Funnel Display Light"/>
              </a:rPr>
              <a:t>02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24"/>
          <p:cNvSpPr/>
          <p:nvPr/>
        </p:nvSpPr>
        <p:spPr>
          <a:xfrm>
            <a:off x="523577" y="1508299"/>
            <a:ext cx="3968576" cy="9525"/>
          </a:xfrm>
          <a:prstGeom prst="rect">
            <a:avLst/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24"/>
          <p:cNvSpPr/>
          <p:nvPr/>
        </p:nvSpPr>
        <p:spPr>
          <a:xfrm>
            <a:off x="523577" y="1560016"/>
            <a:ext cx="3968576" cy="962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550"/>
              <a:buFont typeface="Funnel Display"/>
              <a:buNone/>
            </a:pPr>
            <a:r>
              <a:rPr b="0" i="0" lang="en-US" sz="5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Embedding Model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24"/>
          <p:cNvSpPr/>
          <p:nvPr/>
        </p:nvSpPr>
        <p:spPr>
          <a:xfrm>
            <a:off x="523577" y="1688902"/>
            <a:ext cx="3968576" cy="785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Sans"/>
              <a:buNone/>
            </a:pPr>
            <a:r>
              <a:rPr b="0" i="0" lang="en-US" sz="4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Phù hợp domain, số chiều, metric — quyết định có tác động lớn nhất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4"/>
          <p:cNvSpPr/>
          <p:nvPr/>
        </p:nvSpPr>
        <p:spPr>
          <a:xfrm>
            <a:off x="523577" y="1849189"/>
            <a:ext cx="130894" cy="817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Display Light"/>
              <a:buNone/>
            </a:pPr>
            <a:r>
              <a:rPr b="0" i="0" lang="en-US" sz="450" u="none" cap="none" strike="noStrike">
                <a:solidFill>
                  <a:srgbClr val="2B3541"/>
                </a:solidFill>
                <a:latin typeface="Funnel Display Light"/>
                <a:ea typeface="Funnel Display Light"/>
                <a:cs typeface="Funnel Display Light"/>
                <a:sym typeface="Funnel Display Light"/>
              </a:rPr>
              <a:t>03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4"/>
          <p:cNvSpPr/>
          <p:nvPr/>
        </p:nvSpPr>
        <p:spPr>
          <a:xfrm>
            <a:off x="523577" y="1950765"/>
            <a:ext cx="3968576" cy="9525"/>
          </a:xfrm>
          <a:prstGeom prst="rect">
            <a:avLst/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24"/>
          <p:cNvSpPr/>
          <p:nvPr/>
        </p:nvSpPr>
        <p:spPr>
          <a:xfrm>
            <a:off x="523577" y="2002482"/>
            <a:ext cx="3968576" cy="962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550"/>
              <a:buFont typeface="Funnel Display"/>
              <a:buNone/>
            </a:pPr>
            <a:r>
              <a:rPr b="0" i="0" lang="en-US" sz="5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Query Transformation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24"/>
          <p:cNvSpPr/>
          <p:nvPr/>
        </p:nvSpPr>
        <p:spPr>
          <a:xfrm>
            <a:off x="523577" y="2131368"/>
            <a:ext cx="3968576" cy="785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Sans"/>
              <a:buNone/>
            </a:pPr>
            <a:r>
              <a:rPr b="0" i="0" lang="en-US" sz="4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Viết lại, mở rộng query trước khi embed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4"/>
          <p:cNvSpPr/>
          <p:nvPr/>
        </p:nvSpPr>
        <p:spPr>
          <a:xfrm>
            <a:off x="523577" y="2291655"/>
            <a:ext cx="130894" cy="817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Display Light"/>
              <a:buNone/>
            </a:pPr>
            <a:r>
              <a:rPr b="0" i="0" lang="en-US" sz="450" u="none" cap="none" strike="noStrike">
                <a:solidFill>
                  <a:srgbClr val="2B3541"/>
                </a:solidFill>
                <a:latin typeface="Funnel Display Light"/>
                <a:ea typeface="Funnel Display Light"/>
                <a:cs typeface="Funnel Display Light"/>
                <a:sym typeface="Funnel Display Light"/>
              </a:rPr>
              <a:t>04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24"/>
          <p:cNvSpPr/>
          <p:nvPr/>
        </p:nvSpPr>
        <p:spPr>
          <a:xfrm>
            <a:off x="523577" y="2393231"/>
            <a:ext cx="3968576" cy="9525"/>
          </a:xfrm>
          <a:prstGeom prst="rect">
            <a:avLst/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24"/>
          <p:cNvSpPr/>
          <p:nvPr/>
        </p:nvSpPr>
        <p:spPr>
          <a:xfrm>
            <a:off x="523577" y="2444948"/>
            <a:ext cx="3968576" cy="962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550"/>
              <a:buFont typeface="Funnel Display"/>
              <a:buNone/>
            </a:pPr>
            <a:r>
              <a:rPr b="0" i="0" lang="en-US" sz="5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ANN Index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24"/>
          <p:cNvSpPr/>
          <p:nvPr/>
        </p:nvSpPr>
        <p:spPr>
          <a:xfrm>
            <a:off x="523577" y="2573834"/>
            <a:ext cx="3968576" cy="785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Sans"/>
              <a:buNone/>
            </a:pPr>
            <a:r>
              <a:rPr b="0" i="0" lang="en-US" sz="4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HNSW vs IVFFlat — recall, latency, memory trade-off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24"/>
          <p:cNvSpPr/>
          <p:nvPr/>
        </p:nvSpPr>
        <p:spPr>
          <a:xfrm>
            <a:off x="523577" y="2734121"/>
            <a:ext cx="130894" cy="817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Display Light"/>
              <a:buNone/>
            </a:pPr>
            <a:r>
              <a:rPr b="0" i="0" lang="en-US" sz="450" u="none" cap="none" strike="noStrike">
                <a:solidFill>
                  <a:srgbClr val="2B3541"/>
                </a:solidFill>
                <a:latin typeface="Funnel Display Light"/>
                <a:ea typeface="Funnel Display Light"/>
                <a:cs typeface="Funnel Display Light"/>
                <a:sym typeface="Funnel Display Light"/>
              </a:rPr>
              <a:t>05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24"/>
          <p:cNvSpPr/>
          <p:nvPr/>
        </p:nvSpPr>
        <p:spPr>
          <a:xfrm>
            <a:off x="523577" y="2835697"/>
            <a:ext cx="3968576" cy="9525"/>
          </a:xfrm>
          <a:prstGeom prst="rect">
            <a:avLst/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24"/>
          <p:cNvSpPr/>
          <p:nvPr/>
        </p:nvSpPr>
        <p:spPr>
          <a:xfrm>
            <a:off x="523577" y="2887414"/>
            <a:ext cx="3968576" cy="962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550"/>
              <a:buFont typeface="Funnel Display"/>
              <a:buNone/>
            </a:pPr>
            <a:r>
              <a:rPr b="0" i="0" lang="en-US" sz="5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Metadata Filtering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24"/>
          <p:cNvSpPr/>
          <p:nvPr/>
        </p:nvSpPr>
        <p:spPr>
          <a:xfrm>
            <a:off x="523577" y="3016300"/>
            <a:ext cx="3968576" cy="785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Sans"/>
              <a:buNone/>
            </a:pPr>
            <a:r>
              <a:rPr b="0" i="0" lang="en-US" sz="4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Pre-filter vs post-filter — ràng buộc nghiệp vụ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24"/>
          <p:cNvSpPr/>
          <p:nvPr/>
        </p:nvSpPr>
        <p:spPr>
          <a:xfrm>
            <a:off x="523577" y="3176588"/>
            <a:ext cx="130894" cy="817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Display Light"/>
              <a:buNone/>
            </a:pPr>
            <a:r>
              <a:rPr b="0" i="0" lang="en-US" sz="450" u="none" cap="none" strike="noStrike">
                <a:solidFill>
                  <a:srgbClr val="2B3541"/>
                </a:solidFill>
                <a:latin typeface="Funnel Display Light"/>
                <a:ea typeface="Funnel Display Light"/>
                <a:cs typeface="Funnel Display Light"/>
                <a:sym typeface="Funnel Display Light"/>
              </a:rPr>
              <a:t>06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24"/>
          <p:cNvSpPr/>
          <p:nvPr/>
        </p:nvSpPr>
        <p:spPr>
          <a:xfrm>
            <a:off x="523577" y="3278163"/>
            <a:ext cx="3968576" cy="9525"/>
          </a:xfrm>
          <a:prstGeom prst="rect">
            <a:avLst/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24"/>
          <p:cNvSpPr/>
          <p:nvPr/>
        </p:nvSpPr>
        <p:spPr>
          <a:xfrm>
            <a:off x="523577" y="3329880"/>
            <a:ext cx="3968576" cy="962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550"/>
              <a:buFont typeface="Funnel Display"/>
              <a:buNone/>
            </a:pPr>
            <a:r>
              <a:rPr b="0" i="0" lang="en-US" sz="5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Hybrid Search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4"/>
          <p:cNvSpPr/>
          <p:nvPr/>
        </p:nvSpPr>
        <p:spPr>
          <a:xfrm>
            <a:off x="523577" y="3458766"/>
            <a:ext cx="3968576" cy="785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Sans"/>
              <a:buNone/>
            </a:pPr>
            <a:r>
              <a:rPr b="0" i="0" lang="en-US" sz="4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BM25 + vector — từ vựng + ngữ nghĩa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24"/>
          <p:cNvSpPr/>
          <p:nvPr/>
        </p:nvSpPr>
        <p:spPr>
          <a:xfrm>
            <a:off x="523577" y="3619054"/>
            <a:ext cx="130894" cy="817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Display Light"/>
              <a:buNone/>
            </a:pPr>
            <a:r>
              <a:rPr b="0" i="0" lang="en-US" sz="450" u="none" cap="none" strike="noStrike">
                <a:solidFill>
                  <a:srgbClr val="2B3541"/>
                </a:solidFill>
                <a:latin typeface="Funnel Display Light"/>
                <a:ea typeface="Funnel Display Light"/>
                <a:cs typeface="Funnel Display Light"/>
                <a:sym typeface="Funnel Display Light"/>
              </a:rPr>
              <a:t>07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24"/>
          <p:cNvSpPr/>
          <p:nvPr/>
        </p:nvSpPr>
        <p:spPr>
          <a:xfrm>
            <a:off x="523577" y="3720629"/>
            <a:ext cx="3968576" cy="9525"/>
          </a:xfrm>
          <a:prstGeom prst="rect">
            <a:avLst/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24"/>
          <p:cNvSpPr/>
          <p:nvPr/>
        </p:nvSpPr>
        <p:spPr>
          <a:xfrm>
            <a:off x="523577" y="3772346"/>
            <a:ext cx="3968576" cy="962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550"/>
              <a:buFont typeface="Funnel Display"/>
              <a:buNone/>
            </a:pPr>
            <a:r>
              <a:rPr b="0" i="0" lang="en-US" sz="5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Reranking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24"/>
          <p:cNvSpPr/>
          <p:nvPr/>
        </p:nvSpPr>
        <p:spPr>
          <a:xfrm>
            <a:off x="523577" y="3901232"/>
            <a:ext cx="3968576" cy="785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Sans"/>
              <a:buNone/>
            </a:pPr>
            <a:r>
              <a:rPr b="0" i="0" lang="en-US" sz="4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Cross-encoder để cải thiện precision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24"/>
          <p:cNvSpPr/>
          <p:nvPr/>
        </p:nvSpPr>
        <p:spPr>
          <a:xfrm>
            <a:off x="523577" y="4061520"/>
            <a:ext cx="130894" cy="817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Display Light"/>
              <a:buNone/>
            </a:pPr>
            <a:r>
              <a:rPr b="0" i="0" lang="en-US" sz="450" u="none" cap="none" strike="noStrike">
                <a:solidFill>
                  <a:srgbClr val="2B3541"/>
                </a:solidFill>
                <a:latin typeface="Funnel Display Light"/>
                <a:ea typeface="Funnel Display Light"/>
                <a:cs typeface="Funnel Display Light"/>
                <a:sym typeface="Funnel Display Light"/>
              </a:rPr>
              <a:t>08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24"/>
          <p:cNvSpPr/>
          <p:nvPr/>
        </p:nvSpPr>
        <p:spPr>
          <a:xfrm>
            <a:off x="523577" y="4163095"/>
            <a:ext cx="3968576" cy="9525"/>
          </a:xfrm>
          <a:prstGeom prst="rect">
            <a:avLst/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24"/>
          <p:cNvSpPr/>
          <p:nvPr/>
        </p:nvSpPr>
        <p:spPr>
          <a:xfrm>
            <a:off x="523577" y="4214813"/>
            <a:ext cx="3968576" cy="962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550"/>
              <a:buFont typeface="Funnel Display"/>
              <a:buNone/>
            </a:pPr>
            <a:r>
              <a:rPr b="0" i="0" lang="en-US" sz="5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Top-K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24"/>
          <p:cNvSpPr/>
          <p:nvPr/>
        </p:nvSpPr>
        <p:spPr>
          <a:xfrm>
            <a:off x="523577" y="4343698"/>
            <a:ext cx="3968576" cy="785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Sans"/>
              <a:buNone/>
            </a:pPr>
            <a:r>
              <a:rPr b="0" i="0" lang="en-US" sz="4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Cân bằng recall và nhiễu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24"/>
          <p:cNvSpPr/>
          <p:nvPr/>
        </p:nvSpPr>
        <p:spPr>
          <a:xfrm>
            <a:off x="4656609" y="831279"/>
            <a:ext cx="3968576" cy="962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550"/>
              <a:buFont typeface="Funnel Display"/>
              <a:buNone/>
            </a:pPr>
            <a:r>
              <a:rPr b="0" i="0" lang="en-US" sz="5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Các lỗi thường gặp: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32" name="Google Shape;632;p24"/>
          <p:cNvGraphicFramePr/>
          <p:nvPr/>
        </p:nvGraphicFramePr>
        <p:xfrm>
          <a:off x="4656609" y="96425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{3B3E4DE5-BB9D-4D9E-814C-6277CECA3E85}</a:tableStyleId>
              </a:tblPr>
              <a:tblGrid>
                <a:gridCol w="1349375"/>
                <a:gridCol w="1309600"/>
                <a:gridCol w="1309600"/>
              </a:tblGrid>
              <a:tr h="129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Vấn đề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65450" marL="65450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Nguyên nhân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65450" marL="6545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Cách khắc phục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65450" marL="6545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0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Doc liên quan không được retrieve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65450" marL="65450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Chunking tệ / embedding sai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65450" marL="6545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Cải thiện chunking, dùng domain embedding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65450" marL="6545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Quá nhiều doc không liên quan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65450" marL="65450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Top-K quá lớn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65450" marL="6545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Thêm reranker, giảm K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65450" marL="6545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Không tìm được mã/ID chính xác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65450" marL="65450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Chỉ dùng semantic search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65450" marL="6545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Thêm BM25 / hybrid search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65450" marL="6545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Doc đúng nhưng xếp hạng sai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65450" marL="65450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Không có reranker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65450" marL="6545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Thêm cross-encoder reranker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65450" marL="6545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9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Rò rỉ dữ liệu multi-tenant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65450" marL="65450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Thiếu metadata filter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65450" marL="6545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Bắt buộc filter theo tenant_id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65450" marL="6545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33" name="Google Shape;633;p24"/>
          <p:cNvSpPr/>
          <p:nvPr/>
        </p:nvSpPr>
        <p:spPr>
          <a:xfrm>
            <a:off x="523577" y="4544839"/>
            <a:ext cx="8096845" cy="173236"/>
          </a:xfrm>
          <a:prstGeom prst="roundRect">
            <a:avLst>
              <a:gd fmla="val 15869" name="adj"/>
            </a:avLst>
          </a:prstGeom>
          <a:solidFill>
            <a:srgbClr val="D8E7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34" name="Google Shape;63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8987" y="4593803"/>
            <a:ext cx="81781" cy="65410"/>
          </a:xfrm>
          <a:prstGeom prst="rect">
            <a:avLst/>
          </a:prstGeom>
          <a:noFill/>
          <a:ln>
            <a:noFill/>
          </a:ln>
        </p:spPr>
      </p:pic>
      <p:sp>
        <p:nvSpPr>
          <p:cNvPr id="635" name="Google Shape;635;p24"/>
          <p:cNvSpPr/>
          <p:nvPr/>
        </p:nvSpPr>
        <p:spPr>
          <a:xfrm>
            <a:off x="736178" y="4593803"/>
            <a:ext cx="8276034" cy="785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Funnel Sans"/>
              <a:buNone/>
            </a:pPr>
            <a:r>
              <a:rPr b="0" i="0" lang="en-US" sz="450" u="none" cap="none" strike="noStrike">
                <a:solidFill>
                  <a:srgbClr val="000000"/>
                </a:solidFill>
                <a:latin typeface="Funnel Sans"/>
                <a:ea typeface="Funnel Sans"/>
                <a:cs typeface="Funnel Sans"/>
                <a:sym typeface="Funnel Sans"/>
              </a:rPr>
              <a:t>Mỗi giai đoạn là một quyết định kỹ thuật với đánh đổi — không có retrieval "cắm vào là chạy".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5EB"/>
        </a:solidFill>
      </p:bgPr>
    </p:bg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25"/>
          <p:cNvSpPr/>
          <p:nvPr/>
        </p:nvSpPr>
        <p:spPr>
          <a:xfrm>
            <a:off x="523577" y="465832"/>
            <a:ext cx="8096845" cy="2888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1750"/>
              <a:buFont typeface="Funnel Display"/>
              <a:buNone/>
            </a:pPr>
            <a:r>
              <a:rPr b="0" i="0" lang="en-US" sz="17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Retrieval Experiments — So sánh các cấu hình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25"/>
          <p:cNvSpPr/>
          <p:nvPr/>
        </p:nvSpPr>
        <p:spPr>
          <a:xfrm>
            <a:off x="523577" y="901898"/>
            <a:ext cx="8554045" cy="137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00"/>
              <a:buFont typeface="Funnel Sans"/>
              <a:buNone/>
            </a:pPr>
            <a:r>
              <a:rPr b="0" i="0" lang="en-US" sz="7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Không tối ưu retrieval bằng cảm giác — đo lường và so sánh.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25"/>
          <p:cNvSpPr/>
          <p:nvPr/>
        </p:nvSpPr>
        <p:spPr>
          <a:xfrm>
            <a:off x="523577" y="1195685"/>
            <a:ext cx="3928690" cy="144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850"/>
              <a:buFont typeface="Funnel Display"/>
              <a:buNone/>
            </a:pPr>
            <a:r>
              <a:rPr b="0" i="0" lang="en-US" sz="8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Experiment 1 — Keyword vs Semantic: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44" name="Google Shape;644;p25"/>
          <p:cNvGraphicFramePr/>
          <p:nvPr/>
        </p:nvGraphicFramePr>
        <p:xfrm>
          <a:off x="523577" y="142287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{3B3E4DE5-BB9D-4D9E-814C-6277CECA3E85}</a:tableStyleId>
              </a:tblPr>
              <a:tblGrid>
                <a:gridCol w="1309575"/>
                <a:gridCol w="1309575"/>
                <a:gridCol w="1309575"/>
              </a:tblGrid>
              <a:tr h="237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Query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Keyword Search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Semantic Search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"I forgot my password"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 Bỏ sót "reset password"</a:t>
                      </a:r>
                      <a:endParaRPr sz="8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 Tìm được</a:t>
                      </a:r>
                      <a:endParaRPr sz="8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7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"ERR_CONNECTION_RESET"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 Tìm chính xác</a:t>
                      </a:r>
                      <a:endParaRPr sz="8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 Có thể bỏ sót</a:t>
                      </a:r>
                      <a:endParaRPr sz="8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2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"How to approve invoice"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 Partial</a:t>
                      </a:r>
                      <a:endParaRPr sz="8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 Tốt</a:t>
                      </a:r>
                      <a:endParaRPr sz="8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45" name="Google Shape;645;p25"/>
          <p:cNvSpPr/>
          <p:nvPr/>
        </p:nvSpPr>
        <p:spPr>
          <a:xfrm>
            <a:off x="523577" y="2754362"/>
            <a:ext cx="3928690" cy="144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850"/>
              <a:buFont typeface="Funnel Display"/>
              <a:buNone/>
            </a:pPr>
            <a:r>
              <a:rPr b="0" i="0" lang="en-US" sz="8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Experiment 2 — Vector vs Vector + Reranker: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46" name="Google Shape;646;p25"/>
          <p:cNvGraphicFramePr/>
          <p:nvPr/>
        </p:nvGraphicFramePr>
        <p:xfrm>
          <a:off x="523577" y="29815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{3B3E4DE5-BB9D-4D9E-814C-6277CECA3E85}</a:tableStyleId>
              </a:tblPr>
              <a:tblGrid>
                <a:gridCol w="1309575"/>
                <a:gridCol w="1309575"/>
                <a:gridCol w="1309575"/>
              </a:tblGrid>
              <a:tr h="237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Vector only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Vector + Reranker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Recall@10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0.72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0.72 (không đổi)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Precision@5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0.54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0.78 (+44%)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Latency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45ms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180ms (+300%)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Kết luận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Recall OK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Precision tốt hơn nhiều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47" name="Google Shape;647;p25"/>
          <p:cNvSpPr/>
          <p:nvPr/>
        </p:nvSpPr>
        <p:spPr>
          <a:xfrm>
            <a:off x="4696495" y="1195685"/>
            <a:ext cx="3928690" cy="144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850"/>
              <a:buFont typeface="Funnel Display"/>
              <a:buNone/>
            </a:pPr>
            <a:r>
              <a:rPr b="0" i="0" lang="en-US" sz="8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Experiment 3 — Chunk Size Impact: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48" name="Google Shape;648;p25"/>
          <p:cNvGraphicFramePr/>
          <p:nvPr/>
        </p:nvGraphicFramePr>
        <p:xfrm>
          <a:off x="4696495" y="142287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{3B3E4DE5-BB9D-4D9E-814C-6277CECA3E85}</a:tableStyleId>
              </a:tblPr>
              <a:tblGrid>
                <a:gridCol w="982175"/>
                <a:gridCol w="982175"/>
                <a:gridCol w="982175"/>
                <a:gridCol w="982175"/>
              </a:tblGrid>
              <a:tr h="237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Chunk Size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Recall@10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Precision@5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Latency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128 tokens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0.65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0.71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30ms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256 tokens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0.74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0.76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35ms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512 tokens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0.79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0.72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42ms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1024 tokens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0.76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0.65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58ms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8175" marL="981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49" name="Google Shape;649;p25"/>
          <p:cNvSpPr/>
          <p:nvPr/>
        </p:nvSpPr>
        <p:spPr>
          <a:xfrm>
            <a:off x="4696495" y="2710011"/>
            <a:ext cx="3928690" cy="144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850"/>
              <a:buFont typeface="Funnel Display"/>
              <a:buNone/>
            </a:pPr>
            <a:r>
              <a:rPr b="0" i="0" lang="en-US" sz="8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Kết luận từ experiments: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25"/>
          <p:cNvSpPr/>
          <p:nvPr/>
        </p:nvSpPr>
        <p:spPr>
          <a:xfrm>
            <a:off x="4696495" y="2927970"/>
            <a:ext cx="3928690" cy="626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42240" lvl="0" marL="14224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00"/>
              <a:buFont typeface="Funnel Sans"/>
              <a:buChar char="•"/>
            </a:pPr>
            <a:r>
              <a:rPr b="0" i="0" lang="en-US" sz="7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Hybrid search luôn tốt hơn chỉ dùng một phương pháp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240" lvl="0" marL="14224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00"/>
              <a:buFont typeface="Funnel Sans"/>
              <a:buChar char="•"/>
            </a:pPr>
            <a:r>
              <a:rPr b="0" i="0" lang="en-US" sz="7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Reranker cải thiện precision đáng kể với chi phí latency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240" lvl="0" marL="14224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00"/>
              <a:buFont typeface="Funnel Sans"/>
              <a:buChar char="•"/>
            </a:pPr>
            <a:r>
              <a:rPr b="0" i="0" lang="en-US" sz="7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Chunk size 256-512 thường là điểm cân bằng tốt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240" lvl="0" marL="14224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00"/>
              <a:buFont typeface="Funnel Sans"/>
              <a:buChar char="•"/>
            </a:pPr>
            <a:r>
              <a:rPr b="0" i="0" lang="en-US" sz="7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Kết quả phụ thuộc vào domain — luôn đo trên dữ liệu của bạn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25"/>
          <p:cNvSpPr/>
          <p:nvPr/>
        </p:nvSpPr>
        <p:spPr>
          <a:xfrm>
            <a:off x="523577" y="4351511"/>
            <a:ext cx="8096845" cy="326157"/>
          </a:xfrm>
          <a:prstGeom prst="roundRect">
            <a:avLst>
              <a:gd fmla="val 12643" name="adj"/>
            </a:avLst>
          </a:prstGeom>
          <a:solidFill>
            <a:srgbClr val="D8E7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52" name="Google Shape;65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729" y="4454128"/>
            <a:ext cx="122709" cy="98152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25"/>
          <p:cNvSpPr/>
          <p:nvPr/>
        </p:nvSpPr>
        <p:spPr>
          <a:xfrm>
            <a:off x="842590" y="4449589"/>
            <a:ext cx="8136880" cy="137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Funnel Sans"/>
              <a:buNone/>
            </a:pPr>
            <a:r>
              <a:rPr b="1" i="0" lang="en-US" sz="700" u="none" cap="none" strike="noStrike">
                <a:solidFill>
                  <a:srgbClr val="000000"/>
                </a:solidFill>
                <a:latin typeface="Funnel Sans"/>
                <a:ea typeface="Funnel Sans"/>
                <a:cs typeface="Funnel Sans"/>
                <a:sym typeface="Funnel Sans"/>
              </a:rPr>
              <a:t>Lưu ý:</a:t>
            </a:r>
            <a:r>
              <a:rPr b="0" i="0" lang="en-US" sz="700" u="none" cap="none" strike="noStrike">
                <a:solidFill>
                  <a:srgbClr val="000000"/>
                </a:solidFill>
                <a:latin typeface="Funnel Sans"/>
                <a:ea typeface="Funnel Sans"/>
                <a:cs typeface="Funnel Sans"/>
                <a:sym typeface="Funnel Sans"/>
              </a:rPr>
              <a:t> Đây là kết quả minh họa — kết quả thực tế phụ thuộc vào domain, model và dữ liệu.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5EB"/>
        </a:solidFill>
      </p:bgPr>
    </p:bg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6"/>
          <p:cNvSpPr/>
          <p:nvPr/>
        </p:nvSpPr>
        <p:spPr>
          <a:xfrm>
            <a:off x="523577" y="385763"/>
            <a:ext cx="8096845" cy="242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1500"/>
              <a:buFont typeface="Funnel Display"/>
              <a:buNone/>
            </a:pPr>
            <a:r>
              <a:rPr b="0" i="0" lang="en-US" sz="15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Case Study — Enterprise ERP Semantic Search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26"/>
          <p:cNvSpPr/>
          <p:nvPr/>
        </p:nvSpPr>
        <p:spPr>
          <a:xfrm>
            <a:off x="523577" y="757907"/>
            <a:ext cx="3947889" cy="1211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700"/>
              <a:buFont typeface="Funnel Display"/>
              <a:buNone/>
            </a:pPr>
            <a:r>
              <a:rPr b="0" i="0" lang="en-US" sz="7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Bài toán: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26"/>
          <p:cNvSpPr/>
          <p:nvPr/>
        </p:nvSpPr>
        <p:spPr>
          <a:xfrm>
            <a:off x="647179" y="984052"/>
            <a:ext cx="4281488" cy="107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Sans"/>
              <a:buNone/>
            </a:pPr>
            <a:r>
              <a:rPr b="0" i="0" lang="en-US" sz="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User hỏi: </a:t>
            </a:r>
            <a:r>
              <a:rPr b="0" i="1" lang="en-US" sz="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"How do I create a production order?"</a:t>
            </a:r>
            <a:r>
              <a:rPr b="0" i="0" lang="en-US" sz="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 trong hệ thống ERP với 10M+ tài liệu, 500+ tenant.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26"/>
          <p:cNvSpPr/>
          <p:nvPr/>
        </p:nvSpPr>
        <p:spPr>
          <a:xfrm>
            <a:off x="523577" y="937394"/>
            <a:ext cx="9525" cy="200769"/>
          </a:xfrm>
          <a:prstGeom prst="roundRect">
            <a:avLst>
              <a:gd fmla="val 50000" name="adj"/>
            </a:avLst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26"/>
          <p:cNvSpPr/>
          <p:nvPr/>
        </p:nvSpPr>
        <p:spPr>
          <a:xfrm>
            <a:off x="523577" y="1196504"/>
            <a:ext cx="3947889" cy="1211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700"/>
              <a:buFont typeface="Funnel Display"/>
              <a:buNone/>
            </a:pPr>
            <a:r>
              <a:rPr b="0" i="0" lang="en-US" sz="7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Thách thức kỹ thuật: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26"/>
          <p:cNvSpPr/>
          <p:nvPr/>
        </p:nvSpPr>
        <p:spPr>
          <a:xfrm>
            <a:off x="523577" y="1369516"/>
            <a:ext cx="3947889" cy="6098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21920" lvl="0" marL="12192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Sans"/>
              <a:buChar char="•"/>
            </a:pPr>
            <a:r>
              <a:rPr b="1" i="0" lang="en-US" sz="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Semantic:</a:t>
            </a:r>
            <a:r>
              <a:rPr b="0" i="0" lang="en-US" sz="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 "approve" = "authorize" = "confirm" — nhiều cách diễn đạt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1920" lvl="0" marL="12192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Sans"/>
              <a:buChar char="•"/>
            </a:pPr>
            <a:r>
              <a:rPr b="1" i="0" lang="en-US" sz="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Exact match:</a:t>
            </a:r>
            <a:r>
              <a:rPr b="0" i="0" lang="en-US" sz="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 tên màn hình "Purchase Request Approval Screen" — phải khớp chính xác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1920" lvl="0" marL="12192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Sans"/>
              <a:buChar char="•"/>
            </a:pPr>
            <a:r>
              <a:rPr b="1" i="0" lang="en-US" sz="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Multi-tenant:</a:t>
            </a:r>
            <a:r>
              <a:rPr b="0" i="0" lang="en-US" sz="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 cô lập theo company_id — yêu cầu bắt buộc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1920" lvl="0" marL="12192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Sans"/>
              <a:buChar char="•"/>
            </a:pPr>
            <a:r>
              <a:rPr b="1" i="0" lang="en-US" sz="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Đa ngôn ngữ:</a:t>
            </a:r>
            <a:r>
              <a:rPr b="0" i="0" lang="en-US" sz="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 thuật ngữ tiếng Việt + tiếng Anh hỗn hợp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1920" lvl="0" marL="12192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Sans"/>
              <a:buChar char="•"/>
            </a:pPr>
            <a:r>
              <a:rPr b="1" i="0" lang="en-US" sz="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Version control:</a:t>
            </a:r>
            <a:r>
              <a:rPr b="0" i="0" lang="en-US" sz="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 chỉ dùng tài liệu hiện hành, không dùng tài liệu lỗi thời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26"/>
          <p:cNvSpPr/>
          <p:nvPr/>
        </p:nvSpPr>
        <p:spPr>
          <a:xfrm>
            <a:off x="523577" y="2031281"/>
            <a:ext cx="3947889" cy="1211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700"/>
              <a:buFont typeface="Funnel Display"/>
              <a:buNone/>
            </a:pPr>
            <a:r>
              <a:rPr b="0" i="0" lang="en-US" sz="7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Câu hỏi thảo luận: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26"/>
          <p:cNvSpPr/>
          <p:nvPr/>
        </p:nvSpPr>
        <p:spPr>
          <a:xfrm>
            <a:off x="523577" y="2204293"/>
            <a:ext cx="3947889" cy="4842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21920" lvl="0" marL="12192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Sans"/>
              <a:buChar char="•"/>
            </a:pPr>
            <a:r>
              <a:rPr b="0" i="0" lang="en-US" sz="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Embedding model nào? (multilingual? domain-specific?)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1920" lvl="0" marL="12192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Sans"/>
              <a:buChar char="•"/>
            </a:pPr>
            <a:r>
              <a:rPr b="0" i="0" lang="en-US" sz="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HNSW hay IVFFlat? (10M vector, cập nhật động?)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1920" lvl="0" marL="12192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Sans"/>
              <a:buChar char="•"/>
            </a:pPr>
            <a:r>
              <a:rPr b="0" i="0" lang="en-US" sz="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Pre-filter hay post-filter cho company_id?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1920" lvl="0" marL="12192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Sans"/>
              <a:buChar char="•"/>
            </a:pPr>
            <a:r>
              <a:rPr b="0" i="0" lang="en-US" sz="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Top-K trước reranker là bao nhiêu?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26"/>
          <p:cNvSpPr/>
          <p:nvPr/>
        </p:nvSpPr>
        <p:spPr>
          <a:xfrm>
            <a:off x="4677296" y="757907"/>
            <a:ext cx="3947889" cy="1211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700"/>
              <a:buFont typeface="Funnel Display"/>
              <a:buNone/>
            </a:pPr>
            <a:r>
              <a:rPr b="0" i="0" lang="en-US" sz="7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Pipeline thiết kế: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26"/>
          <p:cNvSpPr/>
          <p:nvPr/>
        </p:nvSpPr>
        <p:spPr>
          <a:xfrm>
            <a:off x="4677296" y="937394"/>
            <a:ext cx="164827" cy="1029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Display Light"/>
              <a:buNone/>
            </a:pPr>
            <a:r>
              <a:rPr b="0" i="0" lang="en-US" sz="600" u="none" cap="none" strike="noStrike">
                <a:solidFill>
                  <a:srgbClr val="2B3541"/>
                </a:solidFill>
                <a:latin typeface="Funnel Display Light"/>
                <a:ea typeface="Funnel Display Light"/>
                <a:cs typeface="Funnel Display Light"/>
                <a:sym typeface="Funnel Display Light"/>
              </a:rPr>
              <a:t>01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26"/>
          <p:cNvSpPr/>
          <p:nvPr/>
        </p:nvSpPr>
        <p:spPr>
          <a:xfrm>
            <a:off x="4677296" y="1067842"/>
            <a:ext cx="3947889" cy="9525"/>
          </a:xfrm>
          <a:prstGeom prst="rect">
            <a:avLst/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26"/>
          <p:cNvSpPr/>
          <p:nvPr/>
        </p:nvSpPr>
        <p:spPr>
          <a:xfrm>
            <a:off x="4677296" y="1128043"/>
            <a:ext cx="3947889" cy="1211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00"/>
              <a:buFont typeface="Funnel Display"/>
              <a:buNone/>
            </a:pPr>
            <a:r>
              <a:rPr b="0" i="0" lang="en-US" sz="7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Query Normalization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26"/>
          <p:cNvSpPr/>
          <p:nvPr/>
        </p:nvSpPr>
        <p:spPr>
          <a:xfrm>
            <a:off x="4677296" y="1301055"/>
            <a:ext cx="3947889" cy="107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Sans"/>
              <a:buNone/>
            </a:pPr>
            <a:r>
              <a:rPr b="0" i="0" lang="en-US" sz="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Chuyển thường, loại ký tự đặc biệt, mở rộng viết tắt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26"/>
          <p:cNvSpPr/>
          <p:nvPr/>
        </p:nvSpPr>
        <p:spPr>
          <a:xfrm>
            <a:off x="4677296" y="1522140"/>
            <a:ext cx="164827" cy="1029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Display Light"/>
              <a:buNone/>
            </a:pPr>
            <a:r>
              <a:rPr b="0" i="0" lang="en-US" sz="600" u="none" cap="none" strike="noStrike">
                <a:solidFill>
                  <a:srgbClr val="2B3541"/>
                </a:solidFill>
                <a:latin typeface="Funnel Display Light"/>
                <a:ea typeface="Funnel Display Light"/>
                <a:cs typeface="Funnel Display Light"/>
                <a:sym typeface="Funnel Display Light"/>
              </a:rPr>
              <a:t>02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26"/>
          <p:cNvSpPr/>
          <p:nvPr/>
        </p:nvSpPr>
        <p:spPr>
          <a:xfrm>
            <a:off x="4677296" y="1652587"/>
            <a:ext cx="3947889" cy="9525"/>
          </a:xfrm>
          <a:prstGeom prst="rect">
            <a:avLst/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26"/>
          <p:cNvSpPr/>
          <p:nvPr/>
        </p:nvSpPr>
        <p:spPr>
          <a:xfrm>
            <a:off x="4677296" y="1712788"/>
            <a:ext cx="3947889" cy="1211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00"/>
              <a:buFont typeface="Funnel Display"/>
              <a:buNone/>
            </a:pPr>
            <a:r>
              <a:rPr b="0" i="0" lang="en-US" sz="7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Hybrid Search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26"/>
          <p:cNvSpPr/>
          <p:nvPr/>
        </p:nvSpPr>
        <p:spPr>
          <a:xfrm>
            <a:off x="4677296" y="1885801"/>
            <a:ext cx="3947889" cy="107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Sans"/>
              <a:buNone/>
            </a:pPr>
            <a:r>
              <a:rPr b="0" i="0" lang="en-US" sz="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BM25 (tên màn hình, mã) + Vector Search (ý định ngữ nghĩa)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26"/>
          <p:cNvSpPr/>
          <p:nvPr/>
        </p:nvSpPr>
        <p:spPr>
          <a:xfrm>
            <a:off x="4677296" y="2106885"/>
            <a:ext cx="164827" cy="1029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Display Light"/>
              <a:buNone/>
            </a:pPr>
            <a:r>
              <a:rPr b="0" i="0" lang="en-US" sz="600" u="none" cap="none" strike="noStrike">
                <a:solidFill>
                  <a:srgbClr val="2B3541"/>
                </a:solidFill>
                <a:latin typeface="Funnel Display Light"/>
                <a:ea typeface="Funnel Display Light"/>
                <a:cs typeface="Funnel Display Light"/>
                <a:sym typeface="Funnel Display Light"/>
              </a:rPr>
              <a:t>03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26"/>
          <p:cNvSpPr/>
          <p:nvPr/>
        </p:nvSpPr>
        <p:spPr>
          <a:xfrm>
            <a:off x="4677296" y="2237333"/>
            <a:ext cx="3947889" cy="9525"/>
          </a:xfrm>
          <a:prstGeom prst="rect">
            <a:avLst/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26"/>
          <p:cNvSpPr/>
          <p:nvPr/>
        </p:nvSpPr>
        <p:spPr>
          <a:xfrm>
            <a:off x="4677296" y="2297534"/>
            <a:ext cx="3947889" cy="1211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00"/>
              <a:buFont typeface="Funnel Display"/>
              <a:buNone/>
            </a:pPr>
            <a:r>
              <a:rPr b="0" i="0" lang="en-US" sz="7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Metadata Filter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26"/>
          <p:cNvSpPr/>
          <p:nvPr/>
        </p:nvSpPr>
        <p:spPr>
          <a:xfrm>
            <a:off x="4677296" y="2470547"/>
            <a:ext cx="3947889" cy="107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Sans"/>
              <a:buNone/>
            </a:pPr>
            <a:r>
              <a:rPr b="0" i="0" lang="en-US" sz="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company_id = tenant_id AND language IN ["vi","en"] AND status = "current"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26"/>
          <p:cNvSpPr/>
          <p:nvPr/>
        </p:nvSpPr>
        <p:spPr>
          <a:xfrm>
            <a:off x="4677296" y="2691631"/>
            <a:ext cx="164827" cy="1029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Display Light"/>
              <a:buNone/>
            </a:pPr>
            <a:r>
              <a:rPr b="0" i="0" lang="en-US" sz="600" u="none" cap="none" strike="noStrike">
                <a:solidFill>
                  <a:srgbClr val="2B3541"/>
                </a:solidFill>
                <a:latin typeface="Funnel Display Light"/>
                <a:ea typeface="Funnel Display Light"/>
                <a:cs typeface="Funnel Display Light"/>
                <a:sym typeface="Funnel Display Light"/>
              </a:rPr>
              <a:t>04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26"/>
          <p:cNvSpPr/>
          <p:nvPr/>
        </p:nvSpPr>
        <p:spPr>
          <a:xfrm>
            <a:off x="4677296" y="2822079"/>
            <a:ext cx="3947889" cy="9525"/>
          </a:xfrm>
          <a:prstGeom prst="rect">
            <a:avLst/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26"/>
          <p:cNvSpPr/>
          <p:nvPr/>
        </p:nvSpPr>
        <p:spPr>
          <a:xfrm>
            <a:off x="4677296" y="2882280"/>
            <a:ext cx="3947889" cy="1211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00"/>
              <a:buFont typeface="Funnel Display"/>
              <a:buNone/>
            </a:pPr>
            <a:r>
              <a:rPr b="0" i="0" lang="en-US" sz="7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Candidate Fusion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26"/>
          <p:cNvSpPr/>
          <p:nvPr/>
        </p:nvSpPr>
        <p:spPr>
          <a:xfrm>
            <a:off x="4677296" y="3055293"/>
            <a:ext cx="3947889" cy="107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Sans"/>
              <a:buNone/>
            </a:pPr>
            <a:r>
              <a:rPr b="0" i="0" lang="en-US" sz="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RRF để kết hợp kết quả BM25 + vector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26"/>
          <p:cNvSpPr/>
          <p:nvPr/>
        </p:nvSpPr>
        <p:spPr>
          <a:xfrm>
            <a:off x="4677296" y="3276377"/>
            <a:ext cx="164827" cy="1029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Display Light"/>
              <a:buNone/>
            </a:pPr>
            <a:r>
              <a:rPr b="0" i="0" lang="en-US" sz="600" u="none" cap="none" strike="noStrike">
                <a:solidFill>
                  <a:srgbClr val="2B3541"/>
                </a:solidFill>
                <a:latin typeface="Funnel Display Light"/>
                <a:ea typeface="Funnel Display Light"/>
                <a:cs typeface="Funnel Display Light"/>
                <a:sym typeface="Funnel Display Light"/>
              </a:rPr>
              <a:t>05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26"/>
          <p:cNvSpPr/>
          <p:nvPr/>
        </p:nvSpPr>
        <p:spPr>
          <a:xfrm>
            <a:off x="4677296" y="3406825"/>
            <a:ext cx="3947889" cy="9525"/>
          </a:xfrm>
          <a:prstGeom prst="rect">
            <a:avLst/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26"/>
          <p:cNvSpPr/>
          <p:nvPr/>
        </p:nvSpPr>
        <p:spPr>
          <a:xfrm>
            <a:off x="4677296" y="3467026"/>
            <a:ext cx="3947889" cy="1211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00"/>
              <a:buFont typeface="Funnel Display"/>
              <a:buNone/>
            </a:pPr>
            <a:r>
              <a:rPr b="0" i="0" lang="en-US" sz="7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Reranker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26"/>
          <p:cNvSpPr/>
          <p:nvPr/>
        </p:nvSpPr>
        <p:spPr>
          <a:xfrm>
            <a:off x="4677296" y="3640038"/>
            <a:ext cx="3947889" cy="107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Sans"/>
              <a:buNone/>
            </a:pPr>
            <a:r>
              <a:rPr b="0" i="0" lang="en-US" sz="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Cross-encoder trên Top-50 ứng viên → Top-5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26"/>
          <p:cNvSpPr/>
          <p:nvPr/>
        </p:nvSpPr>
        <p:spPr>
          <a:xfrm>
            <a:off x="4677296" y="3861122"/>
            <a:ext cx="164827" cy="1029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Display Light"/>
              <a:buNone/>
            </a:pPr>
            <a:r>
              <a:rPr b="0" i="0" lang="en-US" sz="600" u="none" cap="none" strike="noStrike">
                <a:solidFill>
                  <a:srgbClr val="2B3541"/>
                </a:solidFill>
                <a:latin typeface="Funnel Display Light"/>
                <a:ea typeface="Funnel Display Light"/>
                <a:cs typeface="Funnel Display Light"/>
                <a:sym typeface="Funnel Display Light"/>
              </a:rPr>
              <a:t>06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26"/>
          <p:cNvSpPr/>
          <p:nvPr/>
        </p:nvSpPr>
        <p:spPr>
          <a:xfrm>
            <a:off x="4677296" y="3991570"/>
            <a:ext cx="3947889" cy="9525"/>
          </a:xfrm>
          <a:prstGeom prst="rect">
            <a:avLst/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26"/>
          <p:cNvSpPr/>
          <p:nvPr/>
        </p:nvSpPr>
        <p:spPr>
          <a:xfrm>
            <a:off x="4677296" y="4051771"/>
            <a:ext cx="3947889" cy="1211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00"/>
              <a:buFont typeface="Funnel Display"/>
              <a:buNone/>
            </a:pPr>
            <a:r>
              <a:rPr b="0" i="0" lang="en-US" sz="7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LLM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26"/>
          <p:cNvSpPr/>
          <p:nvPr/>
        </p:nvSpPr>
        <p:spPr>
          <a:xfrm>
            <a:off x="4677296" y="4224784"/>
            <a:ext cx="3947889" cy="107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Sans"/>
              <a:buNone/>
            </a:pPr>
            <a:r>
              <a:rPr b="0" i="0" lang="en-US" sz="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Top-5 context → Generate answer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26"/>
          <p:cNvSpPr/>
          <p:nvPr/>
        </p:nvSpPr>
        <p:spPr>
          <a:xfrm>
            <a:off x="523577" y="4510683"/>
            <a:ext cx="8096845" cy="247055"/>
          </a:xfrm>
          <a:prstGeom prst="roundRect">
            <a:avLst>
              <a:gd fmla="val 14014" name="adj"/>
            </a:avLst>
          </a:prstGeom>
          <a:solidFill>
            <a:srgbClr val="D8E7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93" name="Google Shape;69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5954" y="4587180"/>
            <a:ext cx="102989" cy="82376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26"/>
          <p:cNvSpPr/>
          <p:nvPr/>
        </p:nvSpPr>
        <p:spPr>
          <a:xfrm>
            <a:off x="791319" y="4583088"/>
            <a:ext cx="8203927" cy="107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Funnel Sans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Funnel Sans"/>
                <a:ea typeface="Funnel Sans"/>
                <a:cs typeface="Funnel Sans"/>
                <a:sym typeface="Funnel Sans"/>
              </a:rPr>
              <a:t>Không có cấu hình retrieval "tốt nhất" tuyệt đối. Mọi hệ thống cần đo lường, lặp lại và tinh chỉnh theo domain cụ thể.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5EB"/>
        </a:solidFill>
      </p:bgPr>
    </p:bg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27"/>
          <p:cNvSpPr/>
          <p:nvPr/>
        </p:nvSpPr>
        <p:spPr>
          <a:xfrm>
            <a:off x="523577" y="467767"/>
            <a:ext cx="8096845" cy="307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1900"/>
              <a:buFont typeface="Funnel Display"/>
              <a:buNone/>
            </a:pPr>
            <a:r>
              <a:rPr b="0" i="0" lang="en-US" sz="19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Retrieval Engineering Trade-offs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27"/>
          <p:cNvSpPr/>
          <p:nvPr/>
        </p:nvSpPr>
        <p:spPr>
          <a:xfrm>
            <a:off x="523577" y="943198"/>
            <a:ext cx="8554045" cy="150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50"/>
              <a:buFont typeface="Funnel Sans"/>
              <a:buNone/>
            </a:pPr>
            <a:r>
              <a:rPr b="0" i="1" lang="en-US" sz="7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Không có cấu hình tốt nhất tuyệt đối — mọi quyết định đều là đánh đổi.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27"/>
          <p:cNvSpPr/>
          <p:nvPr/>
        </p:nvSpPr>
        <p:spPr>
          <a:xfrm>
            <a:off x="523577" y="1271885"/>
            <a:ext cx="4338265" cy="154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900"/>
              <a:buFont typeface="Funnel Display"/>
              <a:buNone/>
            </a:pPr>
            <a:r>
              <a:rPr b="0" i="0" lang="en-US" sz="9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Các đánh đổi chính: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03" name="Google Shape;703;p27"/>
          <p:cNvGraphicFramePr/>
          <p:nvPr/>
        </p:nvGraphicFramePr>
        <p:xfrm>
          <a:off x="523577" y="15201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{3B3E4DE5-BB9D-4D9E-814C-6277CECA3E85}</a:tableStyleId>
              </a:tblPr>
              <a:tblGrid>
                <a:gridCol w="1446100"/>
                <a:gridCol w="1446100"/>
                <a:gridCol w="1446100"/>
              </a:tblGrid>
              <a:tr h="263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Mục tiêu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04725" marL="104725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Kỹ thuật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04725" marL="10472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Đánh đổi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04725" marL="10472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Recall cao hơn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04725" marL="104725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Tăng K / hybrid search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04725" marL="10472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Nhiều nhiễu hơn, latency cao hơn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04725" marL="10472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Latency thấp hơn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04725" marL="104725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ANN / K nhỏ hơn / caching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04725" marL="10472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Recall thấp hơn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04725" marL="10472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Precision tốt hơn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04725" marL="104725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Reranker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04725" marL="10472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Latency cao hơn, tốn chi phí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04725" marL="10472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Khớp chính xác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04725" marL="104725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BM25 / keyword search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04725" marL="10472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Bỏ sót paraphrase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04725" marL="10472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Multi-tenant isolation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04725" marL="104725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Metadata pre-filtering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04725" marL="10472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Thu hẹp tập ứng viên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04725" marL="10472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Domain accuracy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04725" marL="104725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Fine-tuned embedding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04725" marL="10472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Chi phí training, bảo trì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04725" marL="10472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3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Đa ngôn ngữ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04725" marL="104725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Multilingual embedding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04725" marL="10472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Có thể giảm chất lượng đơn ngữ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04725" marL="10472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04" name="Google Shape;704;p27"/>
          <p:cNvSpPr/>
          <p:nvPr/>
        </p:nvSpPr>
        <p:spPr>
          <a:xfrm>
            <a:off x="5122143" y="1271885"/>
            <a:ext cx="3502968" cy="154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900"/>
              <a:buFont typeface="Funnel Display"/>
              <a:buNone/>
            </a:pPr>
            <a:r>
              <a:rPr b="0" i="0" lang="en-US" sz="9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Chunking Trade-offs: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05" name="Google Shape;705;p27"/>
          <p:cNvGraphicFramePr/>
          <p:nvPr/>
        </p:nvGraphicFramePr>
        <p:xfrm>
          <a:off x="5122143" y="15201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{3B3E4DE5-BB9D-4D9E-814C-6277CECA3E85}</a:tableStyleId>
              </a:tblPr>
              <a:tblGrid>
                <a:gridCol w="1167650"/>
                <a:gridCol w="1167650"/>
                <a:gridCol w="1167650"/>
              </a:tblGrid>
              <a:tr h="263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Chunk size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04725" marL="104725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Ưu điểm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04725" marL="10472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Nhược điểm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04725" marL="10472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Nhỏ (128 tokens)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04725" marL="104725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Retrieval precise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04725" marL="10472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Mất context, nhiều chunk hơn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04725" marL="10472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Vừa (512 tokens)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04725" marL="104725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Cân bằng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04725" marL="10472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Phụ thuộc domain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04725" marL="10472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4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Lớn (1024+ tokens)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04725" marL="104725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Nhiều context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04725" marL="10472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Retrieval kém precise, embedding chất lượng thấp hơn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04725" marL="10472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06" name="Google Shape;706;p27"/>
          <p:cNvSpPr/>
          <p:nvPr/>
        </p:nvSpPr>
        <p:spPr>
          <a:xfrm>
            <a:off x="5122143" y="3133427"/>
            <a:ext cx="3502968" cy="154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900"/>
              <a:buFont typeface="Funnel Display"/>
              <a:buNone/>
            </a:pPr>
            <a:r>
              <a:rPr b="0" i="0" lang="en-US" sz="9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Nguyên tắc tối ưu: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27"/>
          <p:cNvSpPr/>
          <p:nvPr/>
        </p:nvSpPr>
        <p:spPr>
          <a:xfrm>
            <a:off x="5122143" y="3371180"/>
            <a:ext cx="3502968" cy="841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50"/>
              <a:buFont typeface="Funnel Sans"/>
              <a:buChar char="•"/>
            </a:pPr>
            <a:r>
              <a:rPr b="0" i="0" lang="en-US" sz="7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Bắt đầu với baseline đơn giản → đo → cải thiện từng bước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50"/>
              <a:buFont typeface="Funnel Sans"/>
              <a:buChar char="•"/>
            </a:pPr>
            <a:r>
              <a:rPr b="0" i="0" lang="en-US" sz="7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Tối ưu retriever cho recall trước, reranker cho precision sau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50"/>
              <a:buFont typeface="Funnel Sans"/>
              <a:buChar char="•"/>
            </a:pPr>
            <a:r>
              <a:rPr b="0" i="0" lang="en-US" sz="7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Đánh giá trên dữ liệu production thực tế — không phải synthetic data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50"/>
              <a:buFont typeface="Funnel Sans"/>
              <a:buChar char="•"/>
            </a:pPr>
            <a:r>
              <a:rPr b="0" i="0" lang="en-US" sz="7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Ghi log query, retrieved chunks, scores cho mỗi request — thiết yếu cho debug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27"/>
          <p:cNvSpPr/>
          <p:nvPr/>
        </p:nvSpPr>
        <p:spPr>
          <a:xfrm>
            <a:off x="680665" y="4430688"/>
            <a:ext cx="8396957" cy="150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50"/>
              <a:buFont typeface="Funnel Sans"/>
              <a:buNone/>
            </a:pPr>
            <a:r>
              <a:rPr b="0" i="0" lang="en-US" sz="7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Retrieval Engineering là công việc kỹ thuật liên tục — không phải cấu hình một lần.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27"/>
          <p:cNvSpPr/>
          <p:nvPr/>
        </p:nvSpPr>
        <p:spPr>
          <a:xfrm>
            <a:off x="523577" y="4336479"/>
            <a:ext cx="14288" cy="339179"/>
          </a:xfrm>
          <a:prstGeom prst="roundRect">
            <a:avLst>
              <a:gd fmla="val 49998" name="adj"/>
            </a:avLst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5EB"/>
        </a:solidFill>
      </p:bgPr>
    </p:bg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28"/>
          <p:cNvSpPr/>
          <p:nvPr/>
        </p:nvSpPr>
        <p:spPr>
          <a:xfrm>
            <a:off x="523577" y="380107"/>
            <a:ext cx="8096845" cy="1876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1150"/>
              <a:buFont typeface="Funnel Display"/>
              <a:buNone/>
            </a:pPr>
            <a:r>
              <a:rPr b="0" i="0" lang="en-US" sz="11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Mental Model — Từ Vector Space đến Production Retrieval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28"/>
          <p:cNvSpPr/>
          <p:nvPr/>
        </p:nvSpPr>
        <p:spPr>
          <a:xfrm>
            <a:off x="523577" y="645542"/>
            <a:ext cx="3970586" cy="93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550"/>
              <a:buFont typeface="Funnel Display"/>
              <a:buNone/>
            </a:pPr>
            <a:r>
              <a:rPr b="0" i="0" lang="en-US" sz="5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Hành trình đầy đủ: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28"/>
          <p:cNvSpPr/>
          <p:nvPr/>
        </p:nvSpPr>
        <p:spPr>
          <a:xfrm>
            <a:off x="523577" y="774353"/>
            <a:ext cx="198462" cy="328464"/>
          </a:xfrm>
          <a:prstGeom prst="roundRect">
            <a:avLst>
              <a:gd fmla="val 13506" name="adj"/>
            </a:avLst>
          </a:prstGeom>
          <a:solidFill>
            <a:srgbClr val="FAF5EB"/>
          </a:solidFill>
          <a:ln cap="flat" cmpd="sng" w="9525">
            <a:solidFill>
              <a:srgbClr val="D5CD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28"/>
          <p:cNvSpPr/>
          <p:nvPr/>
        </p:nvSpPr>
        <p:spPr>
          <a:xfrm>
            <a:off x="592113" y="882476"/>
            <a:ext cx="61392" cy="1121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50"/>
              <a:buFont typeface="Funnel Display"/>
              <a:buNone/>
            </a:pPr>
            <a:r>
              <a:rPr b="0" i="0" lang="en-US" sz="6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1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28"/>
          <p:cNvSpPr/>
          <p:nvPr/>
        </p:nvSpPr>
        <p:spPr>
          <a:xfrm>
            <a:off x="785813" y="838126"/>
            <a:ext cx="3644578" cy="93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550"/>
              <a:buFont typeface="Funnel Display"/>
              <a:buNone/>
            </a:pPr>
            <a:r>
              <a:rPr b="0" i="0" lang="en-US" sz="5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Evaluation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28"/>
          <p:cNvSpPr/>
          <p:nvPr/>
        </p:nvSpPr>
        <p:spPr>
          <a:xfrm>
            <a:off x="785813" y="963067"/>
            <a:ext cx="3644578" cy="759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Sans"/>
              <a:buNone/>
            </a:pPr>
            <a:r>
              <a:rPr b="0" i="0" lang="en-US" sz="4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Recall@K, Precision@K, MRR — đo lường liên tục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28"/>
          <p:cNvSpPr/>
          <p:nvPr/>
        </p:nvSpPr>
        <p:spPr>
          <a:xfrm>
            <a:off x="753889" y="1100435"/>
            <a:ext cx="3708425" cy="4763"/>
          </a:xfrm>
          <a:prstGeom prst="roundRect">
            <a:avLst>
              <a:gd fmla="val 49995" name="adj"/>
            </a:avLst>
          </a:prstGeom>
          <a:solidFill>
            <a:srgbClr val="D5CD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28"/>
          <p:cNvSpPr/>
          <p:nvPr/>
        </p:nvSpPr>
        <p:spPr>
          <a:xfrm>
            <a:off x="523577" y="1134666"/>
            <a:ext cx="396999" cy="328464"/>
          </a:xfrm>
          <a:prstGeom prst="roundRect">
            <a:avLst>
              <a:gd fmla="val 8160" name="adj"/>
            </a:avLst>
          </a:prstGeom>
          <a:solidFill>
            <a:srgbClr val="FAF5EB"/>
          </a:solidFill>
          <a:ln cap="flat" cmpd="sng" w="9525">
            <a:solidFill>
              <a:srgbClr val="D5CD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28"/>
          <p:cNvSpPr/>
          <p:nvPr/>
        </p:nvSpPr>
        <p:spPr>
          <a:xfrm>
            <a:off x="677168" y="1242789"/>
            <a:ext cx="89743" cy="1121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50"/>
              <a:buFont typeface="Funnel Display"/>
              <a:buNone/>
            </a:pPr>
            <a:r>
              <a:rPr b="0" i="0" lang="en-US" sz="6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2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28"/>
          <p:cNvSpPr/>
          <p:nvPr/>
        </p:nvSpPr>
        <p:spPr>
          <a:xfrm>
            <a:off x="984349" y="1198438"/>
            <a:ext cx="3446041" cy="93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550"/>
              <a:buFont typeface="Funnel Display"/>
              <a:buNone/>
            </a:pPr>
            <a:r>
              <a:rPr b="0" i="0" lang="en-US" sz="5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Reranking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28"/>
          <p:cNvSpPr/>
          <p:nvPr/>
        </p:nvSpPr>
        <p:spPr>
          <a:xfrm>
            <a:off x="984349" y="1323380"/>
            <a:ext cx="3446041" cy="759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Sans"/>
              <a:buNone/>
            </a:pPr>
            <a:r>
              <a:rPr b="0" i="0" lang="en-US" sz="4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Cross-encoder → precision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28"/>
          <p:cNvSpPr/>
          <p:nvPr/>
        </p:nvSpPr>
        <p:spPr>
          <a:xfrm>
            <a:off x="952426" y="1460748"/>
            <a:ext cx="3509888" cy="4763"/>
          </a:xfrm>
          <a:prstGeom prst="roundRect">
            <a:avLst>
              <a:gd fmla="val 49995" name="adj"/>
            </a:avLst>
          </a:prstGeom>
          <a:solidFill>
            <a:srgbClr val="D5CD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28"/>
          <p:cNvSpPr/>
          <p:nvPr/>
        </p:nvSpPr>
        <p:spPr>
          <a:xfrm>
            <a:off x="523577" y="1494979"/>
            <a:ext cx="595536" cy="328464"/>
          </a:xfrm>
          <a:prstGeom prst="roundRect">
            <a:avLst>
              <a:gd fmla="val 8160" name="adj"/>
            </a:avLst>
          </a:prstGeom>
          <a:solidFill>
            <a:srgbClr val="FAF5EB"/>
          </a:solidFill>
          <a:ln cap="flat" cmpd="sng" w="9525">
            <a:solidFill>
              <a:srgbClr val="D5CD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28"/>
          <p:cNvSpPr/>
          <p:nvPr/>
        </p:nvSpPr>
        <p:spPr>
          <a:xfrm>
            <a:off x="776436" y="1603102"/>
            <a:ext cx="89743" cy="1121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50"/>
              <a:buFont typeface="Funnel Display"/>
              <a:buNone/>
            </a:pPr>
            <a:r>
              <a:rPr b="0" i="0" lang="en-US" sz="6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3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28"/>
          <p:cNvSpPr/>
          <p:nvPr/>
        </p:nvSpPr>
        <p:spPr>
          <a:xfrm>
            <a:off x="1182886" y="1558751"/>
            <a:ext cx="3247504" cy="93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550"/>
              <a:buFont typeface="Funnel Display"/>
              <a:buNone/>
            </a:pPr>
            <a:r>
              <a:rPr b="0" i="0" lang="en-US" sz="5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Hybrid Search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28"/>
          <p:cNvSpPr/>
          <p:nvPr/>
        </p:nvSpPr>
        <p:spPr>
          <a:xfrm>
            <a:off x="1182886" y="1683693"/>
            <a:ext cx="3247504" cy="759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Sans"/>
              <a:buNone/>
            </a:pPr>
            <a:r>
              <a:rPr b="0" i="0" lang="en-US" sz="4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BM25 + vector — từ vựng + ngữ nghĩa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28"/>
          <p:cNvSpPr/>
          <p:nvPr/>
        </p:nvSpPr>
        <p:spPr>
          <a:xfrm>
            <a:off x="1150962" y="1821061"/>
            <a:ext cx="3311351" cy="4763"/>
          </a:xfrm>
          <a:prstGeom prst="roundRect">
            <a:avLst>
              <a:gd fmla="val 49995" name="adj"/>
            </a:avLst>
          </a:prstGeom>
          <a:solidFill>
            <a:srgbClr val="D5CD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28"/>
          <p:cNvSpPr/>
          <p:nvPr/>
        </p:nvSpPr>
        <p:spPr>
          <a:xfrm>
            <a:off x="523577" y="1855291"/>
            <a:ext cx="794072" cy="328464"/>
          </a:xfrm>
          <a:prstGeom prst="roundRect">
            <a:avLst>
              <a:gd fmla="val 8160" name="adj"/>
            </a:avLst>
          </a:prstGeom>
          <a:solidFill>
            <a:srgbClr val="FAF5EB"/>
          </a:solidFill>
          <a:ln cap="flat" cmpd="sng" w="9525">
            <a:solidFill>
              <a:srgbClr val="D5CD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28"/>
          <p:cNvSpPr/>
          <p:nvPr/>
        </p:nvSpPr>
        <p:spPr>
          <a:xfrm>
            <a:off x="875705" y="1963415"/>
            <a:ext cx="89743" cy="1121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50"/>
              <a:buFont typeface="Funnel Display"/>
              <a:buNone/>
            </a:pPr>
            <a:r>
              <a:rPr b="0" i="0" lang="en-US" sz="6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4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28"/>
          <p:cNvSpPr/>
          <p:nvPr/>
        </p:nvSpPr>
        <p:spPr>
          <a:xfrm>
            <a:off x="1381423" y="1919064"/>
            <a:ext cx="3048967" cy="93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550"/>
              <a:buFont typeface="Funnel Display"/>
              <a:buNone/>
            </a:pPr>
            <a:r>
              <a:rPr b="0" i="0" lang="en-US" sz="5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Metadata Filtering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28"/>
          <p:cNvSpPr/>
          <p:nvPr/>
        </p:nvSpPr>
        <p:spPr>
          <a:xfrm>
            <a:off x="1381423" y="2044005"/>
            <a:ext cx="3048967" cy="759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Sans"/>
              <a:buNone/>
            </a:pPr>
            <a:r>
              <a:rPr b="0" i="0" lang="en-US" sz="4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Ràng buộc nghiệp vụ + vector similarity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28"/>
          <p:cNvSpPr/>
          <p:nvPr/>
        </p:nvSpPr>
        <p:spPr>
          <a:xfrm>
            <a:off x="1349499" y="2181374"/>
            <a:ext cx="3112815" cy="4763"/>
          </a:xfrm>
          <a:prstGeom prst="roundRect">
            <a:avLst>
              <a:gd fmla="val 49995" name="adj"/>
            </a:avLst>
          </a:prstGeom>
          <a:solidFill>
            <a:srgbClr val="D5CD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28"/>
          <p:cNvSpPr/>
          <p:nvPr/>
        </p:nvSpPr>
        <p:spPr>
          <a:xfrm>
            <a:off x="523577" y="2215604"/>
            <a:ext cx="992609" cy="328464"/>
          </a:xfrm>
          <a:prstGeom prst="roundRect">
            <a:avLst>
              <a:gd fmla="val 8160" name="adj"/>
            </a:avLst>
          </a:prstGeom>
          <a:solidFill>
            <a:srgbClr val="FAF5EB"/>
          </a:solidFill>
          <a:ln cap="flat" cmpd="sng" w="9525">
            <a:solidFill>
              <a:srgbClr val="D5CD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28"/>
          <p:cNvSpPr/>
          <p:nvPr/>
        </p:nvSpPr>
        <p:spPr>
          <a:xfrm>
            <a:off x="974973" y="2323728"/>
            <a:ext cx="89743" cy="1121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50"/>
              <a:buFont typeface="Funnel Display"/>
              <a:buNone/>
            </a:pPr>
            <a:r>
              <a:rPr b="0" i="0" lang="en-US" sz="6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5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28"/>
          <p:cNvSpPr/>
          <p:nvPr/>
        </p:nvSpPr>
        <p:spPr>
          <a:xfrm>
            <a:off x="1579959" y="2279377"/>
            <a:ext cx="2850431" cy="93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550"/>
              <a:buFont typeface="Funnel Display"/>
              <a:buNone/>
            </a:pPr>
            <a:r>
              <a:rPr b="0" i="0" lang="en-US" sz="5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ANN (HNSW/IVFFlat)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28"/>
          <p:cNvSpPr/>
          <p:nvPr/>
        </p:nvSpPr>
        <p:spPr>
          <a:xfrm>
            <a:off x="1579959" y="2404318"/>
            <a:ext cx="2850431" cy="759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Sans"/>
              <a:buNone/>
            </a:pPr>
            <a:r>
              <a:rPr b="0" i="0" lang="en-US" sz="4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Scale lên corpus lớn — trade accuracy for speed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28"/>
          <p:cNvSpPr/>
          <p:nvPr/>
        </p:nvSpPr>
        <p:spPr>
          <a:xfrm>
            <a:off x="1548036" y="2541687"/>
            <a:ext cx="2914278" cy="4763"/>
          </a:xfrm>
          <a:prstGeom prst="roundRect">
            <a:avLst>
              <a:gd fmla="val 49995" name="adj"/>
            </a:avLst>
          </a:prstGeom>
          <a:solidFill>
            <a:srgbClr val="D5CD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28"/>
          <p:cNvSpPr/>
          <p:nvPr/>
        </p:nvSpPr>
        <p:spPr>
          <a:xfrm>
            <a:off x="523577" y="2575917"/>
            <a:ext cx="1191146" cy="328464"/>
          </a:xfrm>
          <a:prstGeom prst="roundRect">
            <a:avLst>
              <a:gd fmla="val 8160" name="adj"/>
            </a:avLst>
          </a:prstGeom>
          <a:solidFill>
            <a:srgbClr val="FAF5EB"/>
          </a:solidFill>
          <a:ln cap="flat" cmpd="sng" w="9525">
            <a:solidFill>
              <a:srgbClr val="D5CD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28"/>
          <p:cNvSpPr/>
          <p:nvPr/>
        </p:nvSpPr>
        <p:spPr>
          <a:xfrm>
            <a:off x="1074241" y="2684041"/>
            <a:ext cx="89743" cy="1121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50"/>
              <a:buFont typeface="Funnel Display"/>
              <a:buNone/>
            </a:pPr>
            <a:r>
              <a:rPr b="0" i="0" lang="en-US" sz="6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6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28"/>
          <p:cNvSpPr/>
          <p:nvPr/>
        </p:nvSpPr>
        <p:spPr>
          <a:xfrm>
            <a:off x="1778496" y="2639690"/>
            <a:ext cx="2651894" cy="93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550"/>
              <a:buFont typeface="Funnel Display"/>
              <a:buNone/>
            </a:pPr>
            <a:r>
              <a:rPr b="0" i="0" lang="en-US" sz="5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Semantic Search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28"/>
          <p:cNvSpPr/>
          <p:nvPr/>
        </p:nvSpPr>
        <p:spPr>
          <a:xfrm>
            <a:off x="1778496" y="2764631"/>
            <a:ext cx="2651894" cy="759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Sans"/>
              <a:buNone/>
            </a:pPr>
            <a:r>
              <a:rPr b="0" i="0" lang="en-US" sz="4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Query vector → similarity search → Top-K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28"/>
          <p:cNvSpPr/>
          <p:nvPr/>
        </p:nvSpPr>
        <p:spPr>
          <a:xfrm>
            <a:off x="1746572" y="2902000"/>
            <a:ext cx="2715741" cy="4763"/>
          </a:xfrm>
          <a:prstGeom prst="roundRect">
            <a:avLst>
              <a:gd fmla="val 49995" name="adj"/>
            </a:avLst>
          </a:prstGeom>
          <a:solidFill>
            <a:srgbClr val="D5CD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28"/>
          <p:cNvSpPr/>
          <p:nvPr/>
        </p:nvSpPr>
        <p:spPr>
          <a:xfrm>
            <a:off x="523577" y="2936230"/>
            <a:ext cx="1389683" cy="328464"/>
          </a:xfrm>
          <a:prstGeom prst="roundRect">
            <a:avLst>
              <a:gd fmla="val 8160" name="adj"/>
            </a:avLst>
          </a:prstGeom>
          <a:solidFill>
            <a:srgbClr val="FAF5EB"/>
          </a:solidFill>
          <a:ln cap="flat" cmpd="sng" w="9525">
            <a:solidFill>
              <a:srgbClr val="D5CD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28"/>
          <p:cNvSpPr/>
          <p:nvPr/>
        </p:nvSpPr>
        <p:spPr>
          <a:xfrm>
            <a:off x="1173510" y="3044354"/>
            <a:ext cx="89743" cy="1121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50"/>
              <a:buFont typeface="Funnel Display"/>
              <a:buNone/>
            </a:pPr>
            <a:r>
              <a:rPr b="0" i="0" lang="en-US" sz="6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7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28"/>
          <p:cNvSpPr/>
          <p:nvPr/>
        </p:nvSpPr>
        <p:spPr>
          <a:xfrm>
            <a:off x="1977033" y="3000003"/>
            <a:ext cx="2453357" cy="93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550"/>
              <a:buFont typeface="Funnel Display"/>
              <a:buNone/>
            </a:pPr>
            <a:r>
              <a:rPr b="0" i="0" lang="en-US" sz="5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Similarity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28"/>
          <p:cNvSpPr/>
          <p:nvPr/>
        </p:nvSpPr>
        <p:spPr>
          <a:xfrm>
            <a:off x="1977033" y="3124944"/>
            <a:ext cx="2453357" cy="759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Sans"/>
              <a:buNone/>
            </a:pPr>
            <a:r>
              <a:rPr b="0" i="0" lang="en-US" sz="4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Cosine, Dot Product, Euclidean — metric phải khớp với model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28"/>
          <p:cNvSpPr/>
          <p:nvPr/>
        </p:nvSpPr>
        <p:spPr>
          <a:xfrm>
            <a:off x="1945109" y="3262312"/>
            <a:ext cx="2517204" cy="4763"/>
          </a:xfrm>
          <a:prstGeom prst="roundRect">
            <a:avLst>
              <a:gd fmla="val 49995" name="adj"/>
            </a:avLst>
          </a:prstGeom>
          <a:solidFill>
            <a:srgbClr val="D5CD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28"/>
          <p:cNvSpPr/>
          <p:nvPr/>
        </p:nvSpPr>
        <p:spPr>
          <a:xfrm>
            <a:off x="523577" y="3296543"/>
            <a:ext cx="1588219" cy="328464"/>
          </a:xfrm>
          <a:prstGeom prst="roundRect">
            <a:avLst>
              <a:gd fmla="val 8160" name="adj"/>
            </a:avLst>
          </a:prstGeom>
          <a:solidFill>
            <a:srgbClr val="FAF5EB"/>
          </a:solidFill>
          <a:ln cap="flat" cmpd="sng" w="9525">
            <a:solidFill>
              <a:srgbClr val="D5CD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28"/>
          <p:cNvSpPr/>
          <p:nvPr/>
        </p:nvSpPr>
        <p:spPr>
          <a:xfrm>
            <a:off x="1272778" y="3404667"/>
            <a:ext cx="89743" cy="1121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50"/>
              <a:buFont typeface="Funnel Display"/>
              <a:buNone/>
            </a:pPr>
            <a:r>
              <a:rPr b="0" i="0" lang="en-US" sz="6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8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28"/>
          <p:cNvSpPr/>
          <p:nvPr/>
        </p:nvSpPr>
        <p:spPr>
          <a:xfrm>
            <a:off x="2175570" y="3360316"/>
            <a:ext cx="2254821" cy="93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550"/>
              <a:buFont typeface="Funnel Display"/>
              <a:buNone/>
            </a:pPr>
            <a:r>
              <a:rPr b="0" i="0" lang="en-US" sz="5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Embedding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28"/>
          <p:cNvSpPr/>
          <p:nvPr/>
        </p:nvSpPr>
        <p:spPr>
          <a:xfrm>
            <a:off x="2175570" y="3485257"/>
            <a:ext cx="2254821" cy="759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Sans"/>
              <a:buNone/>
            </a:pPr>
            <a:r>
              <a:rPr b="0" i="0" lang="en-US" sz="4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Biểu diễn được học — mẫu thống kê từ dữ liệu huấn luyện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28"/>
          <p:cNvSpPr/>
          <p:nvPr/>
        </p:nvSpPr>
        <p:spPr>
          <a:xfrm>
            <a:off x="2143646" y="3622625"/>
            <a:ext cx="2318668" cy="4763"/>
          </a:xfrm>
          <a:prstGeom prst="roundRect">
            <a:avLst>
              <a:gd fmla="val 49995" name="adj"/>
            </a:avLst>
          </a:prstGeom>
          <a:solidFill>
            <a:srgbClr val="D5CD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28"/>
          <p:cNvSpPr/>
          <p:nvPr/>
        </p:nvSpPr>
        <p:spPr>
          <a:xfrm>
            <a:off x="523577" y="3656856"/>
            <a:ext cx="1786756" cy="328464"/>
          </a:xfrm>
          <a:prstGeom prst="roundRect">
            <a:avLst>
              <a:gd fmla="val 8160" name="adj"/>
            </a:avLst>
          </a:prstGeom>
          <a:solidFill>
            <a:srgbClr val="FAF5EB"/>
          </a:solidFill>
          <a:ln cap="flat" cmpd="sng" w="9525">
            <a:solidFill>
              <a:srgbClr val="D5CD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28"/>
          <p:cNvSpPr/>
          <p:nvPr/>
        </p:nvSpPr>
        <p:spPr>
          <a:xfrm>
            <a:off x="1372046" y="3764979"/>
            <a:ext cx="89743" cy="1121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50"/>
              <a:buFont typeface="Funnel Display"/>
              <a:buNone/>
            </a:pPr>
            <a:r>
              <a:rPr b="0" i="0" lang="en-US" sz="6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9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28"/>
          <p:cNvSpPr/>
          <p:nvPr/>
        </p:nvSpPr>
        <p:spPr>
          <a:xfrm>
            <a:off x="2374106" y="3720629"/>
            <a:ext cx="2056284" cy="93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550"/>
              <a:buFont typeface="Funnel Display"/>
              <a:buNone/>
            </a:pPr>
            <a:r>
              <a:rPr b="0" i="0" lang="en-US" sz="5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Representation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28"/>
          <p:cNvSpPr/>
          <p:nvPr/>
        </p:nvSpPr>
        <p:spPr>
          <a:xfrm>
            <a:off x="2374106" y="3845570"/>
            <a:ext cx="2056284" cy="759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Sans"/>
              <a:buNone/>
            </a:pPr>
            <a:r>
              <a:rPr b="0" i="0" lang="en-US" sz="4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Object → vector — text, image, product, user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28"/>
          <p:cNvSpPr/>
          <p:nvPr/>
        </p:nvSpPr>
        <p:spPr>
          <a:xfrm>
            <a:off x="2342183" y="3982938"/>
            <a:ext cx="2120131" cy="4763"/>
          </a:xfrm>
          <a:prstGeom prst="roundRect">
            <a:avLst>
              <a:gd fmla="val 49995" name="adj"/>
            </a:avLst>
          </a:prstGeom>
          <a:solidFill>
            <a:srgbClr val="D5CD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28"/>
          <p:cNvSpPr/>
          <p:nvPr/>
        </p:nvSpPr>
        <p:spPr>
          <a:xfrm>
            <a:off x="523577" y="4017169"/>
            <a:ext cx="1985293" cy="328464"/>
          </a:xfrm>
          <a:prstGeom prst="roundRect">
            <a:avLst>
              <a:gd fmla="val 8160" name="adj"/>
            </a:avLst>
          </a:prstGeom>
          <a:solidFill>
            <a:srgbClr val="FAF5EB"/>
          </a:solidFill>
          <a:ln cap="flat" cmpd="sng" w="9525">
            <a:solidFill>
              <a:srgbClr val="D5CD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28"/>
          <p:cNvSpPr/>
          <p:nvPr/>
        </p:nvSpPr>
        <p:spPr>
          <a:xfrm>
            <a:off x="1471315" y="4125292"/>
            <a:ext cx="89743" cy="1121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50"/>
              <a:buFont typeface="Funnel Display"/>
              <a:buNone/>
            </a:pPr>
            <a:r>
              <a:rPr b="0" i="0" lang="en-US" sz="6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10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28"/>
          <p:cNvSpPr/>
          <p:nvPr/>
        </p:nvSpPr>
        <p:spPr>
          <a:xfrm>
            <a:off x="2572643" y="4080942"/>
            <a:ext cx="1857747" cy="93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550"/>
              <a:buFont typeface="Funnel Display"/>
              <a:buNone/>
            </a:pPr>
            <a:r>
              <a:rPr b="0" i="0" lang="en-US" sz="5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Vector Space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28"/>
          <p:cNvSpPr/>
          <p:nvPr/>
        </p:nvSpPr>
        <p:spPr>
          <a:xfrm>
            <a:off x="2572643" y="4205883"/>
            <a:ext cx="1857747" cy="759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Sans"/>
              <a:buNone/>
            </a:pPr>
            <a:r>
              <a:rPr b="0" i="0" lang="en-US" sz="4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Không gian toán học — điểm có vị trí và quan hệ hình học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28"/>
          <p:cNvSpPr/>
          <p:nvPr/>
        </p:nvSpPr>
        <p:spPr>
          <a:xfrm>
            <a:off x="4654600" y="645542"/>
            <a:ext cx="3970586" cy="93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550"/>
              <a:buFont typeface="Funnel Display"/>
              <a:buNone/>
            </a:pPr>
            <a:r>
              <a:rPr b="0" i="0" lang="en-US" sz="5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5 Takeaways quan trọng nhất: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28"/>
          <p:cNvSpPr/>
          <p:nvPr/>
        </p:nvSpPr>
        <p:spPr>
          <a:xfrm>
            <a:off x="4654600" y="774353"/>
            <a:ext cx="143545" cy="143545"/>
          </a:xfrm>
          <a:prstGeom prst="roundRect">
            <a:avLst>
              <a:gd fmla="val 18673" name="adj"/>
            </a:avLst>
          </a:prstGeom>
          <a:solidFill>
            <a:srgbClr val="FAF5EB"/>
          </a:solidFill>
          <a:ln cap="flat" cmpd="sng" w="9525">
            <a:solidFill>
              <a:srgbClr val="D5CD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28"/>
          <p:cNvSpPr/>
          <p:nvPr/>
        </p:nvSpPr>
        <p:spPr>
          <a:xfrm>
            <a:off x="4681314" y="789794"/>
            <a:ext cx="90041" cy="112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50"/>
              <a:buFont typeface="Funnel Display"/>
              <a:buNone/>
            </a:pPr>
            <a:r>
              <a:rPr b="0" i="0" lang="en-US" sz="6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1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28"/>
          <p:cNvSpPr/>
          <p:nvPr/>
        </p:nvSpPr>
        <p:spPr>
          <a:xfrm>
            <a:off x="4829249" y="796230"/>
            <a:ext cx="3795936" cy="93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550"/>
              <a:buFont typeface="Funnel Display"/>
              <a:buNone/>
            </a:pPr>
            <a:r>
              <a:rPr b="0" i="0" lang="en-US" sz="5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Vector là representation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28"/>
          <p:cNvSpPr/>
          <p:nvPr/>
        </p:nvSpPr>
        <p:spPr>
          <a:xfrm>
            <a:off x="4829249" y="921172"/>
            <a:ext cx="3795936" cy="759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Sans"/>
              <a:buNone/>
            </a:pPr>
            <a:r>
              <a:rPr b="0" i="0" lang="en-US" sz="4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Trong một không gian — vị trí có ý nghĩa vì được học từ dữ liệu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28"/>
          <p:cNvSpPr/>
          <p:nvPr/>
        </p:nvSpPr>
        <p:spPr>
          <a:xfrm>
            <a:off x="4654600" y="1059359"/>
            <a:ext cx="143545" cy="143545"/>
          </a:xfrm>
          <a:prstGeom prst="roundRect">
            <a:avLst>
              <a:gd fmla="val 18673" name="adj"/>
            </a:avLst>
          </a:prstGeom>
          <a:solidFill>
            <a:srgbClr val="FAF5EB"/>
          </a:solidFill>
          <a:ln cap="flat" cmpd="sng" w="9525">
            <a:solidFill>
              <a:srgbClr val="D5CD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28"/>
          <p:cNvSpPr/>
          <p:nvPr/>
        </p:nvSpPr>
        <p:spPr>
          <a:xfrm>
            <a:off x="4681314" y="1074800"/>
            <a:ext cx="90041" cy="112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50"/>
              <a:buFont typeface="Funnel Display"/>
              <a:buNone/>
            </a:pPr>
            <a:r>
              <a:rPr b="0" i="0" lang="en-US" sz="6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2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28"/>
          <p:cNvSpPr/>
          <p:nvPr/>
        </p:nvSpPr>
        <p:spPr>
          <a:xfrm>
            <a:off x="4829249" y="1081236"/>
            <a:ext cx="3795936" cy="93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550"/>
              <a:buFont typeface="Funnel Display"/>
              <a:buNone/>
            </a:pPr>
            <a:r>
              <a:rPr b="0" i="0" lang="en-US" sz="5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Embedding nắm bắt mẫu thống kê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28"/>
          <p:cNvSpPr/>
          <p:nvPr/>
        </p:nvSpPr>
        <p:spPr>
          <a:xfrm>
            <a:off x="4829249" y="1206178"/>
            <a:ext cx="3795936" cy="759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Sans"/>
              <a:buNone/>
            </a:pPr>
            <a:r>
              <a:rPr b="0" i="0" lang="en-US" sz="4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Không phải "hiểu ngôn ngữ" theo nghĩa con người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28"/>
          <p:cNvSpPr/>
          <p:nvPr/>
        </p:nvSpPr>
        <p:spPr>
          <a:xfrm>
            <a:off x="4654600" y="1344364"/>
            <a:ext cx="143545" cy="143545"/>
          </a:xfrm>
          <a:prstGeom prst="roundRect">
            <a:avLst>
              <a:gd fmla="val 18673" name="adj"/>
            </a:avLst>
          </a:prstGeom>
          <a:solidFill>
            <a:srgbClr val="FAF5EB"/>
          </a:solidFill>
          <a:ln cap="flat" cmpd="sng" w="9525">
            <a:solidFill>
              <a:srgbClr val="D5CD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28"/>
          <p:cNvSpPr/>
          <p:nvPr/>
        </p:nvSpPr>
        <p:spPr>
          <a:xfrm>
            <a:off x="4681314" y="1359805"/>
            <a:ext cx="90041" cy="112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50"/>
              <a:buFont typeface="Funnel Display"/>
              <a:buNone/>
            </a:pPr>
            <a:r>
              <a:rPr b="0" i="0" lang="en-US" sz="6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3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28"/>
          <p:cNvSpPr/>
          <p:nvPr/>
        </p:nvSpPr>
        <p:spPr>
          <a:xfrm>
            <a:off x="4829249" y="1366242"/>
            <a:ext cx="3795936" cy="93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550"/>
              <a:buFont typeface="Funnel Display"/>
              <a:buNone/>
            </a:pPr>
            <a:r>
              <a:rPr b="0" i="0" lang="en-US" sz="5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Similarity phụ thuộc cả model VÀ metric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28"/>
          <p:cNvSpPr/>
          <p:nvPr/>
        </p:nvSpPr>
        <p:spPr>
          <a:xfrm>
            <a:off x="4829249" y="1491183"/>
            <a:ext cx="3795936" cy="759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Sans"/>
              <a:buNone/>
            </a:pPr>
            <a:r>
              <a:rPr b="0" i="0" lang="en-US" sz="4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Chọn sai metric → retrieval kém dù model tốt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28"/>
          <p:cNvSpPr/>
          <p:nvPr/>
        </p:nvSpPr>
        <p:spPr>
          <a:xfrm>
            <a:off x="4654600" y="1629370"/>
            <a:ext cx="143545" cy="143545"/>
          </a:xfrm>
          <a:prstGeom prst="roundRect">
            <a:avLst>
              <a:gd fmla="val 18673" name="adj"/>
            </a:avLst>
          </a:prstGeom>
          <a:solidFill>
            <a:srgbClr val="FAF5EB"/>
          </a:solidFill>
          <a:ln cap="flat" cmpd="sng" w="9525">
            <a:solidFill>
              <a:srgbClr val="D5CD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28"/>
          <p:cNvSpPr/>
          <p:nvPr/>
        </p:nvSpPr>
        <p:spPr>
          <a:xfrm>
            <a:off x="4681314" y="1644811"/>
            <a:ext cx="90041" cy="112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50"/>
              <a:buFont typeface="Funnel Display"/>
              <a:buNone/>
            </a:pPr>
            <a:r>
              <a:rPr b="0" i="0" lang="en-US" sz="6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4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28"/>
          <p:cNvSpPr/>
          <p:nvPr/>
        </p:nvSpPr>
        <p:spPr>
          <a:xfrm>
            <a:off x="4829249" y="1651248"/>
            <a:ext cx="3795936" cy="93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550"/>
              <a:buFont typeface="Funnel Display"/>
              <a:buNone/>
            </a:pPr>
            <a:r>
              <a:rPr b="0" i="0" lang="en-US" sz="5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ANN trade accuracy for speed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28"/>
          <p:cNvSpPr/>
          <p:nvPr/>
        </p:nvSpPr>
        <p:spPr>
          <a:xfrm>
            <a:off x="4829249" y="1776189"/>
            <a:ext cx="3795936" cy="759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Sans"/>
              <a:buNone/>
            </a:pPr>
            <a:r>
              <a:rPr b="0" i="0" lang="en-US" sz="4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Recall có thể điều chỉnh qua tham số index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28"/>
          <p:cNvSpPr/>
          <p:nvPr/>
        </p:nvSpPr>
        <p:spPr>
          <a:xfrm>
            <a:off x="4654600" y="1914376"/>
            <a:ext cx="143545" cy="143545"/>
          </a:xfrm>
          <a:prstGeom prst="roundRect">
            <a:avLst>
              <a:gd fmla="val 18673" name="adj"/>
            </a:avLst>
          </a:prstGeom>
          <a:solidFill>
            <a:srgbClr val="FAF5EB"/>
          </a:solidFill>
          <a:ln cap="flat" cmpd="sng" w="9525">
            <a:solidFill>
              <a:srgbClr val="D5CD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28"/>
          <p:cNvSpPr/>
          <p:nvPr/>
        </p:nvSpPr>
        <p:spPr>
          <a:xfrm>
            <a:off x="4681314" y="1929817"/>
            <a:ext cx="90041" cy="112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50"/>
              <a:buFont typeface="Funnel Display"/>
              <a:buNone/>
            </a:pPr>
            <a:r>
              <a:rPr b="0" i="0" lang="en-US" sz="6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5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28"/>
          <p:cNvSpPr/>
          <p:nvPr/>
        </p:nvSpPr>
        <p:spPr>
          <a:xfrm>
            <a:off x="4829249" y="1936254"/>
            <a:ext cx="3795936" cy="93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550"/>
              <a:buFont typeface="Funnel Display"/>
              <a:buNone/>
            </a:pPr>
            <a:r>
              <a:rPr b="0" i="0" lang="en-US" sz="5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Production retrieval = full stack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28"/>
          <p:cNvSpPr/>
          <p:nvPr/>
        </p:nvSpPr>
        <p:spPr>
          <a:xfrm>
            <a:off x="4829249" y="2061195"/>
            <a:ext cx="3795936" cy="759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Sans"/>
              <a:buNone/>
            </a:pPr>
            <a:r>
              <a:rPr b="0" i="0" lang="en-US" sz="4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Filtering + hybrid + reranking + evaluation — không chỉ vector DB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28"/>
          <p:cNvSpPr/>
          <p:nvPr/>
        </p:nvSpPr>
        <p:spPr>
          <a:xfrm>
            <a:off x="619274" y="4450556"/>
            <a:ext cx="8458349" cy="759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Sans"/>
              <a:buNone/>
            </a:pPr>
            <a:r>
              <a:rPr b="0" i="1" lang="en-US" sz="4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"Retrieval Engineering is not simply 'put text into a vector database'. It's a full engineering discipline."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28"/>
          <p:cNvSpPr/>
          <p:nvPr/>
        </p:nvSpPr>
        <p:spPr>
          <a:xfrm>
            <a:off x="523577" y="4415582"/>
            <a:ext cx="9525" cy="145926"/>
          </a:xfrm>
          <a:prstGeom prst="roundRect">
            <a:avLst>
              <a:gd fmla="val 50000" name="adj"/>
            </a:avLst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28"/>
          <p:cNvSpPr/>
          <p:nvPr/>
        </p:nvSpPr>
        <p:spPr>
          <a:xfrm>
            <a:off x="523577" y="4596482"/>
            <a:ext cx="8096845" cy="166911"/>
          </a:xfrm>
          <a:prstGeom prst="roundRect">
            <a:avLst>
              <a:gd fmla="val 16059" name="adj"/>
            </a:avLst>
          </a:prstGeom>
          <a:solidFill>
            <a:srgbClr val="D8E7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90" name="Google Shape;79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7350" y="4643512"/>
            <a:ext cx="79772" cy="63773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p28"/>
          <p:cNvSpPr/>
          <p:nvPr/>
        </p:nvSpPr>
        <p:spPr>
          <a:xfrm>
            <a:off x="730895" y="4643512"/>
            <a:ext cx="8282955" cy="759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Funnel Sans"/>
              <a:buNone/>
            </a:pPr>
            <a:r>
              <a:rPr b="1" i="0" lang="en-US" sz="450" u="none" cap="none" strike="noStrike">
                <a:solidFill>
                  <a:srgbClr val="000000"/>
                </a:solidFill>
                <a:latin typeface="Funnel Sans"/>
                <a:ea typeface="Funnel Sans"/>
                <a:cs typeface="Funnel Sans"/>
                <a:sym typeface="Funnel Sans"/>
              </a:rPr>
              <a:t>Tuần 7:</a:t>
            </a:r>
            <a:r>
              <a:rPr b="0" i="0" lang="en-US" sz="450" u="none" cap="none" strike="noStrike">
                <a:solidFill>
                  <a:srgbClr val="000000"/>
                </a:solidFill>
                <a:latin typeface="Funnel Sans"/>
                <a:ea typeface="Funnel Sans"/>
                <a:cs typeface="Funnel Sans"/>
                <a:sym typeface="Funnel Sans"/>
              </a:rPr>
              <a:t> Advanced RAG — Query Transformation, HyDE, Parent-Child Retrieval, Context Compression, Production Architecture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5EB"/>
        </a:solidFill>
      </p:bgPr>
    </p:bg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29"/>
          <p:cNvSpPr/>
          <p:nvPr/>
        </p:nvSpPr>
        <p:spPr>
          <a:xfrm>
            <a:off x="523577" y="387995"/>
            <a:ext cx="8096845" cy="2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1750"/>
              <a:buFont typeface="Funnel Display"/>
              <a:buNone/>
            </a:pPr>
            <a:r>
              <a:rPr b="0" i="0" lang="en-US" sz="17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Query Transformation — Cải thiện Query trước khi Search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29"/>
          <p:cNvSpPr/>
          <p:nvPr/>
        </p:nvSpPr>
        <p:spPr>
          <a:xfrm>
            <a:off x="523577" y="850553"/>
            <a:ext cx="3930551" cy="1421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850"/>
              <a:buFont typeface="Funnel Display"/>
              <a:buNone/>
            </a:pPr>
            <a:r>
              <a:rPr b="0" i="0" lang="en-US" sz="8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Tại sao cần Query Transformation?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29"/>
          <p:cNvSpPr/>
          <p:nvPr/>
        </p:nvSpPr>
        <p:spPr>
          <a:xfrm>
            <a:off x="668536" y="1137047"/>
            <a:ext cx="4242792" cy="13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00"/>
              <a:buFont typeface="Funnel Sans"/>
              <a:buNone/>
            </a:pPr>
            <a:r>
              <a:rPr b="0" i="0" lang="en-US" sz="7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User query thường ngắn, mơ hồ, hoặc không khớp với cách tài liệu được viết.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29"/>
          <p:cNvSpPr/>
          <p:nvPr/>
        </p:nvSpPr>
        <p:spPr>
          <a:xfrm>
            <a:off x="523577" y="1072902"/>
            <a:ext cx="14288" cy="262682"/>
          </a:xfrm>
          <a:prstGeom prst="roundRect">
            <a:avLst>
              <a:gd fmla="val 49998" name="adj"/>
            </a:avLst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29"/>
          <p:cNvSpPr/>
          <p:nvPr/>
        </p:nvSpPr>
        <p:spPr>
          <a:xfrm>
            <a:off x="523577" y="1415802"/>
            <a:ext cx="3930551" cy="4530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42240" lvl="0" marL="14224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00"/>
              <a:buFont typeface="Funnel Sans"/>
              <a:buChar char="•"/>
            </a:pPr>
            <a:r>
              <a:rPr b="0" i="0" lang="en-US" sz="7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Query ngắn → embedding kém representative → retrieval kém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240" lvl="0" marL="14224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00"/>
              <a:buFont typeface="Funnel Sans"/>
              <a:buChar char="•"/>
            </a:pPr>
            <a:r>
              <a:rPr b="0" i="0" lang="en-US" sz="7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User dùng từ khác với từ trong tài liệu → semantic gap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240" lvl="0" marL="14224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00"/>
              <a:buFont typeface="Funnel Sans"/>
              <a:buChar char="•"/>
            </a:pPr>
            <a:r>
              <a:rPr b="0" i="0" lang="en-US" sz="7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Một query có thể có nhiều intent khác nhau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29"/>
          <p:cNvSpPr/>
          <p:nvPr/>
        </p:nvSpPr>
        <p:spPr>
          <a:xfrm>
            <a:off x="523577" y="1940123"/>
            <a:ext cx="3930551" cy="1421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850"/>
              <a:buFont typeface="Funnel Display"/>
              <a:buNone/>
            </a:pPr>
            <a:r>
              <a:rPr b="0" i="0" lang="en-US" sz="8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Các kỹ thuật: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03" name="Google Shape;803;p29"/>
          <p:cNvGraphicFramePr/>
          <p:nvPr/>
        </p:nvGraphicFramePr>
        <p:xfrm>
          <a:off x="523577" y="216247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{3B3E4DE5-BB9D-4D9E-814C-6277CECA3E85}</a:tableStyleId>
              </a:tblPr>
              <a:tblGrid>
                <a:gridCol w="1310175"/>
                <a:gridCol w="1310175"/>
                <a:gridCol w="1310175"/>
              </a:tblGrid>
              <a:tr h="231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Kỹ thuật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6650" marL="96650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Mô tả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6650" marL="9665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Ví dụ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6650" marL="9665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Query Rewriting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6650" marL="96650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Viết lại query rõ ràng hơn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6650" marL="9665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"reset pw" → "How to reset account password?"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6650" marL="9665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3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Query Expansion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6650" marL="96650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Thêm từ đồng nghĩa / liên quan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6650" marL="9665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"password" → "password, credentials, login, authentication"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6650" marL="9665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Multi-query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6650" marL="96650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Tạo nhiều query → gộp kết quả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6650" marL="9665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3 cách diễn đạt khác nhau → union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6650" marL="9665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HyDE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6650" marL="96650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Tạo câu trả lời giả định → embed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6650" marL="9665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Generate hypothetical doc → use its embedding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96650" marL="9665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04" name="Google Shape;804;p29"/>
          <p:cNvSpPr/>
          <p:nvPr/>
        </p:nvSpPr>
        <p:spPr>
          <a:xfrm>
            <a:off x="4694634" y="850553"/>
            <a:ext cx="3930551" cy="1421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850"/>
              <a:buFont typeface="Funnel Display"/>
              <a:buNone/>
            </a:pPr>
            <a:r>
              <a:rPr b="0" i="0" lang="en-US" sz="8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Ví dụ code — Multi-query retrieval: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29"/>
          <p:cNvSpPr/>
          <p:nvPr/>
        </p:nvSpPr>
        <p:spPr>
          <a:xfrm>
            <a:off x="4694634" y="1072902"/>
            <a:ext cx="3930551" cy="2512665"/>
          </a:xfrm>
          <a:prstGeom prst="roundRect">
            <a:avLst>
              <a:gd fmla="val 1616" name="adj"/>
            </a:avLst>
          </a:prstGeom>
          <a:solidFill>
            <a:srgbClr val="EDE8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29"/>
          <p:cNvSpPr/>
          <p:nvPr/>
        </p:nvSpPr>
        <p:spPr>
          <a:xfrm>
            <a:off x="4810571" y="1169491"/>
            <a:ext cx="3698677" cy="2319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def transform_query(query: str, llm) -&gt; list[str]: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  prompt = f"""Generate 3 alternative phrasings 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  for this search query: {query}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  Return as JSON list."""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  alternatives = llm.generate(prompt)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  return [query] + alternatives  # original + expanded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# Retrieve với mỗi query → union kết quả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all_results = []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for q in transform_query(user_query, llm):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  results = vector_search(q, top_k=10)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  all_results.extend(results)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# Deduplicate và rerank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final = reranker.rank(user_query, deduplicate(all_results))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29"/>
          <p:cNvSpPr/>
          <p:nvPr/>
        </p:nvSpPr>
        <p:spPr>
          <a:xfrm>
            <a:off x="4694634" y="3665786"/>
            <a:ext cx="3930551" cy="1421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850"/>
              <a:buFont typeface="Funnel Display"/>
              <a:buNone/>
            </a:pPr>
            <a:r>
              <a:rPr b="0" i="0" lang="en-US" sz="8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HyDE — Hypothetical Document Embeddings: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29"/>
          <p:cNvSpPr/>
          <p:nvPr/>
        </p:nvSpPr>
        <p:spPr>
          <a:xfrm>
            <a:off x="4694634" y="3879205"/>
            <a:ext cx="3930551" cy="4530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42240" lvl="0" marL="14224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00"/>
              <a:buFont typeface="Funnel Sans"/>
              <a:buChar char="•"/>
            </a:pPr>
            <a:r>
              <a:rPr b="0" i="0" lang="en-US" sz="7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Tạo câu trả lời giả định cho query → embed câu trả lời đó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240" lvl="0" marL="14224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00"/>
              <a:buFont typeface="Funnel Sans"/>
              <a:buChar char="•"/>
            </a:pPr>
            <a:r>
              <a:rPr b="0" i="0" lang="en-US" sz="7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Câu trả lời giả định thường gần với tài liệu thực hơn query ngắn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240" lvl="0" marL="14224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00"/>
              <a:buFont typeface="Funnel Sans"/>
              <a:buChar char="•"/>
            </a:pPr>
            <a:r>
              <a:rPr b="0" i="0" lang="en-US" sz="7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Hữu ích khi query rất ngắn hoặc mơ hồ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29"/>
          <p:cNvSpPr/>
          <p:nvPr/>
        </p:nvSpPr>
        <p:spPr>
          <a:xfrm>
            <a:off x="523577" y="4437385"/>
            <a:ext cx="8096845" cy="318046"/>
          </a:xfrm>
          <a:prstGeom prst="roundRect">
            <a:avLst>
              <a:gd fmla="val 12763" name="adj"/>
            </a:avLst>
          </a:prstGeom>
          <a:solidFill>
            <a:srgbClr val="FCF2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10" name="Google Shape;81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167" y="4538737"/>
            <a:ext cx="120774" cy="96589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29"/>
          <p:cNvSpPr/>
          <p:nvPr/>
        </p:nvSpPr>
        <p:spPr>
          <a:xfrm>
            <a:off x="837530" y="4532784"/>
            <a:ext cx="8143503" cy="13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Funnel Sans"/>
              <a:buNone/>
            </a:pPr>
            <a:r>
              <a:rPr b="0" i="0" lang="en-US" sz="700" u="none" cap="none" strike="noStrike">
                <a:solidFill>
                  <a:srgbClr val="000000"/>
                </a:solidFill>
                <a:latin typeface="Funnel Sans"/>
                <a:ea typeface="Funnel Sans"/>
                <a:cs typeface="Funnel Sans"/>
                <a:sym typeface="Funnel Sans"/>
              </a:rPr>
              <a:t>Query transformation thêm latency — cân nhắc khi SLA nghiêm ngặt.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5EB"/>
        </a:solidFill>
      </p:bgPr>
    </p:bg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30"/>
          <p:cNvSpPr/>
          <p:nvPr/>
        </p:nvSpPr>
        <p:spPr>
          <a:xfrm>
            <a:off x="523577" y="383307"/>
            <a:ext cx="8096845" cy="234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1450"/>
              <a:buFont typeface="Funnel Display"/>
              <a:buNone/>
            </a:pPr>
            <a:r>
              <a:rPr b="0" i="0" lang="en-US" sz="14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End-to-End Retrieval Pipeline — Kiến trúc Production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30"/>
          <p:cNvSpPr/>
          <p:nvPr/>
        </p:nvSpPr>
        <p:spPr>
          <a:xfrm>
            <a:off x="523577" y="715045"/>
            <a:ext cx="8554045" cy="1026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Sans"/>
              <a:buNone/>
            </a:pPr>
            <a:r>
              <a:rPr b="0" i="0" lang="en-US" sz="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Pipeline retrieval production kết hợp tất cả các kỹ thuật đã học.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30"/>
          <p:cNvSpPr/>
          <p:nvPr/>
        </p:nvSpPr>
        <p:spPr>
          <a:xfrm>
            <a:off x="523577" y="920948"/>
            <a:ext cx="3536528" cy="117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700"/>
              <a:buFont typeface="Funnel Display"/>
              <a:buNone/>
            </a:pPr>
            <a:r>
              <a:rPr b="0" i="0" lang="en-US" sz="7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Full Pipeline Architecture: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30"/>
          <p:cNvSpPr/>
          <p:nvPr/>
        </p:nvSpPr>
        <p:spPr>
          <a:xfrm>
            <a:off x="523577" y="1092845"/>
            <a:ext cx="159544" cy="997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Display Light"/>
              <a:buNone/>
            </a:pPr>
            <a:r>
              <a:rPr b="0" i="0" lang="en-US" sz="600" u="none" cap="none" strike="noStrike">
                <a:solidFill>
                  <a:srgbClr val="2B3541"/>
                </a:solidFill>
                <a:latin typeface="Funnel Display Light"/>
                <a:ea typeface="Funnel Display Light"/>
                <a:cs typeface="Funnel Display Light"/>
                <a:sym typeface="Funnel Display Light"/>
              </a:rPr>
              <a:t>01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30"/>
          <p:cNvSpPr/>
          <p:nvPr/>
        </p:nvSpPr>
        <p:spPr>
          <a:xfrm>
            <a:off x="523577" y="1218902"/>
            <a:ext cx="3536528" cy="9525"/>
          </a:xfrm>
          <a:prstGeom prst="rect">
            <a:avLst/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30"/>
          <p:cNvSpPr/>
          <p:nvPr/>
        </p:nvSpPr>
        <p:spPr>
          <a:xfrm>
            <a:off x="523577" y="1277838"/>
            <a:ext cx="3536528" cy="117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00"/>
              <a:buFont typeface="Funnel Display"/>
              <a:buNone/>
            </a:pPr>
            <a:r>
              <a:rPr b="0" i="0" lang="en-US" sz="7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Document Ingestion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30"/>
          <p:cNvSpPr/>
          <p:nvPr/>
        </p:nvSpPr>
        <p:spPr>
          <a:xfrm>
            <a:off x="523577" y="1443707"/>
            <a:ext cx="3536528" cy="1026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Sans"/>
              <a:buNone/>
            </a:pPr>
            <a:r>
              <a:rPr b="0" i="0" lang="en-US" sz="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Documents → Chunking → Embedding → Vector Store + Metadata Store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30"/>
          <p:cNvSpPr/>
          <p:nvPr/>
        </p:nvSpPr>
        <p:spPr>
          <a:xfrm>
            <a:off x="523577" y="1654820"/>
            <a:ext cx="159544" cy="997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Display Light"/>
              <a:buNone/>
            </a:pPr>
            <a:r>
              <a:rPr b="0" i="0" lang="en-US" sz="600" u="none" cap="none" strike="noStrike">
                <a:solidFill>
                  <a:srgbClr val="2B3541"/>
                </a:solidFill>
                <a:latin typeface="Funnel Display Light"/>
                <a:ea typeface="Funnel Display Light"/>
                <a:cs typeface="Funnel Display Light"/>
                <a:sym typeface="Funnel Display Light"/>
              </a:rPr>
              <a:t>02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30"/>
          <p:cNvSpPr/>
          <p:nvPr/>
        </p:nvSpPr>
        <p:spPr>
          <a:xfrm>
            <a:off x="523577" y="1780877"/>
            <a:ext cx="3536528" cy="9525"/>
          </a:xfrm>
          <a:prstGeom prst="rect">
            <a:avLst/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30"/>
          <p:cNvSpPr/>
          <p:nvPr/>
        </p:nvSpPr>
        <p:spPr>
          <a:xfrm>
            <a:off x="523577" y="1839813"/>
            <a:ext cx="3536528" cy="117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00"/>
              <a:buFont typeface="Funnel Display"/>
              <a:buNone/>
            </a:pPr>
            <a:r>
              <a:rPr b="0" i="0" lang="en-US" sz="7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Query Processing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30"/>
          <p:cNvSpPr/>
          <p:nvPr/>
        </p:nvSpPr>
        <p:spPr>
          <a:xfrm>
            <a:off x="523577" y="2005682"/>
            <a:ext cx="3536528" cy="1026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Sans"/>
              <a:buNone/>
            </a:pPr>
            <a:r>
              <a:rPr b="0" i="0" lang="en-US" sz="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Raw Query → Query Transformation → Query Embedding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30"/>
          <p:cNvSpPr/>
          <p:nvPr/>
        </p:nvSpPr>
        <p:spPr>
          <a:xfrm>
            <a:off x="523577" y="2216795"/>
            <a:ext cx="159544" cy="997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Display Light"/>
              <a:buNone/>
            </a:pPr>
            <a:r>
              <a:rPr b="0" i="0" lang="en-US" sz="600" u="none" cap="none" strike="noStrike">
                <a:solidFill>
                  <a:srgbClr val="2B3541"/>
                </a:solidFill>
                <a:latin typeface="Funnel Display Light"/>
                <a:ea typeface="Funnel Display Light"/>
                <a:cs typeface="Funnel Display Light"/>
                <a:sym typeface="Funnel Display Light"/>
              </a:rPr>
              <a:t>03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30"/>
          <p:cNvSpPr/>
          <p:nvPr/>
        </p:nvSpPr>
        <p:spPr>
          <a:xfrm>
            <a:off x="523577" y="2342852"/>
            <a:ext cx="3536528" cy="9525"/>
          </a:xfrm>
          <a:prstGeom prst="rect">
            <a:avLst/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30"/>
          <p:cNvSpPr/>
          <p:nvPr/>
        </p:nvSpPr>
        <p:spPr>
          <a:xfrm>
            <a:off x="523577" y="2401788"/>
            <a:ext cx="3536528" cy="117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00"/>
              <a:buFont typeface="Funnel Display"/>
              <a:buNone/>
            </a:pPr>
            <a:r>
              <a:rPr b="0" i="0" lang="en-US" sz="7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Retrieval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30"/>
          <p:cNvSpPr/>
          <p:nvPr/>
        </p:nvSpPr>
        <p:spPr>
          <a:xfrm>
            <a:off x="523577" y="2567657"/>
            <a:ext cx="3536528" cy="1026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550"/>
              <a:buFont typeface="Funnel Sans"/>
              <a:buNone/>
            </a:pPr>
            <a:r>
              <a:rPr b="0" i="0" lang="en-US" sz="5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Hybrid Search (BM25 + Vector) + Metadata Pre-filter → Candidate Pool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30"/>
          <p:cNvSpPr/>
          <p:nvPr/>
        </p:nvSpPr>
        <p:spPr>
          <a:xfrm>
            <a:off x="523577" y="2778770"/>
            <a:ext cx="159544" cy="997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Display Light"/>
              <a:buNone/>
            </a:pPr>
            <a:r>
              <a:rPr b="0" i="0" lang="en-US" sz="600" u="none" cap="none" strike="noStrike">
                <a:solidFill>
                  <a:srgbClr val="2B3541"/>
                </a:solidFill>
                <a:latin typeface="Funnel Display Light"/>
                <a:ea typeface="Funnel Display Light"/>
                <a:cs typeface="Funnel Display Light"/>
                <a:sym typeface="Funnel Display Light"/>
              </a:rPr>
              <a:t>04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30"/>
          <p:cNvSpPr/>
          <p:nvPr/>
        </p:nvSpPr>
        <p:spPr>
          <a:xfrm>
            <a:off x="523577" y="2904827"/>
            <a:ext cx="3536528" cy="9525"/>
          </a:xfrm>
          <a:prstGeom prst="rect">
            <a:avLst/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30"/>
          <p:cNvSpPr/>
          <p:nvPr/>
        </p:nvSpPr>
        <p:spPr>
          <a:xfrm>
            <a:off x="523577" y="2963763"/>
            <a:ext cx="3536528" cy="117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00"/>
              <a:buFont typeface="Funnel Display"/>
              <a:buNone/>
            </a:pPr>
            <a:r>
              <a:rPr b="0" i="0" lang="en-US" sz="7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Fusion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30"/>
          <p:cNvSpPr/>
          <p:nvPr/>
        </p:nvSpPr>
        <p:spPr>
          <a:xfrm>
            <a:off x="523577" y="3129632"/>
            <a:ext cx="3536528" cy="1026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Sans"/>
              <a:buNone/>
            </a:pPr>
            <a:r>
              <a:rPr b="0" i="0" lang="en-US" sz="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Reciprocal Rank Fusion (RRF) → Merged candidates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30"/>
          <p:cNvSpPr/>
          <p:nvPr/>
        </p:nvSpPr>
        <p:spPr>
          <a:xfrm>
            <a:off x="523577" y="3340745"/>
            <a:ext cx="159544" cy="997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Display Light"/>
              <a:buNone/>
            </a:pPr>
            <a:r>
              <a:rPr b="0" i="0" lang="en-US" sz="600" u="none" cap="none" strike="noStrike">
                <a:solidFill>
                  <a:srgbClr val="2B3541"/>
                </a:solidFill>
                <a:latin typeface="Funnel Display Light"/>
                <a:ea typeface="Funnel Display Light"/>
                <a:cs typeface="Funnel Display Light"/>
                <a:sym typeface="Funnel Display Light"/>
              </a:rPr>
              <a:t>05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30"/>
          <p:cNvSpPr/>
          <p:nvPr/>
        </p:nvSpPr>
        <p:spPr>
          <a:xfrm>
            <a:off x="523577" y="3466802"/>
            <a:ext cx="3536528" cy="9525"/>
          </a:xfrm>
          <a:prstGeom prst="rect">
            <a:avLst/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30"/>
          <p:cNvSpPr/>
          <p:nvPr/>
        </p:nvSpPr>
        <p:spPr>
          <a:xfrm>
            <a:off x="523577" y="3525738"/>
            <a:ext cx="3536528" cy="117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00"/>
              <a:buFont typeface="Funnel Display"/>
              <a:buNone/>
            </a:pPr>
            <a:r>
              <a:rPr b="0" i="0" lang="en-US" sz="7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Reranking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30"/>
          <p:cNvSpPr/>
          <p:nvPr/>
        </p:nvSpPr>
        <p:spPr>
          <a:xfrm>
            <a:off x="523577" y="3691607"/>
            <a:ext cx="3536528" cy="1026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Sans"/>
              <a:buNone/>
            </a:pPr>
            <a:r>
              <a:rPr b="0" i="0" lang="en-US" sz="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Cross-encoder → Top-K precision ranking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30"/>
          <p:cNvSpPr/>
          <p:nvPr/>
        </p:nvSpPr>
        <p:spPr>
          <a:xfrm>
            <a:off x="523577" y="3902720"/>
            <a:ext cx="159544" cy="997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Display Light"/>
              <a:buNone/>
            </a:pPr>
            <a:r>
              <a:rPr b="0" i="0" lang="en-US" sz="600" u="none" cap="none" strike="noStrike">
                <a:solidFill>
                  <a:srgbClr val="2B3541"/>
                </a:solidFill>
                <a:latin typeface="Funnel Display Light"/>
                <a:ea typeface="Funnel Display Light"/>
                <a:cs typeface="Funnel Display Light"/>
                <a:sym typeface="Funnel Display Light"/>
              </a:rPr>
              <a:t>06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30"/>
          <p:cNvSpPr/>
          <p:nvPr/>
        </p:nvSpPr>
        <p:spPr>
          <a:xfrm>
            <a:off x="523577" y="4028777"/>
            <a:ext cx="3536528" cy="9525"/>
          </a:xfrm>
          <a:prstGeom prst="rect">
            <a:avLst/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30"/>
          <p:cNvSpPr/>
          <p:nvPr/>
        </p:nvSpPr>
        <p:spPr>
          <a:xfrm>
            <a:off x="523577" y="4087713"/>
            <a:ext cx="3536528" cy="117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00"/>
              <a:buFont typeface="Funnel Display"/>
              <a:buNone/>
            </a:pPr>
            <a:r>
              <a:rPr b="0" i="0" lang="en-US" sz="7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Generation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30"/>
          <p:cNvSpPr/>
          <p:nvPr/>
        </p:nvSpPr>
        <p:spPr>
          <a:xfrm>
            <a:off x="523577" y="4253582"/>
            <a:ext cx="3536528" cy="1026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Sans"/>
              <a:buNone/>
            </a:pPr>
            <a:r>
              <a:rPr b="0" i="0" lang="en-US" sz="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Top-K Context + Query → LLM → Answer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30"/>
          <p:cNvSpPr/>
          <p:nvPr/>
        </p:nvSpPr>
        <p:spPr>
          <a:xfrm>
            <a:off x="4259387" y="920948"/>
            <a:ext cx="4365724" cy="117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700"/>
              <a:buFont typeface="Funnel Display"/>
              <a:buNone/>
            </a:pPr>
            <a:r>
              <a:rPr b="0" i="0" lang="en-US" sz="7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Stack thực tế: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45" name="Google Shape;845;p30"/>
          <p:cNvGraphicFramePr/>
          <p:nvPr/>
        </p:nvGraphicFramePr>
        <p:xfrm>
          <a:off x="4259387" y="10928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{3B3E4DE5-BB9D-4D9E-814C-6277CECA3E85}</a:tableStyleId>
              </a:tblPr>
              <a:tblGrid>
                <a:gridCol w="2182850"/>
                <a:gridCol w="2182850"/>
              </a:tblGrid>
              <a:tr h="172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Component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79775" marL="79775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Options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79775" marL="797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5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Embedding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79775" marL="79775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BGE-M3, Qwen3-Embedding, text-embedding-3-small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79775" marL="797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5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Vector DB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79775" marL="79775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Qdrant, pgvector, Pinecone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79775" marL="797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5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BM25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79775" marL="79775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Elasticsearch, OpenSearch, BM25Okapi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79775" marL="797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5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Reranker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79775" marL="79775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BGE-Reranker, Cohere Rerank, Qwen3-Reranker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79775" marL="797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2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Orchestration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79775" marL="79775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LangChain, LlamaIndex, custom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79775" marL="7977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46" name="Google Shape;846;p30"/>
          <p:cNvSpPr/>
          <p:nvPr/>
        </p:nvSpPr>
        <p:spPr>
          <a:xfrm>
            <a:off x="4259387" y="2203252"/>
            <a:ext cx="4365724" cy="117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700"/>
              <a:buFont typeface="Funnel Display"/>
              <a:buNone/>
            </a:pPr>
            <a:r>
              <a:rPr b="0" i="0" lang="en-US" sz="7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Ví dụ code — Full pipeline: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30"/>
          <p:cNvSpPr/>
          <p:nvPr/>
        </p:nvSpPr>
        <p:spPr>
          <a:xfrm>
            <a:off x="4259387" y="2375148"/>
            <a:ext cx="4365724" cy="1818605"/>
          </a:xfrm>
          <a:prstGeom prst="roundRect">
            <a:avLst>
              <a:gd fmla="val 1842" name="adj"/>
            </a:avLst>
          </a:prstGeom>
          <a:solidFill>
            <a:srgbClr val="EDE8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30"/>
          <p:cNvSpPr/>
          <p:nvPr/>
        </p:nvSpPr>
        <p:spPr>
          <a:xfrm>
            <a:off x="4355083" y="2454920"/>
            <a:ext cx="4174331" cy="16590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async def retrieve(query: str, tenant_id: str) -&gt; list[str]: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# 1. Query transformation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queries = await transform_query(query)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# 2. Hybrid retrieval với metadata filter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candidates = await hybrid_search(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    queries=queries,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    filter={"tenant_id": tenant_id, "status": "current"},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    top_k=50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# 3. Rerank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return await reranker.rank(query, candidates, top_k=5)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30"/>
          <p:cNvSpPr/>
          <p:nvPr/>
        </p:nvSpPr>
        <p:spPr>
          <a:xfrm>
            <a:off x="523577" y="4525342"/>
            <a:ext cx="8096845" cy="234851"/>
          </a:xfrm>
          <a:prstGeom prst="roundRect">
            <a:avLst>
              <a:gd fmla="val 14267" name="adj"/>
            </a:avLst>
          </a:prstGeom>
          <a:solidFill>
            <a:srgbClr val="D8E7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50" name="Google Shape;85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49" y="4595515"/>
            <a:ext cx="99715" cy="79772"/>
          </a:xfrm>
          <a:prstGeom prst="rect">
            <a:avLst/>
          </a:prstGeom>
          <a:noFill/>
          <a:ln>
            <a:noFill/>
          </a:ln>
        </p:spPr>
      </p:pic>
      <p:sp>
        <p:nvSpPr>
          <p:cNvPr id="851" name="Google Shape;851;p30"/>
          <p:cNvSpPr/>
          <p:nvPr/>
        </p:nvSpPr>
        <p:spPr>
          <a:xfrm>
            <a:off x="782836" y="4593878"/>
            <a:ext cx="8215015" cy="1026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Funnel Sans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Funnel Sans"/>
                <a:ea typeface="Funnel Sans"/>
                <a:cs typeface="Funnel Sans"/>
                <a:sym typeface="Funnel Sans"/>
              </a:rPr>
              <a:t>Mỗi component có thể được swap độc lập — thiết kế modular cho phép A/B testing từng phần.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5EB"/>
        </a:solidFill>
      </p:bgPr>
    </p:bg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31"/>
          <p:cNvSpPr/>
          <p:nvPr/>
        </p:nvSpPr>
        <p:spPr>
          <a:xfrm>
            <a:off x="523577" y="359941"/>
            <a:ext cx="8096845" cy="192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1150"/>
              <a:buFont typeface="Funnel Display"/>
              <a:buNone/>
            </a:pPr>
            <a:r>
              <a:rPr b="0" i="0" lang="en-US" sz="11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Hands-on Demo — Semantic Search với pgvector &amp; Qwen3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31"/>
          <p:cNvSpPr/>
          <p:nvPr/>
        </p:nvSpPr>
        <p:spPr>
          <a:xfrm>
            <a:off x="523577" y="634157"/>
            <a:ext cx="3555727" cy="962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550"/>
              <a:buFont typeface="Funnel Display"/>
              <a:buNone/>
            </a:pPr>
            <a:r>
              <a:rPr b="0" i="0" lang="en-US" sz="5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Architecture: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31"/>
          <p:cNvSpPr/>
          <p:nvPr/>
        </p:nvSpPr>
        <p:spPr>
          <a:xfrm>
            <a:off x="523577" y="767135"/>
            <a:ext cx="130894" cy="817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Display Light"/>
              <a:buNone/>
            </a:pPr>
            <a:r>
              <a:rPr b="0" i="0" lang="en-US" sz="450" u="none" cap="none" strike="noStrike">
                <a:solidFill>
                  <a:srgbClr val="2B3541"/>
                </a:solidFill>
                <a:latin typeface="Funnel Display Light"/>
                <a:ea typeface="Funnel Display Light"/>
                <a:cs typeface="Funnel Display Light"/>
                <a:sym typeface="Funnel Display Light"/>
              </a:rPr>
              <a:t>01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31"/>
          <p:cNvSpPr/>
          <p:nvPr/>
        </p:nvSpPr>
        <p:spPr>
          <a:xfrm>
            <a:off x="523577" y="868710"/>
            <a:ext cx="3555727" cy="9525"/>
          </a:xfrm>
          <a:prstGeom prst="rect">
            <a:avLst/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31"/>
          <p:cNvSpPr/>
          <p:nvPr/>
        </p:nvSpPr>
        <p:spPr>
          <a:xfrm>
            <a:off x="523577" y="920428"/>
            <a:ext cx="3555727" cy="962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550"/>
              <a:buFont typeface="Funnel Display"/>
              <a:buNone/>
            </a:pPr>
            <a:r>
              <a:rPr b="0" i="0" lang="en-US" sz="5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Client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31"/>
          <p:cNvSpPr/>
          <p:nvPr/>
        </p:nvSpPr>
        <p:spPr>
          <a:xfrm>
            <a:off x="523577" y="1049313"/>
            <a:ext cx="3555727" cy="785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Sans"/>
              <a:buNone/>
            </a:pPr>
            <a:r>
              <a:rPr b="0" i="0" lang="en-US" sz="4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HTTP request → FastAPI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31"/>
          <p:cNvSpPr/>
          <p:nvPr/>
        </p:nvSpPr>
        <p:spPr>
          <a:xfrm>
            <a:off x="523577" y="1209601"/>
            <a:ext cx="130894" cy="817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Display Light"/>
              <a:buNone/>
            </a:pPr>
            <a:r>
              <a:rPr b="0" i="0" lang="en-US" sz="450" u="none" cap="none" strike="noStrike">
                <a:solidFill>
                  <a:srgbClr val="2B3541"/>
                </a:solidFill>
                <a:latin typeface="Funnel Display Light"/>
                <a:ea typeface="Funnel Display Light"/>
                <a:cs typeface="Funnel Display Light"/>
                <a:sym typeface="Funnel Display Light"/>
              </a:rPr>
              <a:t>02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31"/>
          <p:cNvSpPr/>
          <p:nvPr/>
        </p:nvSpPr>
        <p:spPr>
          <a:xfrm>
            <a:off x="523577" y="1311176"/>
            <a:ext cx="3555727" cy="9525"/>
          </a:xfrm>
          <a:prstGeom prst="rect">
            <a:avLst/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31"/>
          <p:cNvSpPr/>
          <p:nvPr/>
        </p:nvSpPr>
        <p:spPr>
          <a:xfrm>
            <a:off x="523577" y="1362894"/>
            <a:ext cx="3555727" cy="962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550"/>
              <a:buFont typeface="Funnel Display"/>
              <a:buNone/>
            </a:pPr>
            <a:r>
              <a:rPr b="0" i="0" lang="en-US" sz="5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FastAPI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31"/>
          <p:cNvSpPr/>
          <p:nvPr/>
        </p:nvSpPr>
        <p:spPr>
          <a:xfrm>
            <a:off x="523577" y="1491779"/>
            <a:ext cx="3555727" cy="785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Sans"/>
              <a:buNone/>
            </a:pPr>
            <a:r>
              <a:rPr b="0" i="0" lang="en-US" sz="4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Query processing → Embedding Service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31"/>
          <p:cNvSpPr/>
          <p:nvPr/>
        </p:nvSpPr>
        <p:spPr>
          <a:xfrm>
            <a:off x="523577" y="1652067"/>
            <a:ext cx="130894" cy="817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Display Light"/>
              <a:buNone/>
            </a:pPr>
            <a:r>
              <a:rPr b="0" i="0" lang="en-US" sz="450" u="none" cap="none" strike="noStrike">
                <a:solidFill>
                  <a:srgbClr val="2B3541"/>
                </a:solidFill>
                <a:latin typeface="Funnel Display Light"/>
                <a:ea typeface="Funnel Display Light"/>
                <a:cs typeface="Funnel Display Light"/>
                <a:sym typeface="Funnel Display Light"/>
              </a:rPr>
              <a:t>03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31"/>
          <p:cNvSpPr/>
          <p:nvPr/>
        </p:nvSpPr>
        <p:spPr>
          <a:xfrm>
            <a:off x="523577" y="1753642"/>
            <a:ext cx="3555727" cy="9525"/>
          </a:xfrm>
          <a:prstGeom prst="rect">
            <a:avLst/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31"/>
          <p:cNvSpPr/>
          <p:nvPr/>
        </p:nvSpPr>
        <p:spPr>
          <a:xfrm>
            <a:off x="523577" y="1805360"/>
            <a:ext cx="3555727" cy="962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550"/>
              <a:buFont typeface="Funnel Display"/>
              <a:buNone/>
            </a:pPr>
            <a:r>
              <a:rPr b="0" i="0" lang="en-US" sz="5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Embedding Service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31"/>
          <p:cNvSpPr/>
          <p:nvPr/>
        </p:nvSpPr>
        <p:spPr>
          <a:xfrm>
            <a:off x="523577" y="1934245"/>
            <a:ext cx="3555727" cy="785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Sans"/>
              <a:buNone/>
            </a:pPr>
            <a:r>
              <a:rPr b="0" i="0" lang="en-US" sz="4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Qwen3-Embedding → Query Vector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31"/>
          <p:cNvSpPr/>
          <p:nvPr/>
        </p:nvSpPr>
        <p:spPr>
          <a:xfrm>
            <a:off x="523577" y="2094533"/>
            <a:ext cx="130894" cy="817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Display Light"/>
              <a:buNone/>
            </a:pPr>
            <a:r>
              <a:rPr b="0" i="0" lang="en-US" sz="450" u="none" cap="none" strike="noStrike">
                <a:solidFill>
                  <a:srgbClr val="2B3541"/>
                </a:solidFill>
                <a:latin typeface="Funnel Display Light"/>
                <a:ea typeface="Funnel Display Light"/>
                <a:cs typeface="Funnel Display Light"/>
                <a:sym typeface="Funnel Display Light"/>
              </a:rPr>
              <a:t>04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31"/>
          <p:cNvSpPr/>
          <p:nvPr/>
        </p:nvSpPr>
        <p:spPr>
          <a:xfrm>
            <a:off x="523577" y="2196108"/>
            <a:ext cx="3555727" cy="9525"/>
          </a:xfrm>
          <a:prstGeom prst="rect">
            <a:avLst/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31"/>
          <p:cNvSpPr/>
          <p:nvPr/>
        </p:nvSpPr>
        <p:spPr>
          <a:xfrm>
            <a:off x="523577" y="2247826"/>
            <a:ext cx="3555727" cy="962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550"/>
              <a:buFont typeface="Funnel Display"/>
              <a:buNone/>
            </a:pPr>
            <a:r>
              <a:rPr b="0" i="0" lang="en-US" sz="5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PostgreSQL + pgvector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31"/>
          <p:cNvSpPr/>
          <p:nvPr/>
        </p:nvSpPr>
        <p:spPr>
          <a:xfrm>
            <a:off x="523577" y="2376711"/>
            <a:ext cx="3555727" cy="785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Sans"/>
              <a:buNone/>
            </a:pPr>
            <a:r>
              <a:rPr b="0" i="0" lang="en-US" sz="4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Vector Search + Metadata Filter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31"/>
          <p:cNvSpPr/>
          <p:nvPr/>
        </p:nvSpPr>
        <p:spPr>
          <a:xfrm>
            <a:off x="523577" y="2536999"/>
            <a:ext cx="130894" cy="817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Display Light"/>
              <a:buNone/>
            </a:pPr>
            <a:r>
              <a:rPr b="0" i="0" lang="en-US" sz="450" u="none" cap="none" strike="noStrike">
                <a:solidFill>
                  <a:srgbClr val="2B3541"/>
                </a:solidFill>
                <a:latin typeface="Funnel Display Light"/>
                <a:ea typeface="Funnel Display Light"/>
                <a:cs typeface="Funnel Display Light"/>
                <a:sym typeface="Funnel Display Light"/>
              </a:rPr>
              <a:t>05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31"/>
          <p:cNvSpPr/>
          <p:nvPr/>
        </p:nvSpPr>
        <p:spPr>
          <a:xfrm>
            <a:off x="523577" y="2638574"/>
            <a:ext cx="3555727" cy="9525"/>
          </a:xfrm>
          <a:prstGeom prst="rect">
            <a:avLst/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31"/>
          <p:cNvSpPr/>
          <p:nvPr/>
        </p:nvSpPr>
        <p:spPr>
          <a:xfrm>
            <a:off x="523577" y="2690292"/>
            <a:ext cx="3555727" cy="962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550"/>
              <a:buFont typeface="Funnel Display"/>
              <a:buNone/>
            </a:pPr>
            <a:r>
              <a:rPr b="0" i="0" lang="en-US" sz="5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Reranker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31"/>
          <p:cNvSpPr/>
          <p:nvPr/>
        </p:nvSpPr>
        <p:spPr>
          <a:xfrm>
            <a:off x="523577" y="2819177"/>
            <a:ext cx="3555727" cy="785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Sans"/>
              <a:buNone/>
            </a:pPr>
            <a:r>
              <a:rPr b="0" i="0" lang="en-US" sz="4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Qwen3-Reranker → Top-K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31"/>
          <p:cNvSpPr/>
          <p:nvPr/>
        </p:nvSpPr>
        <p:spPr>
          <a:xfrm>
            <a:off x="523577" y="2979465"/>
            <a:ext cx="130894" cy="817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Display Light"/>
              <a:buNone/>
            </a:pPr>
            <a:r>
              <a:rPr b="0" i="0" lang="en-US" sz="450" u="none" cap="none" strike="noStrike">
                <a:solidFill>
                  <a:srgbClr val="2B3541"/>
                </a:solidFill>
                <a:latin typeface="Funnel Display Light"/>
                <a:ea typeface="Funnel Display Light"/>
                <a:cs typeface="Funnel Display Light"/>
                <a:sym typeface="Funnel Display Light"/>
              </a:rPr>
              <a:t>06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31"/>
          <p:cNvSpPr/>
          <p:nvPr/>
        </p:nvSpPr>
        <p:spPr>
          <a:xfrm>
            <a:off x="523577" y="3081040"/>
            <a:ext cx="3555727" cy="9525"/>
          </a:xfrm>
          <a:prstGeom prst="rect">
            <a:avLst/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31"/>
          <p:cNvSpPr/>
          <p:nvPr/>
        </p:nvSpPr>
        <p:spPr>
          <a:xfrm>
            <a:off x="523577" y="3132758"/>
            <a:ext cx="3555727" cy="962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550"/>
              <a:buFont typeface="Funnel Display"/>
              <a:buNone/>
            </a:pPr>
            <a:r>
              <a:rPr b="0" i="0" lang="en-US" sz="5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Response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31"/>
          <p:cNvSpPr/>
          <p:nvPr/>
        </p:nvSpPr>
        <p:spPr>
          <a:xfrm>
            <a:off x="523577" y="3261643"/>
            <a:ext cx="3555727" cy="785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Sans"/>
              <a:buNone/>
            </a:pPr>
            <a:r>
              <a:rPr b="0" i="0" lang="en-US" sz="4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JSON results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31"/>
          <p:cNvSpPr/>
          <p:nvPr/>
        </p:nvSpPr>
        <p:spPr>
          <a:xfrm>
            <a:off x="523577" y="3426023"/>
            <a:ext cx="3555727" cy="962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550"/>
              <a:buFont typeface="Funnel Display"/>
              <a:buNone/>
            </a:pPr>
            <a:r>
              <a:rPr b="0" i="0" lang="en-US" sz="5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Docker Compose stack: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31"/>
          <p:cNvSpPr/>
          <p:nvPr/>
        </p:nvSpPr>
        <p:spPr>
          <a:xfrm>
            <a:off x="523577" y="3559001"/>
            <a:ext cx="3555727" cy="1702445"/>
          </a:xfrm>
          <a:prstGeom prst="roundRect">
            <a:avLst>
              <a:gd fmla="val 1615" name="adj"/>
            </a:avLst>
          </a:prstGeom>
          <a:solidFill>
            <a:srgbClr val="EDE8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31"/>
          <p:cNvSpPr/>
          <p:nvPr/>
        </p:nvSpPr>
        <p:spPr>
          <a:xfrm>
            <a:off x="602084" y="3624411"/>
            <a:ext cx="3398713" cy="157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450"/>
              <a:buFont typeface="Consolas"/>
              <a:buNone/>
            </a:pPr>
            <a:r>
              <a:rPr b="0" i="0" lang="en-US" sz="450" u="none" cap="none" strike="noStrike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services: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450"/>
              <a:buFont typeface="Consolas"/>
              <a:buNone/>
            </a:pPr>
            <a:r>
              <a:rPr b="0" i="0" lang="en-US" sz="450" u="none" cap="none" strike="noStrike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  api: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450"/>
              <a:buFont typeface="Consolas"/>
              <a:buNone/>
            </a:pPr>
            <a:r>
              <a:rPr b="0" i="0" lang="en-US" sz="450" u="none" cap="none" strike="noStrike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    image: fastapi-app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450"/>
              <a:buFont typeface="Consolas"/>
              <a:buNone/>
            </a:pPr>
            <a:r>
              <a:rPr b="0" i="0" lang="en-US" sz="450" u="none" cap="none" strike="noStrike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    depends_on: [postgres, embedding]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450"/>
              <a:buFont typeface="Consolas"/>
              <a:buNone/>
            </a:pPr>
            <a:r>
              <a:rPr b="0" i="0" lang="en-US" sz="450" u="none" cap="none" strike="noStrike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450"/>
              <a:buFont typeface="Consolas"/>
              <a:buNone/>
            </a:pPr>
            <a:r>
              <a:rPr b="0" i="0" lang="en-US" sz="450" u="none" cap="none" strike="noStrike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  postgres: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450"/>
              <a:buFont typeface="Consolas"/>
              <a:buNone/>
            </a:pPr>
            <a:r>
              <a:rPr b="0" i="0" lang="en-US" sz="450" u="none" cap="none" strike="noStrike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    image: pgvector/pgvector:pg16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450"/>
              <a:buFont typeface="Consolas"/>
              <a:buNone/>
            </a:pPr>
            <a:r>
              <a:rPr b="0" i="0" lang="en-US" sz="450" u="none" cap="none" strike="noStrike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    environment: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450"/>
              <a:buFont typeface="Consolas"/>
              <a:buNone/>
            </a:pPr>
            <a:r>
              <a:rPr b="0" i="0" lang="en-US" sz="450" u="none" cap="none" strike="noStrike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      POSTGRES_DB: semantic_search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450"/>
              <a:buFont typeface="Consolas"/>
              <a:buNone/>
            </a:pPr>
            <a:r>
              <a:rPr b="0" i="0" lang="en-US" sz="450" u="none" cap="none" strike="noStrike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450"/>
              <a:buFont typeface="Consolas"/>
              <a:buNone/>
            </a:pPr>
            <a:r>
              <a:rPr b="0" i="0" lang="en-US" sz="450" u="none" cap="none" strike="noStrike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  embedding: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450"/>
              <a:buFont typeface="Consolas"/>
              <a:buNone/>
            </a:pPr>
            <a:r>
              <a:rPr b="0" i="0" lang="en-US" sz="450" u="none" cap="none" strike="noStrike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    image: qwen3-embedding-service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450"/>
              <a:buFont typeface="Consolas"/>
              <a:buNone/>
            </a:pPr>
            <a:r>
              <a:rPr b="0" i="0" lang="en-US" sz="450" u="none" cap="none" strike="noStrike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450"/>
              <a:buFont typeface="Consolas"/>
              <a:buNone/>
            </a:pPr>
            <a:r>
              <a:rPr b="0" i="0" lang="en-US" sz="450" u="none" cap="none" strike="noStrike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  reranker: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450"/>
              <a:buFont typeface="Consolas"/>
              <a:buNone/>
            </a:pPr>
            <a:r>
              <a:rPr b="0" i="0" lang="en-US" sz="450" u="none" cap="none" strike="noStrike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    image: qwen3-reranker-service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31"/>
          <p:cNvSpPr/>
          <p:nvPr/>
        </p:nvSpPr>
        <p:spPr>
          <a:xfrm>
            <a:off x="4243760" y="634157"/>
            <a:ext cx="4381351" cy="962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550"/>
              <a:buFont typeface="Funnel Display"/>
              <a:buNone/>
            </a:pPr>
            <a:r>
              <a:rPr b="0" i="0" lang="en-US" sz="5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Database Schema: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31"/>
          <p:cNvSpPr/>
          <p:nvPr/>
        </p:nvSpPr>
        <p:spPr>
          <a:xfrm>
            <a:off x="4243760" y="767135"/>
            <a:ext cx="4381351" cy="2435870"/>
          </a:xfrm>
          <a:prstGeom prst="roundRect">
            <a:avLst>
              <a:gd fmla="val 1129" name="adj"/>
            </a:avLst>
          </a:prstGeom>
          <a:solidFill>
            <a:srgbClr val="EDE8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31"/>
          <p:cNvSpPr/>
          <p:nvPr/>
        </p:nvSpPr>
        <p:spPr>
          <a:xfrm>
            <a:off x="4322266" y="832545"/>
            <a:ext cx="4224338" cy="2305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450"/>
              <a:buFont typeface="Consolas"/>
              <a:buNone/>
            </a:pPr>
            <a:r>
              <a:rPr b="0" i="0" lang="en-US" sz="45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-- Enable pgvector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450"/>
              <a:buFont typeface="Consolas"/>
              <a:buNone/>
            </a:pPr>
            <a:r>
              <a:rPr b="0" i="0" lang="en-US" sz="45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CREATE EXTENSION IF NOT EXISTS vector;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"/>
              <a:buFont typeface="Calibri"/>
              <a:buNone/>
            </a:pPr>
            <a:r>
              <a:t/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450"/>
              <a:buFont typeface="Consolas"/>
              <a:buNone/>
            </a:pPr>
            <a:r>
              <a:rPr b="0" i="0" lang="en-US" sz="45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-- Documents table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450"/>
              <a:buFont typeface="Consolas"/>
              <a:buNone/>
            </a:pPr>
            <a:r>
              <a:rPr b="0" i="0" lang="en-US" sz="45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CREATE TABLE document_chunks (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450"/>
              <a:buFont typeface="Consolas"/>
              <a:buNone/>
            </a:pPr>
            <a:r>
              <a:rPr b="0" i="0" lang="en-US" sz="45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    id          UUID PRIMARY KEY,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450"/>
              <a:buFont typeface="Consolas"/>
              <a:buNone/>
            </a:pPr>
            <a:r>
              <a:rPr b="0" i="0" lang="en-US" sz="45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    document_id UUID NOT NULL,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450"/>
              <a:buFont typeface="Consolas"/>
              <a:buNone/>
            </a:pPr>
            <a:r>
              <a:rPr b="0" i="0" lang="en-US" sz="45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    content     TEXT NOT NULL,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450"/>
              <a:buFont typeface="Consolas"/>
              <a:buNone/>
            </a:pPr>
            <a:r>
              <a:rPr b="0" i="0" lang="en-US" sz="45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    embedding   vector(2048),  -- Qwen3 dimension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450"/>
              <a:buFont typeface="Consolas"/>
              <a:buNone/>
            </a:pPr>
            <a:r>
              <a:rPr b="0" i="0" lang="en-US" sz="45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    tenant_id   TEXT NOT NULL,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450"/>
              <a:buFont typeface="Consolas"/>
              <a:buNone/>
            </a:pPr>
            <a:r>
              <a:rPr b="0" i="0" lang="en-US" sz="45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    language    TEXT DEFAULT 'vi',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450"/>
              <a:buFont typeface="Consolas"/>
              <a:buNone/>
            </a:pPr>
            <a:r>
              <a:rPr b="0" i="0" lang="en-US" sz="45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    status      TEXT DEFAULT 'current',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450"/>
              <a:buFont typeface="Consolas"/>
              <a:buNone/>
            </a:pPr>
            <a:r>
              <a:rPr b="0" i="0" lang="en-US" sz="45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    metadata    JSONB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450"/>
              <a:buFont typeface="Consolas"/>
              <a:buNone/>
            </a:pPr>
            <a:r>
              <a:rPr b="0" i="0" lang="en-US" sz="45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"/>
              <a:buFont typeface="Calibri"/>
              <a:buNone/>
            </a:pPr>
            <a:r>
              <a:t/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450"/>
              <a:buFont typeface="Consolas"/>
              <a:buNone/>
            </a:pPr>
            <a:r>
              <a:rPr b="0" i="0" lang="en-US" sz="45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-- HNSW index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450"/>
              <a:buFont typeface="Consolas"/>
              <a:buNone/>
            </a:pPr>
            <a:r>
              <a:rPr b="0" i="0" lang="en-US" sz="45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CREATE INDEX ON document_chunks 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450"/>
              <a:buFont typeface="Consolas"/>
              <a:buNone/>
            </a:pPr>
            <a:r>
              <a:rPr b="0" i="0" lang="en-US" sz="45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USING hnsw (embedding vector_cosine_ops)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450"/>
              <a:buFont typeface="Consolas"/>
              <a:buNone/>
            </a:pPr>
            <a:r>
              <a:rPr b="0" i="0" lang="en-US" sz="45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WITH (m = 16, ef_construction = 64);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"/>
              <a:buFont typeface="Calibri"/>
              <a:buNone/>
            </a:pPr>
            <a:r>
              <a:t/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450"/>
              <a:buFont typeface="Consolas"/>
              <a:buNone/>
            </a:pPr>
            <a:r>
              <a:rPr b="0" i="0" lang="en-US" sz="45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-- Metadata index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450"/>
              <a:buFont typeface="Consolas"/>
              <a:buNone/>
            </a:pPr>
            <a:r>
              <a:rPr b="0" i="0" lang="en-US" sz="45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CREATE INDEX ON document_chunks (tenant_id, status);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31"/>
          <p:cNvSpPr/>
          <p:nvPr/>
        </p:nvSpPr>
        <p:spPr>
          <a:xfrm>
            <a:off x="523577" y="5334967"/>
            <a:ext cx="8096845" cy="173236"/>
          </a:xfrm>
          <a:prstGeom prst="roundRect">
            <a:avLst>
              <a:gd fmla="val 15869" name="adj"/>
            </a:avLst>
          </a:prstGeom>
          <a:solidFill>
            <a:srgbClr val="D8E7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90" name="Google Shape;89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8987" y="5383932"/>
            <a:ext cx="81781" cy="65410"/>
          </a:xfrm>
          <a:prstGeom prst="rect">
            <a:avLst/>
          </a:prstGeom>
          <a:noFill/>
          <a:ln>
            <a:noFill/>
          </a:ln>
        </p:spPr>
      </p:pic>
      <p:sp>
        <p:nvSpPr>
          <p:cNvPr id="891" name="Google Shape;891;p31"/>
          <p:cNvSpPr/>
          <p:nvPr/>
        </p:nvSpPr>
        <p:spPr>
          <a:xfrm>
            <a:off x="736178" y="5383932"/>
            <a:ext cx="8276034" cy="785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Funnel Sans"/>
              <a:buNone/>
            </a:pPr>
            <a:r>
              <a:rPr b="1" i="0" lang="en-US" sz="450" u="none" cap="none" strike="noStrike">
                <a:solidFill>
                  <a:srgbClr val="000000"/>
                </a:solidFill>
                <a:latin typeface="Funnel Sans"/>
                <a:ea typeface="Funnel Sans"/>
                <a:cs typeface="Funnel Sans"/>
                <a:sym typeface="Funnel Sans"/>
              </a:rPr>
              <a:t>Demo code:</a:t>
            </a:r>
            <a:r>
              <a:rPr b="0" i="0" lang="en-US" sz="450" u="none" cap="none" strike="noStrike">
                <a:solidFill>
                  <a:srgbClr val="000000"/>
                </a:solidFill>
                <a:latin typeface="Funnel Sans"/>
                <a:ea typeface="Funnel Sans"/>
                <a:cs typeface="Funnel Sans"/>
                <a:sym typeface="Funnel Sans"/>
              </a:rPr>
              <a:t> github.com/ai-engineering-week6 — clone và chạy với </a:t>
            </a:r>
            <a:r>
              <a:rPr b="0" i="0" lang="en-US" sz="450" u="none" cap="none" strike="noStrike">
                <a:solidFill>
                  <a:srgbClr val="000000"/>
                </a:solidFill>
                <a:highlight>
                  <a:srgbClr val="EDE8DE"/>
                </a:highlight>
                <a:latin typeface="Consolas"/>
                <a:ea typeface="Consolas"/>
                <a:cs typeface="Consolas"/>
                <a:sym typeface="Consolas"/>
              </a:rPr>
              <a:t>docker compose up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5EB"/>
        </a:solidFill>
      </p:bgPr>
    </p:bg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32"/>
          <p:cNvSpPr/>
          <p:nvPr/>
        </p:nvSpPr>
        <p:spPr>
          <a:xfrm>
            <a:off x="523577" y="410245"/>
            <a:ext cx="8096845" cy="172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1050"/>
              <a:buFont typeface="Funnel Display"/>
              <a:buNone/>
            </a:pPr>
            <a:r>
              <a:rPr b="0" i="0" lang="en-US" sz="10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Search API — Thiết kế endpoint cho Semantic Search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32"/>
          <p:cNvSpPr/>
          <p:nvPr/>
        </p:nvSpPr>
        <p:spPr>
          <a:xfrm>
            <a:off x="523577" y="647551"/>
            <a:ext cx="3977060" cy="86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500"/>
              <a:buFont typeface="Funnel Display"/>
              <a:buNone/>
            </a:pPr>
            <a:r>
              <a:rPr b="0" i="0" lang="en-US" sz="5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Search API Design: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32"/>
          <p:cNvSpPr/>
          <p:nvPr/>
        </p:nvSpPr>
        <p:spPr>
          <a:xfrm>
            <a:off x="523577" y="762967"/>
            <a:ext cx="3977060" cy="3764979"/>
          </a:xfrm>
          <a:prstGeom prst="roundRect">
            <a:avLst>
              <a:gd fmla="val 653" name="adj"/>
            </a:avLst>
          </a:prstGeom>
          <a:solidFill>
            <a:srgbClr val="EDE8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p32"/>
          <p:cNvSpPr/>
          <p:nvPr/>
        </p:nvSpPr>
        <p:spPr>
          <a:xfrm>
            <a:off x="593750" y="821457"/>
            <a:ext cx="3836715" cy="3648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from fastapi import FastAPI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from pydantic import BaseModel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Calibri"/>
              <a:buNone/>
            </a:pPr>
            <a:r>
              <a:t/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app = FastAPI()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Calibri"/>
              <a:buNone/>
            </a:pPr>
            <a:r>
              <a:t/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class SearchRequest(BaseModel):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query: str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top_k: int = 5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tenant_id: str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language: str = "vi"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filters: dict = {}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Calibri"/>
              <a:buNone/>
            </a:pPr>
            <a:r>
              <a:t/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class SearchResult(BaseModel):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id: str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content: str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score: float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metadata: dict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Calibri"/>
              <a:buNone/>
            </a:pPr>
            <a:r>
              <a:t/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@app.post("/search", response_model=list[SearchResult])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async def search(req: SearchRequest):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# 1. Embed query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query_vec = await embed_model.encode(req.query)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# 2. Hybrid search với filter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candidates = await hybrid_search(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    query=req.query,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    query_vec=query_vec,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    filter={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        "tenant_id": req.tenant_id,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        "language": req.language,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        "status": "current",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        **req.filters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    },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    top_k=50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)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# 3. Rerank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results = await reranker.rank(req.query, candidates, top_k=req.top_k)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return results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32"/>
          <p:cNvSpPr/>
          <p:nvPr/>
        </p:nvSpPr>
        <p:spPr>
          <a:xfrm>
            <a:off x="4648126" y="647551"/>
            <a:ext cx="3977060" cy="86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500"/>
              <a:buFont typeface="Funnel Display"/>
              <a:buNone/>
            </a:pPr>
            <a:r>
              <a:rPr b="0" i="0" lang="en-US" sz="5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Ví dụ request/response: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32"/>
          <p:cNvSpPr/>
          <p:nvPr/>
        </p:nvSpPr>
        <p:spPr>
          <a:xfrm>
            <a:off x="4648126" y="762967"/>
            <a:ext cx="3977060" cy="2268364"/>
          </a:xfrm>
          <a:prstGeom prst="roundRect">
            <a:avLst>
              <a:gd fmla="val 1083" name="adj"/>
            </a:avLst>
          </a:prstGeom>
          <a:solidFill>
            <a:srgbClr val="EDE8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32"/>
          <p:cNvSpPr/>
          <p:nvPr/>
        </p:nvSpPr>
        <p:spPr>
          <a:xfrm>
            <a:off x="4718298" y="821457"/>
            <a:ext cx="3836715" cy="2151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// POST /search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  "query": "How do I create a production order?",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  "top_k": 5,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  "tenant_id": "company_a",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  "language": "vi",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  "filters": {"department": "production"}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Calibri"/>
              <a:buNone/>
            </a:pPr>
            <a:r>
              <a:t/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// Response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  {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    "id": "chunk_001",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    "content": "Để tạo lệnh sản xuất, vào menu...",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    "score": 0.94,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    "metadata": {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      "document_id": "doc_123",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      "page": 5,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      "department": "production"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  },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  ...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400"/>
              <a:buFont typeface="Consolas"/>
              <a:buNone/>
            </a:pPr>
            <a:r>
              <a:rPr b="0" i="0" lang="en-US" sz="40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32"/>
          <p:cNvSpPr/>
          <p:nvPr/>
        </p:nvSpPr>
        <p:spPr>
          <a:xfrm>
            <a:off x="4648126" y="3060725"/>
            <a:ext cx="3977060" cy="86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500"/>
              <a:buFont typeface="Funnel Display"/>
              <a:buNone/>
            </a:pPr>
            <a:r>
              <a:rPr b="0" i="0" lang="en-US" sz="5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API Design best practices: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32"/>
          <p:cNvSpPr/>
          <p:nvPr/>
        </p:nvSpPr>
        <p:spPr>
          <a:xfrm>
            <a:off x="4648126" y="3172867"/>
            <a:ext cx="3977060" cy="297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81280" lvl="0" marL="8128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00"/>
              <a:buFont typeface="Funnel Sans"/>
              <a:buChar char="•"/>
            </a:pPr>
            <a:r>
              <a:rPr b="0" i="0" lang="en-US" sz="4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Luôn require </a:t>
            </a:r>
            <a:r>
              <a:rPr b="0" i="0" lang="en-US" sz="400" u="none" cap="none" strike="noStrike">
                <a:solidFill>
                  <a:srgbClr val="2B3541"/>
                </a:solidFill>
                <a:highlight>
                  <a:srgbClr val="EDE8DE"/>
                </a:highlight>
                <a:latin typeface="Consolas"/>
                <a:ea typeface="Consolas"/>
                <a:cs typeface="Consolas"/>
                <a:sym typeface="Consolas"/>
              </a:rPr>
              <a:t>tenant_id</a:t>
            </a:r>
            <a:r>
              <a:rPr b="0" i="0" lang="en-US" sz="4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 — không để client tự filter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1280" lvl="0" marL="8128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00"/>
              <a:buFont typeface="Funnel Sans"/>
              <a:buChar char="•"/>
            </a:pPr>
            <a:r>
              <a:rPr b="0" i="0" lang="en-US" sz="4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Giới hạn </a:t>
            </a:r>
            <a:r>
              <a:rPr b="0" i="0" lang="en-US" sz="400" u="none" cap="none" strike="noStrike">
                <a:solidFill>
                  <a:srgbClr val="2B3541"/>
                </a:solidFill>
                <a:highlight>
                  <a:srgbClr val="EDE8DE"/>
                </a:highlight>
                <a:latin typeface="Consolas"/>
                <a:ea typeface="Consolas"/>
                <a:cs typeface="Consolas"/>
                <a:sym typeface="Consolas"/>
              </a:rPr>
              <a:t>top_k</a:t>
            </a:r>
            <a:r>
              <a:rPr b="0" i="0" lang="en-US" sz="4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 tối đa (ví dụ: max 20) — tránh abuse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1280" lvl="0" marL="8128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00"/>
              <a:buFont typeface="Funnel Sans"/>
              <a:buChar char="•"/>
            </a:pPr>
            <a:r>
              <a:rPr b="0" i="0" lang="en-US" sz="4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Trả về </a:t>
            </a:r>
            <a:r>
              <a:rPr b="0" i="0" lang="en-US" sz="400" u="none" cap="none" strike="noStrike">
                <a:solidFill>
                  <a:srgbClr val="2B3541"/>
                </a:solidFill>
                <a:highlight>
                  <a:srgbClr val="EDE8DE"/>
                </a:highlight>
                <a:latin typeface="Consolas"/>
                <a:ea typeface="Consolas"/>
                <a:cs typeface="Consolas"/>
                <a:sym typeface="Consolas"/>
              </a:rPr>
              <a:t>score</a:t>
            </a:r>
            <a:r>
              <a:rPr b="0" i="0" lang="en-US" sz="4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 để client có thể threshold filter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1280" lvl="0" marL="8128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00"/>
              <a:buFont typeface="Funnel Sans"/>
              <a:buChar char="•"/>
            </a:pPr>
            <a:r>
              <a:rPr b="0" i="0" lang="en-US" sz="4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Log mọi request với </a:t>
            </a:r>
            <a:r>
              <a:rPr b="0" i="0" lang="en-US" sz="400" u="none" cap="none" strike="noStrike">
                <a:solidFill>
                  <a:srgbClr val="2B3541"/>
                </a:solidFill>
                <a:highlight>
                  <a:srgbClr val="EDE8DE"/>
                </a:highlight>
                <a:latin typeface="Consolas"/>
                <a:ea typeface="Consolas"/>
                <a:cs typeface="Consolas"/>
                <a:sym typeface="Consolas"/>
              </a:rPr>
              <a:t>request_id</a:t>
            </a:r>
            <a:r>
              <a:rPr b="0" i="0" lang="en-US" sz="4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 để debug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32"/>
          <p:cNvSpPr/>
          <p:nvPr/>
        </p:nvSpPr>
        <p:spPr>
          <a:xfrm>
            <a:off x="523577" y="4586734"/>
            <a:ext cx="8096845" cy="146447"/>
          </a:xfrm>
          <a:prstGeom prst="roundRect">
            <a:avLst>
              <a:gd fmla="val 16778" name="adj"/>
            </a:avLst>
          </a:prstGeom>
          <a:solidFill>
            <a:srgbClr val="FCF2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07" name="Google Shape;90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2067" y="4627438"/>
            <a:ext cx="73075" cy="58489"/>
          </a:xfrm>
          <a:prstGeom prst="rect">
            <a:avLst/>
          </a:prstGeom>
          <a:noFill/>
          <a:ln>
            <a:noFill/>
          </a:ln>
        </p:spPr>
      </p:pic>
      <p:sp>
        <p:nvSpPr>
          <p:cNvPr id="908" name="Google Shape;908;p32"/>
          <p:cNvSpPr/>
          <p:nvPr/>
        </p:nvSpPr>
        <p:spPr>
          <a:xfrm>
            <a:off x="713631" y="4627438"/>
            <a:ext cx="8305502" cy="676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Funnel Sans"/>
              <a:buNone/>
            </a:pPr>
            <a:r>
              <a:rPr b="1" i="0" lang="en-US" sz="400" u="none" cap="none" strike="noStrike">
                <a:solidFill>
                  <a:srgbClr val="000000"/>
                </a:solidFill>
                <a:latin typeface="Funnel Sans"/>
                <a:ea typeface="Funnel Sans"/>
                <a:cs typeface="Funnel Sans"/>
                <a:sym typeface="Funnel Sans"/>
              </a:rPr>
              <a:t>Thiết kế API phải enforce security constraints — không để vector similarity quyết định data access.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5EB"/>
        </a:solidFill>
      </p:bgPr>
    </p:bg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33"/>
          <p:cNvSpPr/>
          <p:nvPr/>
        </p:nvSpPr>
        <p:spPr>
          <a:xfrm>
            <a:off x="523577" y="460028"/>
            <a:ext cx="8096845" cy="302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1850"/>
              <a:buFont typeface="Funnel Display"/>
              <a:buNone/>
            </a:pPr>
            <a:r>
              <a:rPr b="0" i="0" lang="en-US" sz="18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Monitoring &amp; Observability — Production Retrieval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33"/>
          <p:cNvSpPr/>
          <p:nvPr/>
        </p:nvSpPr>
        <p:spPr>
          <a:xfrm>
            <a:off x="523577" y="965448"/>
            <a:ext cx="3922812" cy="1514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900"/>
              <a:buFont typeface="Funnel Display"/>
              <a:buNone/>
            </a:pPr>
            <a:r>
              <a:rPr b="0" i="0" lang="en-US" sz="9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Những gì cần log cho mỗi request: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16" name="Google Shape;916;p33"/>
          <p:cNvGraphicFramePr/>
          <p:nvPr/>
        </p:nvGraphicFramePr>
        <p:xfrm>
          <a:off x="523577" y="12079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{3B3E4DE5-BB9D-4D9E-814C-6277CECA3E85}</a:tableStyleId>
              </a:tblPr>
              <a:tblGrid>
                <a:gridCol w="1098375"/>
                <a:gridCol w="1412225"/>
                <a:gridCol w="1412225"/>
              </a:tblGrid>
              <a:tr h="25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Field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03000" marL="103000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Mô tả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03000" marL="10300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Dùng để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03000" marL="10300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Consola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query</a:t>
                      </a:r>
                      <a:endParaRPr sz="8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775" marB="4775" marR="103000" marL="103000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Query gốc của user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03000" marL="10300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Debug, phân tích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03000" marL="10300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5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Consola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query_embedding_time</a:t>
                      </a:r>
                      <a:endParaRPr sz="8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775" marB="4775" marR="103000" marL="103000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Thời gian embed query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03000" marL="10300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Latency profiling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03000" marL="10300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5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Consola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retrieved_chunks</a:t>
                      </a:r>
                      <a:endParaRPr sz="8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775" marB="4775" marR="103000" marL="103000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Top-K chunks được retrieve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03000" marL="10300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Debug retrieval quality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03000" marL="10300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Consola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similarity_scores</a:t>
                      </a:r>
                      <a:endParaRPr sz="8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775" marB="4775" marR="103000" marL="103000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Scores của từng chunk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03000" marL="10300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Phát hiện retrieval kém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03000" marL="10300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Consola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reranker_scores</a:t>
                      </a:r>
                      <a:endParaRPr sz="8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775" marB="4775" marR="103000" marL="103000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Scores sau reranking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03000" marL="10300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So sánh với retriever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03000" marL="10300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Consola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metadata_filters</a:t>
                      </a:r>
                      <a:endParaRPr sz="8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775" marB="4775" marR="103000" marL="103000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Filters được áp dụng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03000" marL="10300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Debug isolation issues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03000" marL="10300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Consola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total_latency</a:t>
                      </a:r>
                      <a:endParaRPr sz="8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775" marB="4775" marR="103000" marL="103000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Tổng thời gian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03000" marL="10300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SLA monitoring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03000" marL="10300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Consola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llm_answer</a:t>
                      </a:r>
                      <a:endParaRPr sz="8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775" marB="4775" marR="103000" marL="103000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Câu trả lời của LLM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03000" marL="10300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Đánh giá end-to-end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103000" marL="103000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17" name="Google Shape;917;p33"/>
          <p:cNvSpPr/>
          <p:nvPr/>
        </p:nvSpPr>
        <p:spPr>
          <a:xfrm>
            <a:off x="4702373" y="965448"/>
            <a:ext cx="3922812" cy="1514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900"/>
              <a:buFont typeface="Funnel Display"/>
              <a:buNone/>
            </a:pPr>
            <a:r>
              <a:rPr b="0" i="0" lang="en-US" sz="9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Metrics cần theo dõi: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18" name="Google Shape;91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02373" y="1207963"/>
            <a:ext cx="1920925" cy="1052512"/>
          </a:xfrm>
          <a:prstGeom prst="rect">
            <a:avLst/>
          </a:prstGeom>
          <a:noFill/>
          <a:ln>
            <a:noFill/>
          </a:ln>
        </p:spPr>
      </p:pic>
      <p:sp>
        <p:nvSpPr>
          <p:cNvPr id="919" name="Google Shape;919;p33"/>
          <p:cNvSpPr/>
          <p:nvPr/>
        </p:nvSpPr>
        <p:spPr>
          <a:xfrm>
            <a:off x="5585594" y="1277764"/>
            <a:ext cx="154484" cy="193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150"/>
              <a:buFont typeface="Funnel Display"/>
              <a:buNone/>
            </a:pPr>
            <a:r>
              <a:rPr b="0" i="0" lang="en-US" sz="11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33"/>
          <p:cNvSpPr/>
          <p:nvPr/>
        </p:nvSpPr>
        <p:spPr>
          <a:xfrm>
            <a:off x="4819650" y="1612181"/>
            <a:ext cx="1686371" cy="302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900"/>
              <a:buFont typeface="Funnel Display"/>
              <a:buNone/>
            </a:pPr>
            <a:r>
              <a:rPr b="0" i="0" lang="en-US" sz="9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Retrieval Latency P50/P95/P99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33"/>
          <p:cNvSpPr/>
          <p:nvPr/>
        </p:nvSpPr>
        <p:spPr>
          <a:xfrm>
            <a:off x="4819650" y="1996008"/>
            <a:ext cx="1686371" cy="1471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50"/>
              <a:buFont typeface="Funnel Sans"/>
              <a:buNone/>
            </a:pPr>
            <a:r>
              <a:rPr b="0" i="0" lang="en-US" sz="7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Phân phối latency — phát hiện outlier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22" name="Google Shape;92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04261" y="1207963"/>
            <a:ext cx="1920925" cy="1052512"/>
          </a:xfrm>
          <a:prstGeom prst="rect">
            <a:avLst/>
          </a:prstGeom>
          <a:noFill/>
          <a:ln>
            <a:noFill/>
          </a:ln>
        </p:spPr>
      </p:pic>
      <p:sp>
        <p:nvSpPr>
          <p:cNvPr id="923" name="Google Shape;923;p33"/>
          <p:cNvSpPr/>
          <p:nvPr/>
        </p:nvSpPr>
        <p:spPr>
          <a:xfrm>
            <a:off x="7587481" y="1277764"/>
            <a:ext cx="154484" cy="193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150"/>
              <a:buFont typeface="Funnel Display"/>
              <a:buNone/>
            </a:pPr>
            <a:r>
              <a:rPr b="0" i="0" lang="en-US" sz="11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2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33"/>
          <p:cNvSpPr/>
          <p:nvPr/>
        </p:nvSpPr>
        <p:spPr>
          <a:xfrm>
            <a:off x="6821537" y="1612181"/>
            <a:ext cx="1686371" cy="1514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900"/>
              <a:buFont typeface="Funnel Display"/>
              <a:buNone/>
            </a:pPr>
            <a:r>
              <a:rPr b="0" i="0" lang="en-US" sz="9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Recall@K (sampled)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33"/>
          <p:cNvSpPr/>
          <p:nvPr/>
        </p:nvSpPr>
        <p:spPr>
          <a:xfrm>
            <a:off x="6821537" y="1844576"/>
            <a:ext cx="1686371" cy="1471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50"/>
              <a:buFont typeface="Funnel Sans"/>
              <a:buNone/>
            </a:pPr>
            <a:r>
              <a:rPr b="0" i="0" lang="en-US" sz="7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Đánh giá định kỳ trên labeled queries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26" name="Google Shape;92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02373" y="2341438"/>
            <a:ext cx="1920925" cy="1048271"/>
          </a:xfrm>
          <a:prstGeom prst="rect">
            <a:avLst/>
          </a:prstGeom>
          <a:noFill/>
          <a:ln>
            <a:noFill/>
          </a:ln>
        </p:spPr>
      </p:pic>
      <p:sp>
        <p:nvSpPr>
          <p:cNvPr id="927" name="Google Shape;927;p33"/>
          <p:cNvSpPr/>
          <p:nvPr/>
        </p:nvSpPr>
        <p:spPr>
          <a:xfrm>
            <a:off x="5585594" y="2411239"/>
            <a:ext cx="154484" cy="193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150"/>
              <a:buFont typeface="Funnel Display"/>
              <a:buNone/>
            </a:pPr>
            <a:r>
              <a:rPr b="0" i="0" lang="en-US" sz="11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3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33"/>
          <p:cNvSpPr/>
          <p:nvPr/>
        </p:nvSpPr>
        <p:spPr>
          <a:xfrm>
            <a:off x="4819650" y="2745656"/>
            <a:ext cx="1686371" cy="1514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900"/>
              <a:buFont typeface="Funnel Display"/>
              <a:buNone/>
            </a:pPr>
            <a:r>
              <a:rPr b="0" i="0" lang="en-US" sz="9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Zero-result rate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33"/>
          <p:cNvSpPr/>
          <p:nvPr/>
        </p:nvSpPr>
        <p:spPr>
          <a:xfrm>
            <a:off x="4819650" y="2978051"/>
            <a:ext cx="1686371" cy="2943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50"/>
              <a:buFont typeface="Funnel Sans"/>
              <a:buNone/>
            </a:pPr>
            <a:r>
              <a:rPr b="0" i="0" lang="en-US" sz="7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% query không tìm được kết quả nào — dấu hiệu retrieval kém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30" name="Google Shape;93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04261" y="2341438"/>
            <a:ext cx="1920925" cy="1048271"/>
          </a:xfrm>
          <a:prstGeom prst="rect">
            <a:avLst/>
          </a:prstGeom>
          <a:noFill/>
          <a:ln>
            <a:noFill/>
          </a:ln>
        </p:spPr>
      </p:pic>
      <p:sp>
        <p:nvSpPr>
          <p:cNvPr id="931" name="Google Shape;931;p33"/>
          <p:cNvSpPr/>
          <p:nvPr/>
        </p:nvSpPr>
        <p:spPr>
          <a:xfrm>
            <a:off x="7587481" y="2411239"/>
            <a:ext cx="154484" cy="193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150"/>
              <a:buFont typeface="Funnel Display"/>
              <a:buNone/>
            </a:pPr>
            <a:r>
              <a:rPr b="0" i="0" lang="en-US" sz="11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4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33"/>
          <p:cNvSpPr/>
          <p:nvPr/>
        </p:nvSpPr>
        <p:spPr>
          <a:xfrm>
            <a:off x="6821537" y="2745656"/>
            <a:ext cx="1686371" cy="1514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900"/>
              <a:buFont typeface="Funnel Display"/>
              <a:buNone/>
            </a:pPr>
            <a:r>
              <a:rPr b="0" i="0" lang="en-US" sz="9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User feedback signals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33"/>
          <p:cNvSpPr/>
          <p:nvPr/>
        </p:nvSpPr>
        <p:spPr>
          <a:xfrm>
            <a:off x="6821537" y="2978051"/>
            <a:ext cx="1686371" cy="2943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50"/>
              <a:buFont typeface="Funnel Sans"/>
              <a:buNone/>
            </a:pPr>
            <a:r>
              <a:rPr b="0" i="0" lang="en-US" sz="7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Thumbs up/down, click-through — proxy cho relevance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33"/>
          <p:cNvSpPr/>
          <p:nvPr/>
        </p:nvSpPr>
        <p:spPr>
          <a:xfrm>
            <a:off x="4702373" y="3480792"/>
            <a:ext cx="3922812" cy="1514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900"/>
              <a:buFont typeface="Funnel Display"/>
              <a:buNone/>
            </a:pPr>
            <a:r>
              <a:rPr b="0" i="0" lang="en-US" sz="9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Alerting: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33"/>
          <p:cNvSpPr/>
          <p:nvPr/>
        </p:nvSpPr>
        <p:spPr>
          <a:xfrm>
            <a:off x="4702373" y="3713187"/>
            <a:ext cx="3922812" cy="498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50"/>
              <a:buFont typeface="Funnel Sans"/>
              <a:buChar char="•"/>
            </a:pPr>
            <a:r>
              <a:rPr b="0" i="0" lang="en-US" sz="7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Alert khi P95 latency &gt; SLA threshold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50"/>
              <a:buFont typeface="Funnel Sans"/>
              <a:buChar char="•"/>
            </a:pPr>
            <a:r>
              <a:rPr b="0" i="0" lang="en-US" sz="7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Alert khi zero-result rate tăng đột biến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50"/>
              <a:buFont typeface="Funnel Sans"/>
              <a:buChar char="•"/>
            </a:pPr>
            <a:r>
              <a:rPr b="0" i="0" lang="en-US" sz="7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Alert khi similarity scores giảm đáng kể (embedding drift?)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33"/>
          <p:cNvSpPr/>
          <p:nvPr/>
        </p:nvSpPr>
        <p:spPr>
          <a:xfrm>
            <a:off x="523577" y="4330898"/>
            <a:ext cx="8096845" cy="352499"/>
          </a:xfrm>
          <a:prstGeom prst="roundRect">
            <a:avLst>
              <a:gd fmla="val 12271" name="adj"/>
            </a:avLst>
          </a:prstGeom>
          <a:solidFill>
            <a:srgbClr val="D8E7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37" name="Google Shape;937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6566" y="4447505"/>
            <a:ext cx="128736" cy="102989"/>
          </a:xfrm>
          <a:prstGeom prst="rect">
            <a:avLst/>
          </a:prstGeom>
          <a:noFill/>
          <a:ln>
            <a:noFill/>
          </a:ln>
        </p:spPr>
      </p:pic>
      <p:sp>
        <p:nvSpPr>
          <p:cNvPr id="938" name="Google Shape;938;p33"/>
          <p:cNvSpPr/>
          <p:nvPr/>
        </p:nvSpPr>
        <p:spPr>
          <a:xfrm>
            <a:off x="858292" y="4437608"/>
            <a:ext cx="8116342" cy="1471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Funnel Sans"/>
              <a:buNone/>
            </a:pPr>
            <a:r>
              <a:rPr b="1" i="0" lang="en-US" sz="750" u="none" cap="none" strike="noStrike">
                <a:solidFill>
                  <a:srgbClr val="000000"/>
                </a:solidFill>
                <a:latin typeface="Funnel Sans"/>
                <a:ea typeface="Funnel Sans"/>
                <a:cs typeface="Funnel Sans"/>
                <a:sym typeface="Funnel Sans"/>
              </a:rPr>
              <a:t>Không có observability → không thể debug production issues. Log từ ngày đầu.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5EB"/>
        </a:solidFill>
      </p:bgPr>
    </p:bg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34"/>
          <p:cNvSpPr/>
          <p:nvPr/>
        </p:nvSpPr>
        <p:spPr>
          <a:xfrm>
            <a:off x="523577" y="391939"/>
            <a:ext cx="8096845" cy="2405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1450"/>
              <a:buFont typeface="Funnel Display"/>
              <a:buNone/>
            </a:pPr>
            <a:r>
              <a:rPr b="0" i="0" lang="en-US" sz="14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Caching &amp; Performance Optimization — Production Retrieval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34"/>
          <p:cNvSpPr/>
          <p:nvPr/>
        </p:nvSpPr>
        <p:spPr>
          <a:xfrm>
            <a:off x="523577" y="760288"/>
            <a:ext cx="3948633" cy="120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700"/>
              <a:buFont typeface="Funnel Display"/>
              <a:buNone/>
            </a:pPr>
            <a:r>
              <a:rPr b="0" i="0" lang="en-US" sz="7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Caching Strategy: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46" name="Google Shape;946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577" y="938138"/>
            <a:ext cx="1948755" cy="781645"/>
          </a:xfrm>
          <a:prstGeom prst="rect">
            <a:avLst/>
          </a:prstGeom>
          <a:noFill/>
          <a:ln>
            <a:noFill/>
          </a:ln>
        </p:spPr>
      </p:pic>
      <p:sp>
        <p:nvSpPr>
          <p:cNvPr id="947" name="Google Shape;947;p34"/>
          <p:cNvSpPr/>
          <p:nvPr/>
        </p:nvSpPr>
        <p:spPr>
          <a:xfrm>
            <a:off x="1436563" y="991270"/>
            <a:ext cx="122709" cy="1533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900"/>
              <a:buFont typeface="Funnel Display"/>
              <a:buNone/>
            </a:pPr>
            <a:r>
              <a:rPr b="0" i="0" lang="en-US" sz="9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34"/>
          <p:cNvSpPr/>
          <p:nvPr/>
        </p:nvSpPr>
        <p:spPr>
          <a:xfrm>
            <a:off x="614883" y="1244203"/>
            <a:ext cx="1766143" cy="120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00"/>
              <a:buFont typeface="Funnel Display"/>
              <a:buNone/>
            </a:pPr>
            <a:r>
              <a:rPr b="0" i="0" lang="en-US" sz="7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Query Embedding Cache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34"/>
          <p:cNvSpPr/>
          <p:nvPr/>
        </p:nvSpPr>
        <p:spPr>
          <a:xfrm>
            <a:off x="614883" y="1415653"/>
            <a:ext cx="1766143" cy="212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Sans"/>
              <a:buNone/>
            </a:pPr>
            <a:r>
              <a:rPr b="0" i="0" lang="en-US" sz="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Cache embedding của query phổ biến — tránh gọi embedding service mỗi lần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50" name="Google Shape;95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23455" y="938138"/>
            <a:ext cx="1948755" cy="781645"/>
          </a:xfrm>
          <a:prstGeom prst="rect">
            <a:avLst/>
          </a:prstGeom>
          <a:noFill/>
          <a:ln>
            <a:noFill/>
          </a:ln>
        </p:spPr>
      </p:pic>
      <p:sp>
        <p:nvSpPr>
          <p:cNvPr id="951" name="Google Shape;951;p34"/>
          <p:cNvSpPr/>
          <p:nvPr/>
        </p:nvSpPr>
        <p:spPr>
          <a:xfrm>
            <a:off x="3436441" y="991270"/>
            <a:ext cx="122709" cy="1533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900"/>
              <a:buFont typeface="Funnel Display"/>
              <a:buNone/>
            </a:pPr>
            <a:r>
              <a:rPr b="0" i="0" lang="en-US" sz="9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34"/>
          <p:cNvSpPr/>
          <p:nvPr/>
        </p:nvSpPr>
        <p:spPr>
          <a:xfrm>
            <a:off x="2614761" y="1244203"/>
            <a:ext cx="1766143" cy="120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00"/>
              <a:buFont typeface="Funnel Display"/>
              <a:buNone/>
            </a:pPr>
            <a:r>
              <a:rPr b="0" i="0" lang="en-US" sz="7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Semantic Cache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34"/>
          <p:cNvSpPr/>
          <p:nvPr/>
        </p:nvSpPr>
        <p:spPr>
          <a:xfrm>
            <a:off x="2614761" y="1415653"/>
            <a:ext cx="1766143" cy="212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Sans"/>
              <a:buNone/>
            </a:pPr>
            <a:r>
              <a:rPr b="0" i="0" lang="en-US" sz="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Cache kết quả search cho query tương tự — dùng similarity threshold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54" name="Google Shape;95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577" y="1770906"/>
            <a:ext cx="1948755" cy="781645"/>
          </a:xfrm>
          <a:prstGeom prst="rect">
            <a:avLst/>
          </a:prstGeom>
          <a:noFill/>
          <a:ln>
            <a:noFill/>
          </a:ln>
        </p:spPr>
      </p:pic>
      <p:sp>
        <p:nvSpPr>
          <p:cNvPr id="955" name="Google Shape;955;p34"/>
          <p:cNvSpPr/>
          <p:nvPr/>
        </p:nvSpPr>
        <p:spPr>
          <a:xfrm>
            <a:off x="1436563" y="1824038"/>
            <a:ext cx="122709" cy="1533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900"/>
              <a:buFont typeface="Funnel Display"/>
              <a:buNone/>
            </a:pPr>
            <a:r>
              <a:rPr b="0" i="0" lang="en-US" sz="9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34"/>
          <p:cNvSpPr/>
          <p:nvPr/>
        </p:nvSpPr>
        <p:spPr>
          <a:xfrm>
            <a:off x="614883" y="2076971"/>
            <a:ext cx="1766143" cy="120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00"/>
              <a:buFont typeface="Funnel Display"/>
              <a:buNone/>
            </a:pPr>
            <a:r>
              <a:rPr b="0" i="0" lang="en-US" sz="7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Result Cache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34"/>
          <p:cNvSpPr/>
          <p:nvPr/>
        </p:nvSpPr>
        <p:spPr>
          <a:xfrm>
            <a:off x="614883" y="2248421"/>
            <a:ext cx="1766143" cy="212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Sans"/>
              <a:buNone/>
            </a:pPr>
            <a:r>
              <a:rPr b="0" i="0" lang="en-US" sz="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Cache Top-K results cho exact query — TTL ngắn (5-15 phút)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58" name="Google Shape;95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23455" y="1770906"/>
            <a:ext cx="1948755" cy="781645"/>
          </a:xfrm>
          <a:prstGeom prst="rect">
            <a:avLst/>
          </a:prstGeom>
          <a:noFill/>
          <a:ln>
            <a:noFill/>
          </a:ln>
        </p:spPr>
      </p:pic>
      <p:sp>
        <p:nvSpPr>
          <p:cNvPr id="959" name="Google Shape;959;p34"/>
          <p:cNvSpPr/>
          <p:nvPr/>
        </p:nvSpPr>
        <p:spPr>
          <a:xfrm>
            <a:off x="3436441" y="1824038"/>
            <a:ext cx="122709" cy="1533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900"/>
              <a:buFont typeface="Funnel Display"/>
              <a:buNone/>
            </a:pPr>
            <a:r>
              <a:rPr b="0" i="0" lang="en-US" sz="9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34"/>
          <p:cNvSpPr/>
          <p:nvPr/>
        </p:nvSpPr>
        <p:spPr>
          <a:xfrm>
            <a:off x="2614761" y="2076971"/>
            <a:ext cx="1766143" cy="120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00"/>
              <a:buFont typeface="Funnel Display"/>
              <a:buNone/>
            </a:pPr>
            <a:r>
              <a:rPr b="0" i="0" lang="en-US" sz="7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Reranker Cache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34"/>
          <p:cNvSpPr/>
          <p:nvPr/>
        </p:nvSpPr>
        <p:spPr>
          <a:xfrm>
            <a:off x="2614761" y="2248421"/>
            <a:ext cx="1766143" cy="212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Sans"/>
              <a:buNone/>
            </a:pPr>
            <a:r>
              <a:rPr b="0" i="0" lang="en-US" sz="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Cache reranker scores cho cặp (query, doc) đã thấy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34"/>
          <p:cNvSpPr/>
          <p:nvPr/>
        </p:nvSpPr>
        <p:spPr>
          <a:xfrm>
            <a:off x="523577" y="2610073"/>
            <a:ext cx="3948633" cy="120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700"/>
              <a:buFont typeface="Funnel Display"/>
              <a:buNone/>
            </a:pPr>
            <a:r>
              <a:rPr b="0" i="0" lang="en-US" sz="7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Ví dụ — Semantic Cache: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34"/>
          <p:cNvSpPr/>
          <p:nvPr/>
        </p:nvSpPr>
        <p:spPr>
          <a:xfrm>
            <a:off x="523577" y="2787923"/>
            <a:ext cx="3948633" cy="1604218"/>
          </a:xfrm>
          <a:prstGeom prst="roundRect">
            <a:avLst>
              <a:gd fmla="val 2142" name="adj"/>
            </a:avLst>
          </a:prstGeom>
          <a:solidFill>
            <a:srgbClr val="EDE8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4" name="Google Shape;964;p34"/>
          <p:cNvSpPr/>
          <p:nvPr/>
        </p:nvSpPr>
        <p:spPr>
          <a:xfrm>
            <a:off x="621729" y="2869704"/>
            <a:ext cx="3752329" cy="1440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class SemanticCache: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def __init__(self, threshold=0.95):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    self.cache = {}  # query_vec → results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    self.threshold = threshold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async def get(self, query_vec):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    for cached_vec, results in self.cache.items():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        similarity = cosine_sim(query_vec, cached_vec)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        if similarity &gt; self.threshold: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            return results  # Cache hit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    return None  # Cache miss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34"/>
          <p:cNvSpPr/>
          <p:nvPr/>
        </p:nvSpPr>
        <p:spPr>
          <a:xfrm>
            <a:off x="4676552" y="760288"/>
            <a:ext cx="3948633" cy="120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700"/>
              <a:buFont typeface="Funnel Display"/>
              <a:buNone/>
            </a:pPr>
            <a:r>
              <a:rPr b="0" i="0" lang="en-US" sz="7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Performance Optimization: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66" name="Google Shape;966;p34"/>
          <p:cNvGraphicFramePr/>
          <p:nvPr/>
        </p:nvGraphicFramePr>
        <p:xfrm>
          <a:off x="4676552" y="938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{3B3E4DE5-BB9D-4D9E-814C-6277CECA3E85}</a:tableStyleId>
              </a:tblPr>
              <a:tblGrid>
                <a:gridCol w="1342525"/>
                <a:gridCol w="1303050"/>
                <a:gridCol w="1303050"/>
              </a:tblGrid>
              <a:tr h="179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Kỹ thuật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1825" marL="81825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Tác động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1825" marL="8182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Đánh đổi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1825" marL="8182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Batch embedding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1825" marL="81825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10-50x faster indexing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1825" marL="8182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Latency cao hơn cho single query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1825" marL="8182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2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Async retrieval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1825" marL="81825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Giảm latency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1825" marL="8182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Code phức tạp hơn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1825" marL="8182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2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Connection pooling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1825" marL="81825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Giảm overhead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1825" marL="8182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Memory cao hơn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1825" marL="8182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2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Index warm-up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1825" marL="81825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Giảm cold start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1825" marL="8182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Startup time cao hơn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1825" marL="8182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9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Quantization (PQ)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1825" marL="81825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Giảm memory 4-8x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1825" marL="8182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Recall giảm nhẹ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1825" marL="8182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67" name="Google Shape;967;p34"/>
          <p:cNvSpPr/>
          <p:nvPr/>
        </p:nvSpPr>
        <p:spPr>
          <a:xfrm>
            <a:off x="4676552" y="2198936"/>
            <a:ext cx="3948633" cy="120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700"/>
              <a:buFont typeface="Funnel Display"/>
              <a:buNone/>
            </a:pPr>
            <a:r>
              <a:rPr b="0" i="0" lang="en-US" sz="7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Latency Budget: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34"/>
          <p:cNvSpPr/>
          <p:nvPr/>
        </p:nvSpPr>
        <p:spPr>
          <a:xfrm>
            <a:off x="4676552" y="2376785"/>
            <a:ext cx="3948633" cy="1211312"/>
          </a:xfrm>
          <a:prstGeom prst="roundRect">
            <a:avLst>
              <a:gd fmla="val 2837" name="adj"/>
            </a:avLst>
          </a:prstGeom>
          <a:solidFill>
            <a:srgbClr val="EDE8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34"/>
          <p:cNvSpPr/>
          <p:nvPr/>
        </p:nvSpPr>
        <p:spPr>
          <a:xfrm>
            <a:off x="4774704" y="2458566"/>
            <a:ext cx="3752329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# Typical latency breakdown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query_embedding:    20-50ms   # embedding service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vector_search:       5-20ms   # ANN index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metadata_filter:     1-5ms    # DB filter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reranking:          50-200ms  # cross-encoder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total:              76-275ms  # end-to-end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# Target: P95 &lt; 500ms cho production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34"/>
          <p:cNvSpPr/>
          <p:nvPr/>
        </p:nvSpPr>
        <p:spPr>
          <a:xfrm>
            <a:off x="523577" y="4507185"/>
            <a:ext cx="8096845" cy="244301"/>
          </a:xfrm>
          <a:prstGeom prst="roundRect">
            <a:avLst>
              <a:gd fmla="val 14066" name="adj"/>
            </a:avLst>
          </a:prstGeom>
          <a:solidFill>
            <a:srgbClr val="D8E7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71" name="Google Shape;971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5358" y="4583311"/>
            <a:ext cx="102245" cy="81781"/>
          </a:xfrm>
          <a:prstGeom prst="rect">
            <a:avLst/>
          </a:prstGeom>
          <a:noFill/>
          <a:ln>
            <a:noFill/>
          </a:ln>
        </p:spPr>
      </p:pic>
      <p:sp>
        <p:nvSpPr>
          <p:cNvPr id="972" name="Google Shape;972;p34"/>
          <p:cNvSpPr/>
          <p:nvPr/>
        </p:nvSpPr>
        <p:spPr>
          <a:xfrm>
            <a:off x="789384" y="4578697"/>
            <a:ext cx="8206457" cy="106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Funnel Sans"/>
              <a:buNone/>
            </a:pPr>
            <a:r>
              <a:rPr b="1" i="0" lang="en-US" sz="600" u="none" cap="none" strike="noStrike">
                <a:solidFill>
                  <a:srgbClr val="000000"/>
                </a:solidFill>
                <a:latin typeface="Funnel Sans"/>
                <a:ea typeface="Funnel Sans"/>
                <a:cs typeface="Funnel Sans"/>
                <a:sym typeface="Funnel Sans"/>
              </a:rPr>
              <a:t>Profiling từng bước là bắt buộc — không thể tối ưu những gì không đo được.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5EB"/>
        </a:solidFill>
      </p:bgPr>
    </p:bg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35"/>
          <p:cNvSpPr/>
          <p:nvPr/>
        </p:nvSpPr>
        <p:spPr>
          <a:xfrm>
            <a:off x="523577" y="401241"/>
            <a:ext cx="8096845" cy="191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1150"/>
              <a:buFont typeface="Funnel Display"/>
              <a:buNone/>
            </a:pPr>
            <a:r>
              <a:rPr b="0" i="0" lang="en-US" sz="11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Debug Retrieval — Quy trình có hệ thống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35"/>
          <p:cNvSpPr/>
          <p:nvPr/>
        </p:nvSpPr>
        <p:spPr>
          <a:xfrm>
            <a:off x="621283" y="694134"/>
            <a:ext cx="8456340" cy="779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Sans"/>
              <a:buNone/>
            </a:pPr>
            <a:r>
              <a:rPr b="0" i="1" lang="en-US" sz="4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"Đừng debug RAG chỉ bằng cách nhìn vào câu trả lời cuối cùng của LLM."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35"/>
          <p:cNvSpPr/>
          <p:nvPr/>
        </p:nvSpPr>
        <p:spPr>
          <a:xfrm>
            <a:off x="523577" y="657671"/>
            <a:ext cx="9525" cy="150912"/>
          </a:xfrm>
          <a:prstGeom prst="roundRect">
            <a:avLst>
              <a:gd fmla="val 50000" name="adj"/>
            </a:avLst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35"/>
          <p:cNvSpPr/>
          <p:nvPr/>
        </p:nvSpPr>
        <p:spPr>
          <a:xfrm>
            <a:off x="523577" y="877416"/>
            <a:ext cx="3968948" cy="957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550"/>
              <a:buFont typeface="Funnel Display"/>
              <a:buNone/>
            </a:pPr>
            <a:r>
              <a:rPr b="0" i="0" lang="en-US" sz="5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8 bước debug có hệ thống: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35"/>
          <p:cNvSpPr/>
          <p:nvPr/>
        </p:nvSpPr>
        <p:spPr>
          <a:xfrm>
            <a:off x="523577" y="1009650"/>
            <a:ext cx="146521" cy="146521"/>
          </a:xfrm>
          <a:prstGeom prst="roundRect">
            <a:avLst>
              <a:gd fmla="val 18675" name="adj"/>
            </a:avLst>
          </a:prstGeom>
          <a:solidFill>
            <a:srgbClr val="FAF5EB"/>
          </a:solidFill>
          <a:ln cap="flat" cmpd="sng" w="9525">
            <a:solidFill>
              <a:srgbClr val="D5CD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p35"/>
          <p:cNvSpPr/>
          <p:nvPr/>
        </p:nvSpPr>
        <p:spPr>
          <a:xfrm>
            <a:off x="550850" y="1025426"/>
            <a:ext cx="91901" cy="1148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00"/>
              <a:buFont typeface="Funnel Display"/>
              <a:buNone/>
            </a:pPr>
            <a:r>
              <a:rPr b="0" i="0" lang="en-US" sz="7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35"/>
          <p:cNvSpPr/>
          <p:nvPr/>
        </p:nvSpPr>
        <p:spPr>
          <a:xfrm>
            <a:off x="702469" y="1031974"/>
            <a:ext cx="3790057" cy="957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550"/>
              <a:buFont typeface="Funnel Display"/>
              <a:buNone/>
            </a:pPr>
            <a:r>
              <a:rPr b="0" i="0" lang="en-US" sz="5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Kiểm tra query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35"/>
          <p:cNvSpPr/>
          <p:nvPr/>
        </p:nvSpPr>
        <p:spPr>
          <a:xfrm>
            <a:off x="702469" y="1160115"/>
            <a:ext cx="3790057" cy="779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Sans"/>
              <a:buNone/>
            </a:pPr>
            <a:r>
              <a:rPr b="0" i="0" lang="en-US" sz="4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Có cấu trúc tốt không? Chứa đúng từ khóa không?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35"/>
          <p:cNvSpPr/>
          <p:nvPr/>
        </p:nvSpPr>
        <p:spPr>
          <a:xfrm>
            <a:off x="523577" y="1302916"/>
            <a:ext cx="146521" cy="146521"/>
          </a:xfrm>
          <a:prstGeom prst="roundRect">
            <a:avLst>
              <a:gd fmla="val 18675" name="adj"/>
            </a:avLst>
          </a:prstGeom>
          <a:solidFill>
            <a:srgbClr val="FAF5EB"/>
          </a:solidFill>
          <a:ln cap="flat" cmpd="sng" w="9525">
            <a:solidFill>
              <a:srgbClr val="D5CD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7" name="Google Shape;987;p35"/>
          <p:cNvSpPr/>
          <p:nvPr/>
        </p:nvSpPr>
        <p:spPr>
          <a:xfrm>
            <a:off x="550850" y="1318692"/>
            <a:ext cx="91901" cy="1148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00"/>
              <a:buFont typeface="Funnel Display"/>
              <a:buNone/>
            </a:pPr>
            <a:r>
              <a:rPr b="0" i="0" lang="en-US" sz="7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35"/>
          <p:cNvSpPr/>
          <p:nvPr/>
        </p:nvSpPr>
        <p:spPr>
          <a:xfrm>
            <a:off x="702469" y="1325240"/>
            <a:ext cx="3790057" cy="957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550"/>
              <a:buFont typeface="Funnel Display"/>
              <a:buNone/>
            </a:pPr>
            <a:r>
              <a:rPr b="0" i="0" lang="en-US" sz="5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Kiểm tra query embedding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35"/>
          <p:cNvSpPr/>
          <p:nvPr/>
        </p:nvSpPr>
        <p:spPr>
          <a:xfrm>
            <a:off x="702469" y="1453381"/>
            <a:ext cx="3790057" cy="779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Sans"/>
              <a:buNone/>
            </a:pPr>
            <a:r>
              <a:rPr b="0" i="0" lang="en-US" sz="4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Vector có vấn đề rõ ràng nào không?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35"/>
          <p:cNvSpPr/>
          <p:nvPr/>
        </p:nvSpPr>
        <p:spPr>
          <a:xfrm>
            <a:off x="523577" y="1596182"/>
            <a:ext cx="146521" cy="146521"/>
          </a:xfrm>
          <a:prstGeom prst="roundRect">
            <a:avLst>
              <a:gd fmla="val 18675" name="adj"/>
            </a:avLst>
          </a:prstGeom>
          <a:solidFill>
            <a:srgbClr val="FAF5EB"/>
          </a:solidFill>
          <a:ln cap="flat" cmpd="sng" w="9525">
            <a:solidFill>
              <a:srgbClr val="D5CD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1" name="Google Shape;991;p35"/>
          <p:cNvSpPr/>
          <p:nvPr/>
        </p:nvSpPr>
        <p:spPr>
          <a:xfrm>
            <a:off x="550850" y="1611957"/>
            <a:ext cx="91901" cy="1148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00"/>
              <a:buFont typeface="Funnel Display"/>
              <a:buNone/>
            </a:pPr>
            <a:r>
              <a:rPr b="0" i="0" lang="en-US" sz="7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p35"/>
          <p:cNvSpPr/>
          <p:nvPr/>
        </p:nvSpPr>
        <p:spPr>
          <a:xfrm>
            <a:off x="702469" y="1618506"/>
            <a:ext cx="3790057" cy="957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550"/>
              <a:buFont typeface="Funnel Display"/>
              <a:buNone/>
            </a:pPr>
            <a:r>
              <a:rPr b="0" i="0" lang="en-US" sz="5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Kiểm tra chunks được retrieve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35"/>
          <p:cNvSpPr/>
          <p:nvPr/>
        </p:nvSpPr>
        <p:spPr>
          <a:xfrm>
            <a:off x="702469" y="1746647"/>
            <a:ext cx="3790057" cy="779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Sans"/>
              <a:buNone/>
            </a:pPr>
            <a:r>
              <a:rPr b="0" i="0" lang="en-US" sz="4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Có liên quan không? Nội dung là gì?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35"/>
          <p:cNvSpPr/>
          <p:nvPr/>
        </p:nvSpPr>
        <p:spPr>
          <a:xfrm>
            <a:off x="523577" y="1889447"/>
            <a:ext cx="146521" cy="146521"/>
          </a:xfrm>
          <a:prstGeom prst="roundRect">
            <a:avLst>
              <a:gd fmla="val 18675" name="adj"/>
            </a:avLst>
          </a:prstGeom>
          <a:solidFill>
            <a:srgbClr val="FAF5EB"/>
          </a:solidFill>
          <a:ln cap="flat" cmpd="sng" w="9525">
            <a:solidFill>
              <a:srgbClr val="D5CD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p35"/>
          <p:cNvSpPr/>
          <p:nvPr/>
        </p:nvSpPr>
        <p:spPr>
          <a:xfrm>
            <a:off x="550850" y="1905223"/>
            <a:ext cx="91901" cy="1148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00"/>
              <a:buFont typeface="Funnel Display"/>
              <a:buNone/>
            </a:pPr>
            <a:r>
              <a:rPr b="0" i="0" lang="en-US" sz="7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35"/>
          <p:cNvSpPr/>
          <p:nvPr/>
        </p:nvSpPr>
        <p:spPr>
          <a:xfrm>
            <a:off x="702469" y="1911772"/>
            <a:ext cx="3790057" cy="957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550"/>
              <a:buFont typeface="Funnel Display"/>
              <a:buNone/>
            </a:pPr>
            <a:r>
              <a:rPr b="0" i="0" lang="en-US" sz="5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Kiểm tra similarity scores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35"/>
          <p:cNvSpPr/>
          <p:nvPr/>
        </p:nvSpPr>
        <p:spPr>
          <a:xfrm>
            <a:off x="702469" y="2039913"/>
            <a:ext cx="3790057" cy="779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Sans"/>
              <a:buNone/>
            </a:pPr>
            <a:r>
              <a:rPr b="0" i="0" lang="en-US" sz="4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Khoảng cách giữa liên quan và không liên quan?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35"/>
          <p:cNvSpPr/>
          <p:nvPr/>
        </p:nvSpPr>
        <p:spPr>
          <a:xfrm>
            <a:off x="523577" y="2182713"/>
            <a:ext cx="146521" cy="146521"/>
          </a:xfrm>
          <a:prstGeom prst="roundRect">
            <a:avLst>
              <a:gd fmla="val 18675" name="adj"/>
            </a:avLst>
          </a:prstGeom>
          <a:solidFill>
            <a:srgbClr val="FAF5EB"/>
          </a:solidFill>
          <a:ln cap="flat" cmpd="sng" w="9525">
            <a:solidFill>
              <a:srgbClr val="D5CD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35"/>
          <p:cNvSpPr/>
          <p:nvPr/>
        </p:nvSpPr>
        <p:spPr>
          <a:xfrm>
            <a:off x="550850" y="2198489"/>
            <a:ext cx="91901" cy="1148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00"/>
              <a:buFont typeface="Funnel Display"/>
              <a:buNone/>
            </a:pPr>
            <a:r>
              <a:rPr b="0" i="0" lang="en-US" sz="7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35"/>
          <p:cNvSpPr/>
          <p:nvPr/>
        </p:nvSpPr>
        <p:spPr>
          <a:xfrm>
            <a:off x="702469" y="2205038"/>
            <a:ext cx="3790057" cy="957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550"/>
              <a:buFont typeface="Funnel Display"/>
              <a:buNone/>
            </a:pPr>
            <a:r>
              <a:rPr b="0" i="0" lang="en-US" sz="5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Kiểm tra metadata filter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Google Shape;1001;p35"/>
          <p:cNvSpPr/>
          <p:nvPr/>
        </p:nvSpPr>
        <p:spPr>
          <a:xfrm>
            <a:off x="702469" y="2333179"/>
            <a:ext cx="3790057" cy="779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Sans"/>
              <a:buNone/>
            </a:pPr>
            <a:r>
              <a:rPr b="0" i="0" lang="en-US" sz="4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Có quá chặt không? Loại trừ doc liên quan không?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p35"/>
          <p:cNvSpPr/>
          <p:nvPr/>
        </p:nvSpPr>
        <p:spPr>
          <a:xfrm>
            <a:off x="523577" y="2475979"/>
            <a:ext cx="146521" cy="146521"/>
          </a:xfrm>
          <a:prstGeom prst="roundRect">
            <a:avLst>
              <a:gd fmla="val 18675" name="adj"/>
            </a:avLst>
          </a:prstGeom>
          <a:solidFill>
            <a:srgbClr val="FAF5EB"/>
          </a:solidFill>
          <a:ln cap="flat" cmpd="sng" w="9525">
            <a:solidFill>
              <a:srgbClr val="D5CD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35"/>
          <p:cNvSpPr/>
          <p:nvPr/>
        </p:nvSpPr>
        <p:spPr>
          <a:xfrm>
            <a:off x="550850" y="2491755"/>
            <a:ext cx="91901" cy="1148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00"/>
              <a:buFont typeface="Funnel Display"/>
              <a:buNone/>
            </a:pPr>
            <a:r>
              <a:rPr b="0" i="0" lang="en-US" sz="7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p35"/>
          <p:cNvSpPr/>
          <p:nvPr/>
        </p:nvSpPr>
        <p:spPr>
          <a:xfrm>
            <a:off x="702469" y="2498303"/>
            <a:ext cx="3790057" cy="957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550"/>
              <a:buFont typeface="Funnel Display"/>
              <a:buNone/>
            </a:pPr>
            <a:r>
              <a:rPr b="0" i="0" lang="en-US" sz="5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So sánh vector vs keyword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p35"/>
          <p:cNvSpPr/>
          <p:nvPr/>
        </p:nvSpPr>
        <p:spPr>
          <a:xfrm>
            <a:off x="702469" y="2626444"/>
            <a:ext cx="3790057" cy="779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Sans"/>
              <a:buNone/>
            </a:pPr>
            <a:r>
              <a:rPr b="0" i="0" lang="en-US" sz="4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BM25 có tìm thấy gì vector search bỏ sót không?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p35"/>
          <p:cNvSpPr/>
          <p:nvPr/>
        </p:nvSpPr>
        <p:spPr>
          <a:xfrm>
            <a:off x="523577" y="2769245"/>
            <a:ext cx="146521" cy="146521"/>
          </a:xfrm>
          <a:prstGeom prst="roundRect">
            <a:avLst>
              <a:gd fmla="val 18675" name="adj"/>
            </a:avLst>
          </a:prstGeom>
          <a:solidFill>
            <a:srgbClr val="FAF5EB"/>
          </a:solidFill>
          <a:ln cap="flat" cmpd="sng" w="9525">
            <a:solidFill>
              <a:srgbClr val="D5CD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p35"/>
          <p:cNvSpPr/>
          <p:nvPr/>
        </p:nvSpPr>
        <p:spPr>
          <a:xfrm>
            <a:off x="550850" y="2785021"/>
            <a:ext cx="91901" cy="1148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00"/>
              <a:buFont typeface="Funnel Display"/>
              <a:buNone/>
            </a:pPr>
            <a:r>
              <a:rPr b="0" i="0" lang="en-US" sz="7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7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Google Shape;1008;p35"/>
          <p:cNvSpPr/>
          <p:nvPr/>
        </p:nvSpPr>
        <p:spPr>
          <a:xfrm>
            <a:off x="702469" y="2791569"/>
            <a:ext cx="3790057" cy="957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550"/>
              <a:buFont typeface="Funnel Display"/>
              <a:buNone/>
            </a:pPr>
            <a:r>
              <a:rPr b="0" i="0" lang="en-US" sz="5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Kiểm tra reranker scores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" name="Google Shape;1009;p35"/>
          <p:cNvSpPr/>
          <p:nvPr/>
        </p:nvSpPr>
        <p:spPr>
          <a:xfrm>
            <a:off x="702469" y="2919710"/>
            <a:ext cx="3790057" cy="779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Sans"/>
              <a:buNone/>
            </a:pPr>
            <a:r>
              <a:rPr b="0" i="0" lang="en-US" sz="4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Reranker có đồng ý với retriever không?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p35"/>
          <p:cNvSpPr/>
          <p:nvPr/>
        </p:nvSpPr>
        <p:spPr>
          <a:xfrm>
            <a:off x="523577" y="3062511"/>
            <a:ext cx="146521" cy="146521"/>
          </a:xfrm>
          <a:prstGeom prst="roundRect">
            <a:avLst>
              <a:gd fmla="val 18675" name="adj"/>
            </a:avLst>
          </a:prstGeom>
          <a:solidFill>
            <a:srgbClr val="FAF5EB"/>
          </a:solidFill>
          <a:ln cap="flat" cmpd="sng" w="9525">
            <a:solidFill>
              <a:srgbClr val="D5CD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35"/>
          <p:cNvSpPr/>
          <p:nvPr/>
        </p:nvSpPr>
        <p:spPr>
          <a:xfrm>
            <a:off x="550850" y="3078287"/>
            <a:ext cx="91901" cy="1148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00"/>
              <a:buFont typeface="Funnel Display"/>
              <a:buNone/>
            </a:pPr>
            <a:r>
              <a:rPr b="0" i="0" lang="en-US" sz="7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8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p35"/>
          <p:cNvSpPr/>
          <p:nvPr/>
        </p:nvSpPr>
        <p:spPr>
          <a:xfrm>
            <a:off x="702469" y="3084835"/>
            <a:ext cx="3790057" cy="957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550"/>
              <a:buFont typeface="Funnel Display"/>
              <a:buNone/>
            </a:pPr>
            <a:r>
              <a:rPr b="0" i="0" lang="en-US" sz="5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Đánh giá với labeled dataset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35"/>
          <p:cNvSpPr/>
          <p:nvPr/>
        </p:nvSpPr>
        <p:spPr>
          <a:xfrm>
            <a:off x="702469" y="3212976"/>
            <a:ext cx="3790057" cy="779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Sans"/>
              <a:buNone/>
            </a:pPr>
            <a:r>
              <a:rPr b="0" i="0" lang="en-US" sz="4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Đo Recall@K, Precision@K, MRR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p35"/>
          <p:cNvSpPr/>
          <p:nvPr/>
        </p:nvSpPr>
        <p:spPr>
          <a:xfrm>
            <a:off x="4656237" y="877416"/>
            <a:ext cx="3968948" cy="957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550"/>
              <a:buFont typeface="Funnel Display"/>
              <a:buNone/>
            </a:pPr>
            <a:r>
              <a:rPr b="0" i="0" lang="en-US" sz="5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Senior AI Engineer cần hiểu gì?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p35"/>
          <p:cNvSpPr/>
          <p:nvPr/>
        </p:nvSpPr>
        <p:spPr>
          <a:xfrm>
            <a:off x="4656237" y="1009650"/>
            <a:ext cx="130225" cy="81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Display Light"/>
              <a:buNone/>
            </a:pPr>
            <a:r>
              <a:rPr b="0" i="0" lang="en-US" sz="450" u="none" cap="none" strike="noStrike">
                <a:solidFill>
                  <a:srgbClr val="2B3541"/>
                </a:solidFill>
                <a:latin typeface="Funnel Display Light"/>
                <a:ea typeface="Funnel Display Light"/>
                <a:cs typeface="Funnel Display Light"/>
                <a:sym typeface="Funnel Display Light"/>
              </a:rPr>
              <a:t>01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Google Shape;1016;p35"/>
          <p:cNvSpPr/>
          <p:nvPr/>
        </p:nvSpPr>
        <p:spPr>
          <a:xfrm>
            <a:off x="4656237" y="1110779"/>
            <a:ext cx="3968948" cy="9525"/>
          </a:xfrm>
          <a:prstGeom prst="rect">
            <a:avLst/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35"/>
          <p:cNvSpPr/>
          <p:nvPr/>
        </p:nvSpPr>
        <p:spPr>
          <a:xfrm>
            <a:off x="4656237" y="1162348"/>
            <a:ext cx="3968948" cy="957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550"/>
              <a:buFont typeface="Funnel Display"/>
              <a:buNone/>
            </a:pPr>
            <a:r>
              <a:rPr b="0" i="0" lang="en-US" sz="5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Tại sao vector hoạt động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p35"/>
          <p:cNvSpPr/>
          <p:nvPr/>
        </p:nvSpPr>
        <p:spPr>
          <a:xfrm>
            <a:off x="4656237" y="1290489"/>
            <a:ext cx="3968948" cy="779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Sans"/>
              <a:buNone/>
            </a:pPr>
            <a:r>
              <a:rPr b="0" i="0" lang="en-US" sz="4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Biểu diễn được học với tính chất hình học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p35"/>
          <p:cNvSpPr/>
          <p:nvPr/>
        </p:nvSpPr>
        <p:spPr>
          <a:xfrm>
            <a:off x="4656237" y="1449660"/>
            <a:ext cx="130225" cy="81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Display Light"/>
              <a:buNone/>
            </a:pPr>
            <a:r>
              <a:rPr b="0" i="0" lang="en-US" sz="450" u="none" cap="none" strike="noStrike">
                <a:solidFill>
                  <a:srgbClr val="2B3541"/>
                </a:solidFill>
                <a:latin typeface="Funnel Display Light"/>
                <a:ea typeface="Funnel Display Light"/>
                <a:cs typeface="Funnel Display Light"/>
                <a:sym typeface="Funnel Display Light"/>
              </a:rPr>
              <a:t>02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0" name="Google Shape;1020;p35"/>
          <p:cNvSpPr/>
          <p:nvPr/>
        </p:nvSpPr>
        <p:spPr>
          <a:xfrm>
            <a:off x="4656237" y="1550789"/>
            <a:ext cx="3968948" cy="9525"/>
          </a:xfrm>
          <a:prstGeom prst="rect">
            <a:avLst/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p35"/>
          <p:cNvSpPr/>
          <p:nvPr/>
        </p:nvSpPr>
        <p:spPr>
          <a:xfrm>
            <a:off x="4656237" y="1602358"/>
            <a:ext cx="3968948" cy="957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550"/>
              <a:buFont typeface="Funnel Display"/>
              <a:buNone/>
            </a:pPr>
            <a:r>
              <a:rPr b="0" i="0" lang="en-US" sz="5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Embedding thực sự biểu diễn gì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p35"/>
          <p:cNvSpPr/>
          <p:nvPr/>
        </p:nvSpPr>
        <p:spPr>
          <a:xfrm>
            <a:off x="4656237" y="1730499"/>
            <a:ext cx="3968948" cy="779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Sans"/>
              <a:buNone/>
            </a:pPr>
            <a:r>
              <a:rPr b="0" i="0" lang="en-US" sz="4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Mẫu thống kê, không phải "ý nghĩa"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35"/>
          <p:cNvSpPr/>
          <p:nvPr/>
        </p:nvSpPr>
        <p:spPr>
          <a:xfrm>
            <a:off x="4656237" y="1889671"/>
            <a:ext cx="130225" cy="81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Display Light"/>
              <a:buNone/>
            </a:pPr>
            <a:r>
              <a:rPr b="0" i="0" lang="en-US" sz="450" u="none" cap="none" strike="noStrike">
                <a:solidFill>
                  <a:srgbClr val="2B3541"/>
                </a:solidFill>
                <a:latin typeface="Funnel Display Light"/>
                <a:ea typeface="Funnel Display Light"/>
                <a:cs typeface="Funnel Display Light"/>
                <a:sym typeface="Funnel Display Light"/>
              </a:rPr>
              <a:t>03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4" name="Google Shape;1024;p35"/>
          <p:cNvSpPr/>
          <p:nvPr/>
        </p:nvSpPr>
        <p:spPr>
          <a:xfrm>
            <a:off x="4656237" y="1990799"/>
            <a:ext cx="3968948" cy="9525"/>
          </a:xfrm>
          <a:prstGeom prst="rect">
            <a:avLst/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5" name="Google Shape;1025;p35"/>
          <p:cNvSpPr/>
          <p:nvPr/>
        </p:nvSpPr>
        <p:spPr>
          <a:xfrm>
            <a:off x="4656237" y="2042368"/>
            <a:ext cx="3968948" cy="957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550"/>
              <a:buFont typeface="Funnel Display"/>
              <a:buNone/>
            </a:pPr>
            <a:r>
              <a:rPr b="0" i="0" lang="en-US" sz="5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Similarity được đo như thế nào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6" name="Google Shape;1026;p35"/>
          <p:cNvSpPr/>
          <p:nvPr/>
        </p:nvSpPr>
        <p:spPr>
          <a:xfrm>
            <a:off x="4656237" y="2170509"/>
            <a:ext cx="3968948" cy="779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Sans"/>
              <a:buNone/>
            </a:pPr>
            <a:r>
              <a:rPr b="0" i="0" lang="en-US" sz="4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Metric phải khớp với training objective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35"/>
          <p:cNvSpPr/>
          <p:nvPr/>
        </p:nvSpPr>
        <p:spPr>
          <a:xfrm>
            <a:off x="4656237" y="2329681"/>
            <a:ext cx="130225" cy="81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Display Light"/>
              <a:buNone/>
            </a:pPr>
            <a:r>
              <a:rPr b="0" i="0" lang="en-US" sz="450" u="none" cap="none" strike="noStrike">
                <a:solidFill>
                  <a:srgbClr val="2B3541"/>
                </a:solidFill>
                <a:latin typeface="Funnel Display Light"/>
                <a:ea typeface="Funnel Display Light"/>
                <a:cs typeface="Funnel Display Light"/>
                <a:sym typeface="Funnel Display Light"/>
              </a:rPr>
              <a:t>04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8" name="Google Shape;1028;p35"/>
          <p:cNvSpPr/>
          <p:nvPr/>
        </p:nvSpPr>
        <p:spPr>
          <a:xfrm>
            <a:off x="4656237" y="2430810"/>
            <a:ext cx="3968948" cy="9525"/>
          </a:xfrm>
          <a:prstGeom prst="rect">
            <a:avLst/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9" name="Google Shape;1029;p35"/>
          <p:cNvSpPr/>
          <p:nvPr/>
        </p:nvSpPr>
        <p:spPr>
          <a:xfrm>
            <a:off x="4656237" y="2482379"/>
            <a:ext cx="3968948" cy="957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550"/>
              <a:buFont typeface="Funnel Display"/>
              <a:buNone/>
            </a:pPr>
            <a:r>
              <a:rPr b="0" i="0" lang="en-US" sz="5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Tại sao ANN tồn tại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0" name="Google Shape;1030;p35"/>
          <p:cNvSpPr/>
          <p:nvPr/>
        </p:nvSpPr>
        <p:spPr>
          <a:xfrm>
            <a:off x="4656237" y="2610520"/>
            <a:ext cx="3968948" cy="779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Sans"/>
              <a:buNone/>
            </a:pPr>
            <a:r>
              <a:rPr b="0" i="0" lang="en-US" sz="4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O(N×D) không scale → xấp xỉ với cấu trúc dữ liệu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p35"/>
          <p:cNvSpPr/>
          <p:nvPr/>
        </p:nvSpPr>
        <p:spPr>
          <a:xfrm>
            <a:off x="4656237" y="2769691"/>
            <a:ext cx="130225" cy="81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Display Light"/>
              <a:buNone/>
            </a:pPr>
            <a:r>
              <a:rPr b="0" i="0" lang="en-US" sz="450" u="none" cap="none" strike="noStrike">
                <a:solidFill>
                  <a:srgbClr val="2B3541"/>
                </a:solidFill>
                <a:latin typeface="Funnel Display Light"/>
                <a:ea typeface="Funnel Display Light"/>
                <a:cs typeface="Funnel Display Light"/>
                <a:sym typeface="Funnel Display Light"/>
              </a:rPr>
              <a:t>05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2" name="Google Shape;1032;p35"/>
          <p:cNvSpPr/>
          <p:nvPr/>
        </p:nvSpPr>
        <p:spPr>
          <a:xfrm>
            <a:off x="4656237" y="2870820"/>
            <a:ext cx="3968948" cy="9525"/>
          </a:xfrm>
          <a:prstGeom prst="rect">
            <a:avLst/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35"/>
          <p:cNvSpPr/>
          <p:nvPr/>
        </p:nvSpPr>
        <p:spPr>
          <a:xfrm>
            <a:off x="4656237" y="2922389"/>
            <a:ext cx="3968948" cy="957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550"/>
              <a:buFont typeface="Funnel Display"/>
              <a:buNone/>
            </a:pPr>
            <a:r>
              <a:rPr b="0" i="0" lang="en-US" sz="5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Tại sao metadata filtering quan trọng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p35"/>
          <p:cNvSpPr/>
          <p:nvPr/>
        </p:nvSpPr>
        <p:spPr>
          <a:xfrm>
            <a:off x="4656237" y="3050530"/>
            <a:ext cx="3968948" cy="779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Sans"/>
              <a:buNone/>
            </a:pPr>
            <a:r>
              <a:rPr b="0" i="0" lang="en-US" sz="4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Ràng buộc nghiệp vụ ≠ vector similarity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p35"/>
          <p:cNvSpPr/>
          <p:nvPr/>
        </p:nvSpPr>
        <p:spPr>
          <a:xfrm>
            <a:off x="4656237" y="3209702"/>
            <a:ext cx="130225" cy="81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Display Light"/>
              <a:buNone/>
            </a:pPr>
            <a:r>
              <a:rPr b="0" i="0" lang="en-US" sz="450" u="none" cap="none" strike="noStrike">
                <a:solidFill>
                  <a:srgbClr val="2B3541"/>
                </a:solidFill>
                <a:latin typeface="Funnel Display Light"/>
                <a:ea typeface="Funnel Display Light"/>
                <a:cs typeface="Funnel Display Light"/>
                <a:sym typeface="Funnel Display Light"/>
              </a:rPr>
              <a:t>06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6" name="Google Shape;1036;p35"/>
          <p:cNvSpPr/>
          <p:nvPr/>
        </p:nvSpPr>
        <p:spPr>
          <a:xfrm>
            <a:off x="4656237" y="3310830"/>
            <a:ext cx="3968948" cy="9525"/>
          </a:xfrm>
          <a:prstGeom prst="rect">
            <a:avLst/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7" name="Google Shape;1037;p35"/>
          <p:cNvSpPr/>
          <p:nvPr/>
        </p:nvSpPr>
        <p:spPr>
          <a:xfrm>
            <a:off x="4656237" y="3362399"/>
            <a:ext cx="3968948" cy="957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550"/>
              <a:buFont typeface="Funnel Display"/>
              <a:buNone/>
            </a:pPr>
            <a:r>
              <a:rPr b="0" i="0" lang="en-US" sz="5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Tại sao hybrid search hữu ích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8" name="Google Shape;1038;p35"/>
          <p:cNvSpPr/>
          <p:nvPr/>
        </p:nvSpPr>
        <p:spPr>
          <a:xfrm>
            <a:off x="4656237" y="3490540"/>
            <a:ext cx="3968948" cy="779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Sans"/>
              <a:buNone/>
            </a:pPr>
            <a:r>
              <a:rPr b="0" i="0" lang="en-US" sz="4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Từ vựng + ngữ nghĩa = bền vững hơn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9" name="Google Shape;1039;p35"/>
          <p:cNvSpPr/>
          <p:nvPr/>
        </p:nvSpPr>
        <p:spPr>
          <a:xfrm>
            <a:off x="4656237" y="3649712"/>
            <a:ext cx="130225" cy="81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Display Light"/>
              <a:buNone/>
            </a:pPr>
            <a:r>
              <a:rPr b="0" i="0" lang="en-US" sz="450" u="none" cap="none" strike="noStrike">
                <a:solidFill>
                  <a:srgbClr val="2B3541"/>
                </a:solidFill>
                <a:latin typeface="Funnel Display Light"/>
                <a:ea typeface="Funnel Display Light"/>
                <a:cs typeface="Funnel Display Light"/>
                <a:sym typeface="Funnel Display Light"/>
              </a:rPr>
              <a:t>07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p35"/>
          <p:cNvSpPr/>
          <p:nvPr/>
        </p:nvSpPr>
        <p:spPr>
          <a:xfrm>
            <a:off x="4656237" y="3750841"/>
            <a:ext cx="3968948" cy="9525"/>
          </a:xfrm>
          <a:prstGeom prst="rect">
            <a:avLst/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p35"/>
          <p:cNvSpPr/>
          <p:nvPr/>
        </p:nvSpPr>
        <p:spPr>
          <a:xfrm>
            <a:off x="4656237" y="3802410"/>
            <a:ext cx="3968948" cy="957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550"/>
              <a:buFont typeface="Funnel Display"/>
              <a:buNone/>
            </a:pPr>
            <a:r>
              <a:rPr b="0" i="0" lang="en-US" sz="5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Tại sao reranking tồn tại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2" name="Google Shape;1042;p35"/>
          <p:cNvSpPr/>
          <p:nvPr/>
        </p:nvSpPr>
        <p:spPr>
          <a:xfrm>
            <a:off x="4656237" y="3930551"/>
            <a:ext cx="3968948" cy="779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Sans"/>
              <a:buNone/>
            </a:pPr>
            <a:r>
              <a:rPr b="0" i="0" lang="en-US" sz="4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Retriever tối ưu recall, reranker tối ưu precision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35"/>
          <p:cNvSpPr/>
          <p:nvPr/>
        </p:nvSpPr>
        <p:spPr>
          <a:xfrm>
            <a:off x="4656237" y="4089722"/>
            <a:ext cx="130225" cy="81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Display Light"/>
              <a:buNone/>
            </a:pPr>
            <a:r>
              <a:rPr b="0" i="0" lang="en-US" sz="450" u="none" cap="none" strike="noStrike">
                <a:solidFill>
                  <a:srgbClr val="2B3541"/>
                </a:solidFill>
                <a:latin typeface="Funnel Display Light"/>
                <a:ea typeface="Funnel Display Light"/>
                <a:cs typeface="Funnel Display Light"/>
                <a:sym typeface="Funnel Display Light"/>
              </a:rPr>
              <a:t>08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4" name="Google Shape;1044;p35"/>
          <p:cNvSpPr/>
          <p:nvPr/>
        </p:nvSpPr>
        <p:spPr>
          <a:xfrm>
            <a:off x="4656237" y="4190851"/>
            <a:ext cx="3968948" cy="9525"/>
          </a:xfrm>
          <a:prstGeom prst="rect">
            <a:avLst/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5" name="Google Shape;1045;p35"/>
          <p:cNvSpPr/>
          <p:nvPr/>
        </p:nvSpPr>
        <p:spPr>
          <a:xfrm>
            <a:off x="4656237" y="4242420"/>
            <a:ext cx="3968948" cy="957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550"/>
              <a:buFont typeface="Funnel Display"/>
              <a:buNone/>
            </a:pPr>
            <a:r>
              <a:rPr b="0" i="0" lang="en-US" sz="5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Cách đánh giá retrieval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p35"/>
          <p:cNvSpPr/>
          <p:nvPr/>
        </p:nvSpPr>
        <p:spPr>
          <a:xfrm>
            <a:off x="4656237" y="4370561"/>
            <a:ext cx="3968948" cy="779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Sans"/>
              <a:buNone/>
            </a:pPr>
            <a:r>
              <a:rPr b="0" i="0" lang="en-US" sz="4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Recall@K, labeled dataset, đo lường liên tục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35"/>
          <p:cNvSpPr/>
          <p:nvPr/>
        </p:nvSpPr>
        <p:spPr>
          <a:xfrm>
            <a:off x="523577" y="4570288"/>
            <a:ext cx="8096845" cy="171971"/>
          </a:xfrm>
          <a:prstGeom prst="roundRect">
            <a:avLst>
              <a:gd fmla="val 15911" name="adj"/>
            </a:avLst>
          </a:prstGeom>
          <a:solidFill>
            <a:srgbClr val="D8E7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48" name="Google Shape;104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8690" y="4618881"/>
            <a:ext cx="81409" cy="65112"/>
          </a:xfrm>
          <a:prstGeom prst="rect">
            <a:avLst/>
          </a:prstGeom>
          <a:noFill/>
          <a:ln>
            <a:noFill/>
          </a:ln>
        </p:spPr>
      </p:pic>
      <p:sp>
        <p:nvSpPr>
          <p:cNvPr id="1049" name="Google Shape;1049;p35"/>
          <p:cNvSpPr/>
          <p:nvPr/>
        </p:nvSpPr>
        <p:spPr>
          <a:xfrm>
            <a:off x="735211" y="4618881"/>
            <a:ext cx="8277299" cy="779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Funnel Sans"/>
              <a:buNone/>
            </a:pPr>
            <a:r>
              <a:rPr b="1" i="0" lang="en-US" sz="450" u="none" cap="none" strike="noStrike">
                <a:solidFill>
                  <a:srgbClr val="000000"/>
                </a:solidFill>
                <a:latin typeface="Funnel Sans"/>
                <a:ea typeface="Funnel Sans"/>
                <a:cs typeface="Funnel Sans"/>
                <a:sym typeface="Funnel Sans"/>
              </a:rPr>
              <a:t>Công cụ:</a:t>
            </a:r>
            <a:r>
              <a:rPr b="0" i="0" lang="en-US" sz="450" u="none" cap="none" strike="noStrike">
                <a:solidFill>
                  <a:srgbClr val="000000"/>
                </a:solidFill>
                <a:latin typeface="Funnel Sans"/>
                <a:ea typeface="Funnel Sans"/>
                <a:cs typeface="Funnel Sans"/>
                <a:sym typeface="Funnel Sans"/>
              </a:rPr>
              <a:t> Ghi log query, retrieved chunks, scores và filters cho mỗi request trong production.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5EB"/>
        </a:solidFill>
      </p:bgPr>
    </p:bg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36"/>
          <p:cNvSpPr/>
          <p:nvPr/>
        </p:nvSpPr>
        <p:spPr>
          <a:xfrm>
            <a:off x="523577" y="372889"/>
            <a:ext cx="8096845" cy="1786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1100"/>
              <a:buFont typeface="Funnel Display"/>
              <a:buNone/>
            </a:pPr>
            <a:r>
              <a:rPr b="0" i="0" lang="en-US" sz="11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Retrieval Engineering — Bức tranh toàn cảnh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6" name="Google Shape;1056;p36"/>
          <p:cNvSpPr/>
          <p:nvPr/>
        </p:nvSpPr>
        <p:spPr>
          <a:xfrm>
            <a:off x="523577" y="607888"/>
            <a:ext cx="8554045" cy="71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Sans"/>
              <a:buNone/>
            </a:pPr>
            <a:r>
              <a:rPr b="0" i="0" lang="en-US" sz="4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Semantic search không phải là 'đưa text vào vector database'. Đây là một bài toán kỹ thuật đầy đủ.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p36"/>
          <p:cNvSpPr/>
          <p:nvPr/>
        </p:nvSpPr>
        <p:spPr>
          <a:xfrm>
            <a:off x="523577" y="738783"/>
            <a:ext cx="3974381" cy="892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500"/>
              <a:buFont typeface="Funnel Display"/>
              <a:buNone/>
            </a:pPr>
            <a:r>
              <a:rPr b="0" i="0" lang="en-US" sz="5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Flow kiến thức Week 6: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p36"/>
          <p:cNvSpPr/>
          <p:nvPr/>
        </p:nvSpPr>
        <p:spPr>
          <a:xfrm>
            <a:off x="523577" y="859780"/>
            <a:ext cx="180603" cy="309935"/>
          </a:xfrm>
          <a:prstGeom prst="roundRect">
            <a:avLst>
              <a:gd fmla="val 14128" name="adj"/>
            </a:avLst>
          </a:prstGeom>
          <a:solidFill>
            <a:srgbClr val="FAF5EB"/>
          </a:solidFill>
          <a:ln cap="flat" cmpd="sng" w="9525">
            <a:solidFill>
              <a:srgbClr val="D5CD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p36"/>
          <p:cNvSpPr/>
          <p:nvPr/>
        </p:nvSpPr>
        <p:spPr>
          <a:xfrm>
            <a:off x="589062" y="961355"/>
            <a:ext cx="49634" cy="106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50"/>
              <a:buFont typeface="Funnel Display"/>
              <a:buNone/>
            </a:pPr>
            <a:r>
              <a:rPr b="0" i="0" lang="en-US" sz="6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1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0" name="Google Shape;1060;p36"/>
          <p:cNvSpPr/>
          <p:nvPr/>
        </p:nvSpPr>
        <p:spPr>
          <a:xfrm>
            <a:off x="764902" y="920502"/>
            <a:ext cx="3672334" cy="892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500"/>
              <a:buFont typeface="Funnel Display"/>
              <a:buNone/>
            </a:pPr>
            <a:r>
              <a:rPr b="0" i="0" lang="en-US" sz="5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Vector Space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1" name="Google Shape;1061;p36"/>
          <p:cNvSpPr/>
          <p:nvPr/>
        </p:nvSpPr>
        <p:spPr>
          <a:xfrm>
            <a:off x="764902" y="1037927"/>
            <a:ext cx="3672334" cy="71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Sans"/>
              <a:buNone/>
            </a:pPr>
            <a:r>
              <a:rPr b="0" i="0" lang="en-US" sz="4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Không gian toán học với vị trí và quan hệ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2" name="Google Shape;1062;p36"/>
          <p:cNvSpPr/>
          <p:nvPr/>
        </p:nvSpPr>
        <p:spPr>
          <a:xfrm>
            <a:off x="734541" y="1167333"/>
            <a:ext cx="3733056" cy="4763"/>
          </a:xfrm>
          <a:prstGeom prst="roundRect">
            <a:avLst>
              <a:gd fmla="val 49995" name="adj"/>
            </a:avLst>
          </a:prstGeom>
          <a:solidFill>
            <a:srgbClr val="D5CD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p36"/>
          <p:cNvSpPr/>
          <p:nvPr/>
        </p:nvSpPr>
        <p:spPr>
          <a:xfrm>
            <a:off x="523577" y="1200076"/>
            <a:ext cx="361280" cy="309935"/>
          </a:xfrm>
          <a:prstGeom prst="roundRect">
            <a:avLst>
              <a:gd fmla="val 8233" name="adj"/>
            </a:avLst>
          </a:prstGeom>
          <a:solidFill>
            <a:srgbClr val="FAF5EB"/>
          </a:solidFill>
          <a:ln cap="flat" cmpd="sng" w="9525">
            <a:solidFill>
              <a:srgbClr val="D5CD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4" name="Google Shape;1064;p36"/>
          <p:cNvSpPr/>
          <p:nvPr/>
        </p:nvSpPr>
        <p:spPr>
          <a:xfrm>
            <a:off x="661467" y="1301651"/>
            <a:ext cx="85427" cy="106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50"/>
              <a:buFont typeface="Funnel Display"/>
              <a:buNone/>
            </a:pPr>
            <a:r>
              <a:rPr b="0" i="0" lang="en-US" sz="6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2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5" name="Google Shape;1065;p36"/>
          <p:cNvSpPr/>
          <p:nvPr/>
        </p:nvSpPr>
        <p:spPr>
          <a:xfrm>
            <a:off x="945579" y="1260797"/>
            <a:ext cx="3491657" cy="892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500"/>
              <a:buFont typeface="Funnel Display"/>
              <a:buNone/>
            </a:pPr>
            <a:r>
              <a:rPr b="0" i="0" lang="en-US" sz="5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Representation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6" name="Google Shape;1066;p36"/>
          <p:cNvSpPr/>
          <p:nvPr/>
        </p:nvSpPr>
        <p:spPr>
          <a:xfrm>
            <a:off x="945579" y="1378223"/>
            <a:ext cx="3491657" cy="71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Sans"/>
              <a:buNone/>
            </a:pPr>
            <a:r>
              <a:rPr b="0" i="0" lang="en-US" sz="4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Object → vector (text, image, product)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7" name="Google Shape;1067;p36"/>
          <p:cNvSpPr/>
          <p:nvPr/>
        </p:nvSpPr>
        <p:spPr>
          <a:xfrm>
            <a:off x="915219" y="1507629"/>
            <a:ext cx="3552379" cy="4763"/>
          </a:xfrm>
          <a:prstGeom prst="roundRect">
            <a:avLst>
              <a:gd fmla="val 49995" name="adj"/>
            </a:avLst>
          </a:prstGeom>
          <a:solidFill>
            <a:srgbClr val="D5CD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8" name="Google Shape;1068;p36"/>
          <p:cNvSpPr/>
          <p:nvPr/>
        </p:nvSpPr>
        <p:spPr>
          <a:xfrm>
            <a:off x="523577" y="1540371"/>
            <a:ext cx="541958" cy="309935"/>
          </a:xfrm>
          <a:prstGeom prst="roundRect">
            <a:avLst>
              <a:gd fmla="val 8233" name="adj"/>
            </a:avLst>
          </a:prstGeom>
          <a:solidFill>
            <a:srgbClr val="FAF5EB"/>
          </a:solidFill>
          <a:ln cap="flat" cmpd="sng" w="9525">
            <a:solidFill>
              <a:srgbClr val="D5CD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9" name="Google Shape;1069;p36"/>
          <p:cNvSpPr/>
          <p:nvPr/>
        </p:nvSpPr>
        <p:spPr>
          <a:xfrm>
            <a:off x="751805" y="1641946"/>
            <a:ext cx="85427" cy="106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50"/>
              <a:buFont typeface="Funnel Display"/>
              <a:buNone/>
            </a:pPr>
            <a:r>
              <a:rPr b="0" i="0" lang="en-US" sz="6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3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0" name="Google Shape;1070;p36"/>
          <p:cNvSpPr/>
          <p:nvPr/>
        </p:nvSpPr>
        <p:spPr>
          <a:xfrm>
            <a:off x="1126257" y="1601093"/>
            <a:ext cx="3310979" cy="892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500"/>
              <a:buFont typeface="Funnel Display"/>
              <a:buNone/>
            </a:pPr>
            <a:r>
              <a:rPr b="0" i="0" lang="en-US" sz="5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Embedding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1" name="Google Shape;1071;p36"/>
          <p:cNvSpPr/>
          <p:nvPr/>
        </p:nvSpPr>
        <p:spPr>
          <a:xfrm>
            <a:off x="1126257" y="1718518"/>
            <a:ext cx="3310979" cy="71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Sans"/>
              <a:buNone/>
            </a:pPr>
            <a:r>
              <a:rPr b="0" i="0" lang="en-US" sz="4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Biểu diễn được học từ dữ liệu huấn luyện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2" name="Google Shape;1072;p36"/>
          <p:cNvSpPr/>
          <p:nvPr/>
        </p:nvSpPr>
        <p:spPr>
          <a:xfrm>
            <a:off x="1095896" y="1847924"/>
            <a:ext cx="3371701" cy="4763"/>
          </a:xfrm>
          <a:prstGeom prst="roundRect">
            <a:avLst>
              <a:gd fmla="val 49995" name="adj"/>
            </a:avLst>
          </a:prstGeom>
          <a:solidFill>
            <a:srgbClr val="D5CD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3" name="Google Shape;1073;p36"/>
          <p:cNvSpPr/>
          <p:nvPr/>
        </p:nvSpPr>
        <p:spPr>
          <a:xfrm>
            <a:off x="523577" y="1880667"/>
            <a:ext cx="722561" cy="309935"/>
          </a:xfrm>
          <a:prstGeom prst="roundRect">
            <a:avLst>
              <a:gd fmla="val 8233" name="adj"/>
            </a:avLst>
          </a:prstGeom>
          <a:solidFill>
            <a:srgbClr val="FAF5EB"/>
          </a:solidFill>
          <a:ln cap="flat" cmpd="sng" w="9525">
            <a:solidFill>
              <a:srgbClr val="D5CD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4" name="Google Shape;1074;p36"/>
          <p:cNvSpPr/>
          <p:nvPr/>
        </p:nvSpPr>
        <p:spPr>
          <a:xfrm>
            <a:off x="842144" y="1982242"/>
            <a:ext cx="85427" cy="106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50"/>
              <a:buFont typeface="Funnel Display"/>
              <a:buNone/>
            </a:pPr>
            <a:r>
              <a:rPr b="0" i="0" lang="en-US" sz="6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4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5" name="Google Shape;1075;p36"/>
          <p:cNvSpPr/>
          <p:nvPr/>
        </p:nvSpPr>
        <p:spPr>
          <a:xfrm>
            <a:off x="1306860" y="1941388"/>
            <a:ext cx="3130376" cy="892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500"/>
              <a:buFont typeface="Funnel Display"/>
              <a:buNone/>
            </a:pPr>
            <a:r>
              <a:rPr b="0" i="0" lang="en-US" sz="5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Similarity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6" name="Google Shape;1076;p36"/>
          <p:cNvSpPr/>
          <p:nvPr/>
        </p:nvSpPr>
        <p:spPr>
          <a:xfrm>
            <a:off x="1306860" y="2058814"/>
            <a:ext cx="3130376" cy="71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Sans"/>
              <a:buNone/>
            </a:pPr>
            <a:r>
              <a:rPr b="0" i="0" lang="en-US" sz="4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Cosine, Dot Product, Euclidean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7" name="Google Shape;1077;p36"/>
          <p:cNvSpPr/>
          <p:nvPr/>
        </p:nvSpPr>
        <p:spPr>
          <a:xfrm>
            <a:off x="1276499" y="2188220"/>
            <a:ext cx="3191098" cy="4763"/>
          </a:xfrm>
          <a:prstGeom prst="roundRect">
            <a:avLst>
              <a:gd fmla="val 49995" name="adj"/>
            </a:avLst>
          </a:prstGeom>
          <a:solidFill>
            <a:srgbClr val="D5CD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8" name="Google Shape;1078;p36"/>
          <p:cNvSpPr/>
          <p:nvPr/>
        </p:nvSpPr>
        <p:spPr>
          <a:xfrm>
            <a:off x="523577" y="2220962"/>
            <a:ext cx="903238" cy="309935"/>
          </a:xfrm>
          <a:prstGeom prst="roundRect">
            <a:avLst>
              <a:gd fmla="val 8233" name="adj"/>
            </a:avLst>
          </a:prstGeom>
          <a:solidFill>
            <a:srgbClr val="FAF5EB"/>
          </a:solidFill>
          <a:ln cap="flat" cmpd="sng" w="9525">
            <a:solidFill>
              <a:srgbClr val="D5CD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9" name="Google Shape;1079;p36"/>
          <p:cNvSpPr/>
          <p:nvPr/>
        </p:nvSpPr>
        <p:spPr>
          <a:xfrm>
            <a:off x="932483" y="2322537"/>
            <a:ext cx="85427" cy="106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50"/>
              <a:buFont typeface="Funnel Display"/>
              <a:buNone/>
            </a:pPr>
            <a:r>
              <a:rPr b="0" i="0" lang="en-US" sz="6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5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0" name="Google Shape;1080;p36"/>
          <p:cNvSpPr/>
          <p:nvPr/>
        </p:nvSpPr>
        <p:spPr>
          <a:xfrm>
            <a:off x="1487537" y="2281684"/>
            <a:ext cx="2949699" cy="892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500"/>
              <a:buFont typeface="Funnel Display"/>
              <a:buNone/>
            </a:pPr>
            <a:r>
              <a:rPr b="0" i="0" lang="en-US" sz="5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Semantic Search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1" name="Google Shape;1081;p36"/>
          <p:cNvSpPr/>
          <p:nvPr/>
        </p:nvSpPr>
        <p:spPr>
          <a:xfrm>
            <a:off x="1487537" y="2399109"/>
            <a:ext cx="2949699" cy="71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Sans"/>
              <a:buNone/>
            </a:pPr>
            <a:r>
              <a:rPr b="0" i="0" lang="en-US" sz="4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Query vector → similarity → Top-K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2" name="Google Shape;1082;p36"/>
          <p:cNvSpPr/>
          <p:nvPr/>
        </p:nvSpPr>
        <p:spPr>
          <a:xfrm>
            <a:off x="1457176" y="2528515"/>
            <a:ext cx="3010421" cy="4763"/>
          </a:xfrm>
          <a:prstGeom prst="roundRect">
            <a:avLst>
              <a:gd fmla="val 49995" name="adj"/>
            </a:avLst>
          </a:prstGeom>
          <a:solidFill>
            <a:srgbClr val="D5CD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Google Shape;1083;p36"/>
          <p:cNvSpPr/>
          <p:nvPr/>
        </p:nvSpPr>
        <p:spPr>
          <a:xfrm>
            <a:off x="523577" y="2561258"/>
            <a:ext cx="1083915" cy="309935"/>
          </a:xfrm>
          <a:prstGeom prst="roundRect">
            <a:avLst>
              <a:gd fmla="val 8233" name="adj"/>
            </a:avLst>
          </a:prstGeom>
          <a:solidFill>
            <a:srgbClr val="FAF5EB"/>
          </a:solidFill>
          <a:ln cap="flat" cmpd="sng" w="9525">
            <a:solidFill>
              <a:srgbClr val="D5CD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4" name="Google Shape;1084;p36"/>
          <p:cNvSpPr/>
          <p:nvPr/>
        </p:nvSpPr>
        <p:spPr>
          <a:xfrm>
            <a:off x="1022821" y="2662833"/>
            <a:ext cx="85427" cy="106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50"/>
              <a:buFont typeface="Funnel Display"/>
              <a:buNone/>
            </a:pPr>
            <a:r>
              <a:rPr b="0" i="0" lang="en-US" sz="6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6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5" name="Google Shape;1085;p36"/>
          <p:cNvSpPr/>
          <p:nvPr/>
        </p:nvSpPr>
        <p:spPr>
          <a:xfrm>
            <a:off x="1668214" y="2621979"/>
            <a:ext cx="2769022" cy="892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500"/>
              <a:buFont typeface="Funnel Display"/>
              <a:buNone/>
            </a:pPr>
            <a:r>
              <a:rPr b="0" i="0" lang="en-US" sz="5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Exact NN → ANN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p36"/>
          <p:cNvSpPr/>
          <p:nvPr/>
        </p:nvSpPr>
        <p:spPr>
          <a:xfrm>
            <a:off x="1668214" y="2739405"/>
            <a:ext cx="2769022" cy="71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Sans"/>
              <a:buNone/>
            </a:pPr>
            <a:r>
              <a:rPr b="0" i="0" lang="en-US" sz="4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Scale với HNSW / IVFFlat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7" name="Google Shape;1087;p36"/>
          <p:cNvSpPr/>
          <p:nvPr/>
        </p:nvSpPr>
        <p:spPr>
          <a:xfrm>
            <a:off x="1637854" y="2868811"/>
            <a:ext cx="2829744" cy="4763"/>
          </a:xfrm>
          <a:prstGeom prst="roundRect">
            <a:avLst>
              <a:gd fmla="val 49995" name="adj"/>
            </a:avLst>
          </a:prstGeom>
          <a:solidFill>
            <a:srgbClr val="D5CD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8" name="Google Shape;1088;p36"/>
          <p:cNvSpPr/>
          <p:nvPr/>
        </p:nvSpPr>
        <p:spPr>
          <a:xfrm>
            <a:off x="523577" y="2901553"/>
            <a:ext cx="1264518" cy="309935"/>
          </a:xfrm>
          <a:prstGeom prst="roundRect">
            <a:avLst>
              <a:gd fmla="val 8233" name="adj"/>
            </a:avLst>
          </a:prstGeom>
          <a:solidFill>
            <a:srgbClr val="FAF5EB"/>
          </a:solidFill>
          <a:ln cap="flat" cmpd="sng" w="9525">
            <a:solidFill>
              <a:srgbClr val="D5CD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9" name="Google Shape;1089;p36"/>
          <p:cNvSpPr/>
          <p:nvPr/>
        </p:nvSpPr>
        <p:spPr>
          <a:xfrm>
            <a:off x="1113086" y="3003128"/>
            <a:ext cx="85427" cy="106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50"/>
              <a:buFont typeface="Funnel Display"/>
              <a:buNone/>
            </a:pPr>
            <a:r>
              <a:rPr b="0" i="0" lang="en-US" sz="6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7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0" name="Google Shape;1090;p36"/>
          <p:cNvSpPr/>
          <p:nvPr/>
        </p:nvSpPr>
        <p:spPr>
          <a:xfrm>
            <a:off x="1848817" y="2962275"/>
            <a:ext cx="2588419" cy="892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500"/>
              <a:buFont typeface="Funnel Display"/>
              <a:buNone/>
            </a:pPr>
            <a:r>
              <a:rPr b="0" i="0" lang="en-US" sz="5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Metadata Filtering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1" name="Google Shape;1091;p36"/>
          <p:cNvSpPr/>
          <p:nvPr/>
        </p:nvSpPr>
        <p:spPr>
          <a:xfrm>
            <a:off x="1848817" y="3079700"/>
            <a:ext cx="2588419" cy="71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Sans"/>
              <a:buNone/>
            </a:pPr>
            <a:r>
              <a:rPr b="0" i="0" lang="en-US" sz="4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Ràng buộc nghiệp vụ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2" name="Google Shape;1092;p36"/>
          <p:cNvSpPr/>
          <p:nvPr/>
        </p:nvSpPr>
        <p:spPr>
          <a:xfrm>
            <a:off x="1818456" y="3209106"/>
            <a:ext cx="2649141" cy="4763"/>
          </a:xfrm>
          <a:prstGeom prst="roundRect">
            <a:avLst>
              <a:gd fmla="val 49995" name="adj"/>
            </a:avLst>
          </a:prstGeom>
          <a:solidFill>
            <a:srgbClr val="D5CD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3" name="Google Shape;1093;p36"/>
          <p:cNvSpPr/>
          <p:nvPr/>
        </p:nvSpPr>
        <p:spPr>
          <a:xfrm>
            <a:off x="523577" y="3241849"/>
            <a:ext cx="1445196" cy="309935"/>
          </a:xfrm>
          <a:prstGeom prst="roundRect">
            <a:avLst>
              <a:gd fmla="val 8233" name="adj"/>
            </a:avLst>
          </a:prstGeom>
          <a:solidFill>
            <a:srgbClr val="FAF5EB"/>
          </a:solidFill>
          <a:ln cap="flat" cmpd="sng" w="9525">
            <a:solidFill>
              <a:srgbClr val="D5CD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36"/>
          <p:cNvSpPr/>
          <p:nvPr/>
        </p:nvSpPr>
        <p:spPr>
          <a:xfrm>
            <a:off x="1203424" y="3343424"/>
            <a:ext cx="85427" cy="106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50"/>
              <a:buFont typeface="Funnel Display"/>
              <a:buNone/>
            </a:pPr>
            <a:r>
              <a:rPr b="0" i="0" lang="en-US" sz="6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8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5" name="Google Shape;1095;p36"/>
          <p:cNvSpPr/>
          <p:nvPr/>
        </p:nvSpPr>
        <p:spPr>
          <a:xfrm>
            <a:off x="2029495" y="3302571"/>
            <a:ext cx="2407741" cy="892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500"/>
              <a:buFont typeface="Funnel Display"/>
              <a:buNone/>
            </a:pPr>
            <a:r>
              <a:rPr b="0" i="0" lang="en-US" sz="5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Hybrid Search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6" name="Google Shape;1096;p36"/>
          <p:cNvSpPr/>
          <p:nvPr/>
        </p:nvSpPr>
        <p:spPr>
          <a:xfrm>
            <a:off x="2029495" y="3419996"/>
            <a:ext cx="2407741" cy="71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Sans"/>
              <a:buNone/>
            </a:pPr>
            <a:r>
              <a:rPr b="0" i="0" lang="en-US" sz="4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BM25 + Vector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7" name="Google Shape;1097;p36"/>
          <p:cNvSpPr/>
          <p:nvPr/>
        </p:nvSpPr>
        <p:spPr>
          <a:xfrm>
            <a:off x="1999134" y="3549402"/>
            <a:ext cx="2468463" cy="4763"/>
          </a:xfrm>
          <a:prstGeom prst="roundRect">
            <a:avLst>
              <a:gd fmla="val 49995" name="adj"/>
            </a:avLst>
          </a:prstGeom>
          <a:solidFill>
            <a:srgbClr val="D5CD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8" name="Google Shape;1098;p36"/>
          <p:cNvSpPr/>
          <p:nvPr/>
        </p:nvSpPr>
        <p:spPr>
          <a:xfrm>
            <a:off x="523577" y="3582144"/>
            <a:ext cx="1625873" cy="309935"/>
          </a:xfrm>
          <a:prstGeom prst="roundRect">
            <a:avLst>
              <a:gd fmla="val 8233" name="adj"/>
            </a:avLst>
          </a:prstGeom>
          <a:solidFill>
            <a:srgbClr val="FAF5EB"/>
          </a:solidFill>
          <a:ln cap="flat" cmpd="sng" w="9525">
            <a:solidFill>
              <a:srgbClr val="D5CD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Google Shape;1099;p36"/>
          <p:cNvSpPr/>
          <p:nvPr/>
        </p:nvSpPr>
        <p:spPr>
          <a:xfrm>
            <a:off x="1293763" y="3683719"/>
            <a:ext cx="85427" cy="106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50"/>
              <a:buFont typeface="Funnel Display"/>
              <a:buNone/>
            </a:pPr>
            <a:r>
              <a:rPr b="0" i="0" lang="en-US" sz="6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9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0" name="Google Shape;1100;p36"/>
          <p:cNvSpPr/>
          <p:nvPr/>
        </p:nvSpPr>
        <p:spPr>
          <a:xfrm>
            <a:off x="2210172" y="3642866"/>
            <a:ext cx="2227064" cy="892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500"/>
              <a:buFont typeface="Funnel Display"/>
              <a:buNone/>
            </a:pPr>
            <a:r>
              <a:rPr b="0" i="0" lang="en-US" sz="5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Reranking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1" name="Google Shape;1101;p36"/>
          <p:cNvSpPr/>
          <p:nvPr/>
        </p:nvSpPr>
        <p:spPr>
          <a:xfrm>
            <a:off x="2210172" y="3760291"/>
            <a:ext cx="2227064" cy="71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Sans"/>
              <a:buNone/>
            </a:pPr>
            <a:r>
              <a:rPr b="0" i="0" lang="en-US" sz="4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Precision với cross-encoder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2" name="Google Shape;1102;p36"/>
          <p:cNvSpPr/>
          <p:nvPr/>
        </p:nvSpPr>
        <p:spPr>
          <a:xfrm>
            <a:off x="2179811" y="3889697"/>
            <a:ext cx="2287786" cy="4763"/>
          </a:xfrm>
          <a:prstGeom prst="roundRect">
            <a:avLst>
              <a:gd fmla="val 49995" name="adj"/>
            </a:avLst>
          </a:prstGeom>
          <a:solidFill>
            <a:srgbClr val="D5CD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Google Shape;1103;p36"/>
          <p:cNvSpPr/>
          <p:nvPr/>
        </p:nvSpPr>
        <p:spPr>
          <a:xfrm>
            <a:off x="523577" y="3922440"/>
            <a:ext cx="1806476" cy="309935"/>
          </a:xfrm>
          <a:prstGeom prst="roundRect">
            <a:avLst>
              <a:gd fmla="val 8233" name="adj"/>
            </a:avLst>
          </a:prstGeom>
          <a:solidFill>
            <a:srgbClr val="FAF5EB"/>
          </a:solidFill>
          <a:ln cap="flat" cmpd="sng" w="9525">
            <a:solidFill>
              <a:srgbClr val="D5CD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4" name="Google Shape;1104;p36"/>
          <p:cNvSpPr/>
          <p:nvPr/>
        </p:nvSpPr>
        <p:spPr>
          <a:xfrm>
            <a:off x="1384102" y="4024015"/>
            <a:ext cx="85427" cy="106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50"/>
              <a:buFont typeface="Funnel Display"/>
              <a:buNone/>
            </a:pPr>
            <a:r>
              <a:rPr b="0" i="0" lang="en-US" sz="6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10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5" name="Google Shape;1105;p36"/>
          <p:cNvSpPr/>
          <p:nvPr/>
        </p:nvSpPr>
        <p:spPr>
          <a:xfrm>
            <a:off x="2390775" y="3983162"/>
            <a:ext cx="2046461" cy="892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500"/>
              <a:buFont typeface="Funnel Display"/>
              <a:buNone/>
            </a:pPr>
            <a:r>
              <a:rPr b="0" i="0" lang="en-US" sz="5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Evaluation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6" name="Google Shape;1106;p36"/>
          <p:cNvSpPr/>
          <p:nvPr/>
        </p:nvSpPr>
        <p:spPr>
          <a:xfrm>
            <a:off x="2390775" y="4100587"/>
            <a:ext cx="2046461" cy="71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Sans"/>
              <a:buNone/>
            </a:pPr>
            <a:r>
              <a:rPr b="0" i="0" lang="en-US" sz="4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Recall@K, Precision@K, MRR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7" name="Google Shape;1107;p36"/>
          <p:cNvSpPr/>
          <p:nvPr/>
        </p:nvSpPr>
        <p:spPr>
          <a:xfrm>
            <a:off x="2360414" y="4229993"/>
            <a:ext cx="2107183" cy="4763"/>
          </a:xfrm>
          <a:prstGeom prst="roundRect">
            <a:avLst>
              <a:gd fmla="val 49995" name="adj"/>
            </a:avLst>
          </a:prstGeom>
          <a:solidFill>
            <a:srgbClr val="D5CD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8" name="Google Shape;1108;p36"/>
          <p:cNvSpPr/>
          <p:nvPr/>
        </p:nvSpPr>
        <p:spPr>
          <a:xfrm>
            <a:off x="523577" y="4262735"/>
            <a:ext cx="1987153" cy="309935"/>
          </a:xfrm>
          <a:prstGeom prst="roundRect">
            <a:avLst>
              <a:gd fmla="val 8233" name="adj"/>
            </a:avLst>
          </a:prstGeom>
          <a:solidFill>
            <a:srgbClr val="FAF5EB"/>
          </a:solidFill>
          <a:ln cap="flat" cmpd="sng" w="9525">
            <a:solidFill>
              <a:srgbClr val="D5CD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36"/>
          <p:cNvSpPr/>
          <p:nvPr/>
        </p:nvSpPr>
        <p:spPr>
          <a:xfrm>
            <a:off x="1474440" y="4364310"/>
            <a:ext cx="85427" cy="106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50"/>
              <a:buFont typeface="Funnel Display"/>
              <a:buNone/>
            </a:pPr>
            <a:r>
              <a:rPr b="0" i="0" lang="en-US" sz="6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11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0" name="Google Shape;1110;p36"/>
          <p:cNvSpPr/>
          <p:nvPr/>
        </p:nvSpPr>
        <p:spPr>
          <a:xfrm>
            <a:off x="2571452" y="4323457"/>
            <a:ext cx="1865784" cy="892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500"/>
              <a:buFont typeface="Funnel Display"/>
              <a:buNone/>
            </a:pPr>
            <a:r>
              <a:rPr b="0" i="0" lang="en-US" sz="5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Retrieval Engineering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p36"/>
          <p:cNvSpPr/>
          <p:nvPr/>
        </p:nvSpPr>
        <p:spPr>
          <a:xfrm>
            <a:off x="2571452" y="4440882"/>
            <a:ext cx="1865784" cy="71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Sans"/>
              <a:buNone/>
            </a:pPr>
            <a:r>
              <a:rPr b="0" i="0" lang="en-US" sz="4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Tối ưu toàn stack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2" name="Google Shape;1112;p36"/>
          <p:cNvSpPr/>
          <p:nvPr/>
        </p:nvSpPr>
        <p:spPr>
          <a:xfrm>
            <a:off x="4650804" y="738783"/>
            <a:ext cx="3974381" cy="892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500"/>
              <a:buFont typeface="Funnel Display"/>
              <a:buNone/>
            </a:pPr>
            <a:r>
              <a:rPr b="0" i="0" lang="en-US" sz="5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Điều quan trọng nhất cần nhớ: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3" name="Google Shape;1113;p36"/>
          <p:cNvSpPr/>
          <p:nvPr/>
        </p:nvSpPr>
        <p:spPr>
          <a:xfrm>
            <a:off x="4650804" y="859780"/>
            <a:ext cx="1973089" cy="319460"/>
          </a:xfrm>
          <a:prstGeom prst="roundRect">
            <a:avLst>
              <a:gd fmla="val 7987" name="adj"/>
            </a:avLst>
          </a:prstGeom>
          <a:solidFill>
            <a:srgbClr val="FAF5EB"/>
          </a:solidFill>
          <a:ln cap="flat" cmpd="sng" w="9525">
            <a:solidFill>
              <a:srgbClr val="D5CD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4" name="Google Shape;1114;p36"/>
          <p:cNvSpPr/>
          <p:nvPr/>
        </p:nvSpPr>
        <p:spPr>
          <a:xfrm>
            <a:off x="4716289" y="925264"/>
            <a:ext cx="1842120" cy="892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500"/>
              <a:buFont typeface="Funnel Display"/>
              <a:buNone/>
            </a:pPr>
            <a:r>
              <a:rPr b="0" i="0" lang="en-US" sz="5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Embedding ≠ 'hiểu ngôn ngữ'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5" name="Google Shape;1115;p36"/>
          <p:cNvSpPr/>
          <p:nvPr/>
        </p:nvSpPr>
        <p:spPr>
          <a:xfrm>
            <a:off x="4716289" y="1042690"/>
            <a:ext cx="1842120" cy="71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Sans"/>
              <a:buNone/>
            </a:pPr>
            <a:r>
              <a:rPr b="0" i="0" lang="en-US" sz="4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Đây là mẫu thống kê được học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6" name="Google Shape;1116;p36"/>
          <p:cNvSpPr/>
          <p:nvPr/>
        </p:nvSpPr>
        <p:spPr>
          <a:xfrm>
            <a:off x="6652022" y="859780"/>
            <a:ext cx="1973163" cy="319460"/>
          </a:xfrm>
          <a:prstGeom prst="roundRect">
            <a:avLst>
              <a:gd fmla="val 7987" name="adj"/>
            </a:avLst>
          </a:prstGeom>
          <a:solidFill>
            <a:srgbClr val="FAF5EB"/>
          </a:solidFill>
          <a:ln cap="flat" cmpd="sng" w="9525">
            <a:solidFill>
              <a:srgbClr val="D5CD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7" name="Google Shape;1117;p36"/>
          <p:cNvSpPr/>
          <p:nvPr/>
        </p:nvSpPr>
        <p:spPr>
          <a:xfrm>
            <a:off x="6717506" y="925264"/>
            <a:ext cx="1842195" cy="892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500"/>
              <a:buFont typeface="Funnel Display"/>
              <a:buNone/>
            </a:pPr>
            <a:r>
              <a:rPr b="0" i="0" lang="en-US" sz="5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Metric phải khớp với model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8" name="Google Shape;1118;p36"/>
          <p:cNvSpPr/>
          <p:nvPr/>
        </p:nvSpPr>
        <p:spPr>
          <a:xfrm>
            <a:off x="6717506" y="1042690"/>
            <a:ext cx="1842195" cy="71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Sans"/>
              <a:buNone/>
            </a:pPr>
            <a:r>
              <a:rPr b="0" i="0" lang="en-US" sz="4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Dùng sai metric → retrieval kém dù model tốt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9" name="Google Shape;1119;p36"/>
          <p:cNvSpPr/>
          <p:nvPr/>
        </p:nvSpPr>
        <p:spPr>
          <a:xfrm>
            <a:off x="4650804" y="1207368"/>
            <a:ext cx="1973089" cy="319460"/>
          </a:xfrm>
          <a:prstGeom prst="roundRect">
            <a:avLst>
              <a:gd fmla="val 7987" name="adj"/>
            </a:avLst>
          </a:prstGeom>
          <a:solidFill>
            <a:srgbClr val="FAF5EB"/>
          </a:solidFill>
          <a:ln cap="flat" cmpd="sng" w="9525">
            <a:solidFill>
              <a:srgbClr val="D5CD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p36"/>
          <p:cNvSpPr/>
          <p:nvPr/>
        </p:nvSpPr>
        <p:spPr>
          <a:xfrm>
            <a:off x="4716289" y="1272853"/>
            <a:ext cx="1842120" cy="892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500"/>
              <a:buFont typeface="Funnel Display"/>
              <a:buNone/>
            </a:pPr>
            <a:r>
              <a:rPr b="0" i="0" lang="en-US" sz="5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ANN trade accuracy for speed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1" name="Google Shape;1121;p36"/>
          <p:cNvSpPr/>
          <p:nvPr/>
        </p:nvSpPr>
        <p:spPr>
          <a:xfrm>
            <a:off x="4716289" y="1390278"/>
            <a:ext cx="1842120" cy="71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Sans"/>
              <a:buNone/>
            </a:pPr>
            <a:r>
              <a:rPr b="0" i="0" lang="en-US" sz="4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Recall có thể điều chỉnh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2" name="Google Shape;1122;p36"/>
          <p:cNvSpPr/>
          <p:nvPr/>
        </p:nvSpPr>
        <p:spPr>
          <a:xfrm>
            <a:off x="6652022" y="1207368"/>
            <a:ext cx="1973163" cy="319460"/>
          </a:xfrm>
          <a:prstGeom prst="roundRect">
            <a:avLst>
              <a:gd fmla="val 7987" name="adj"/>
            </a:avLst>
          </a:prstGeom>
          <a:solidFill>
            <a:srgbClr val="FAF5EB"/>
          </a:solidFill>
          <a:ln cap="flat" cmpd="sng" w="9525">
            <a:solidFill>
              <a:srgbClr val="D5CD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3" name="Google Shape;1123;p36"/>
          <p:cNvSpPr/>
          <p:nvPr/>
        </p:nvSpPr>
        <p:spPr>
          <a:xfrm>
            <a:off x="6717506" y="1272853"/>
            <a:ext cx="1842195" cy="892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500"/>
              <a:buFont typeface="Funnel Display"/>
              <a:buNone/>
            </a:pPr>
            <a:r>
              <a:rPr b="0" i="0" lang="en-US" sz="5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Vector similarity ≠ authorization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4" name="Google Shape;1124;p36"/>
          <p:cNvSpPr/>
          <p:nvPr/>
        </p:nvSpPr>
        <p:spPr>
          <a:xfrm>
            <a:off x="6717506" y="1390278"/>
            <a:ext cx="1842195" cy="71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Sans"/>
              <a:buNone/>
            </a:pPr>
            <a:r>
              <a:rPr b="0" i="0" lang="en-US" sz="4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Luôn cần metadata filter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5" name="Google Shape;1125;p36"/>
          <p:cNvSpPr/>
          <p:nvPr/>
        </p:nvSpPr>
        <p:spPr>
          <a:xfrm>
            <a:off x="4650804" y="1554956"/>
            <a:ext cx="3974381" cy="319460"/>
          </a:xfrm>
          <a:prstGeom prst="roundRect">
            <a:avLst>
              <a:gd fmla="val 7987" name="adj"/>
            </a:avLst>
          </a:prstGeom>
          <a:solidFill>
            <a:srgbClr val="FAF5EB"/>
          </a:solidFill>
          <a:ln cap="flat" cmpd="sng" w="9525">
            <a:solidFill>
              <a:srgbClr val="D5CD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6" name="Google Shape;1126;p36"/>
          <p:cNvSpPr/>
          <p:nvPr/>
        </p:nvSpPr>
        <p:spPr>
          <a:xfrm>
            <a:off x="4716289" y="1620441"/>
            <a:ext cx="3843412" cy="892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500"/>
              <a:buFont typeface="Funnel Display"/>
              <a:buNone/>
            </a:pPr>
            <a:r>
              <a:rPr b="0" i="0" lang="en-US" sz="5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Đo lường là bắt buộc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7" name="Google Shape;1127;p36"/>
          <p:cNvSpPr/>
          <p:nvPr/>
        </p:nvSpPr>
        <p:spPr>
          <a:xfrm>
            <a:off x="4716289" y="1737866"/>
            <a:ext cx="3843412" cy="71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Sans"/>
              <a:buNone/>
            </a:pPr>
            <a:r>
              <a:rPr b="0" i="0" lang="en-US" sz="4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Không tối ưu bằng cảm giác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8" name="Google Shape;1128;p36"/>
          <p:cNvSpPr/>
          <p:nvPr/>
        </p:nvSpPr>
        <p:spPr>
          <a:xfrm>
            <a:off x="614660" y="4667771"/>
            <a:ext cx="8462963" cy="71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450"/>
              <a:buFont typeface="Funnel Sans"/>
              <a:buNone/>
            </a:pPr>
            <a:r>
              <a:rPr b="0" i="0" lang="en-US" sz="4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Tuần 7: Advanced RAG — Query Transformation, HyDE, Parent-Child Retrieval, Context Compression, Production Architecture &amp; Monitoring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9" name="Google Shape;1129;p36"/>
          <p:cNvSpPr/>
          <p:nvPr/>
        </p:nvSpPr>
        <p:spPr>
          <a:xfrm>
            <a:off x="523577" y="4636071"/>
            <a:ext cx="9525" cy="134466"/>
          </a:xfrm>
          <a:prstGeom prst="roundRect">
            <a:avLst>
              <a:gd fmla="val 50000" name="adj"/>
            </a:avLst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5EB"/>
        </a:solidFill>
      </p:bgPr>
    </p:bg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p37"/>
          <p:cNvSpPr/>
          <p:nvPr/>
        </p:nvSpPr>
        <p:spPr>
          <a:xfrm>
            <a:off x="523577" y="406003"/>
            <a:ext cx="8096845" cy="24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1450"/>
              <a:buFont typeface="Funnel Display"/>
              <a:buNone/>
            </a:pPr>
            <a:r>
              <a:rPr b="0" i="0" lang="en-US" sz="14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Bước tiếp theo — Week 7 &amp; Resources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6" name="Google Shape;1136;p37"/>
          <p:cNvSpPr/>
          <p:nvPr/>
        </p:nvSpPr>
        <p:spPr>
          <a:xfrm>
            <a:off x="523577" y="773162"/>
            <a:ext cx="3948857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700"/>
              <a:buFont typeface="Funnel Display"/>
              <a:buNone/>
            </a:pPr>
            <a:r>
              <a:rPr b="0" i="0" lang="en-US" sz="7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Week 7: Advanced RAG &amp; Production Architecture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37" name="Google Shape;1137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577" y="950342"/>
            <a:ext cx="3948857" cy="489645"/>
          </a:xfrm>
          <a:prstGeom prst="rect">
            <a:avLst/>
          </a:prstGeom>
          <a:noFill/>
          <a:ln>
            <a:noFill/>
          </a:ln>
        </p:spPr>
      </p:pic>
      <p:sp>
        <p:nvSpPr>
          <p:cNvPr id="1138" name="Google Shape;1138;p37"/>
          <p:cNvSpPr/>
          <p:nvPr/>
        </p:nvSpPr>
        <p:spPr>
          <a:xfrm>
            <a:off x="632743" y="1118667"/>
            <a:ext cx="122411" cy="1529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900"/>
              <a:buFont typeface="Funnel Display"/>
              <a:buNone/>
            </a:pPr>
            <a:r>
              <a:rPr b="0" i="0" lang="en-US" sz="9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9" name="Google Shape;1139;p37"/>
          <p:cNvSpPr/>
          <p:nvPr/>
        </p:nvSpPr>
        <p:spPr>
          <a:xfrm>
            <a:off x="910382" y="1041425"/>
            <a:ext cx="3470970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00"/>
              <a:buFont typeface="Funnel Display"/>
              <a:buNone/>
            </a:pPr>
            <a:r>
              <a:rPr b="0" i="0" lang="en-US" sz="7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Query Transformation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0" name="Google Shape;1140;p37"/>
          <p:cNvSpPr/>
          <p:nvPr/>
        </p:nvSpPr>
        <p:spPr>
          <a:xfrm>
            <a:off x="910382" y="1212205"/>
            <a:ext cx="3470970" cy="105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Sans"/>
              <a:buNone/>
            </a:pPr>
            <a:r>
              <a:rPr b="0" i="0" lang="en-US" sz="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Rewriting, expansion, multi-query, HyDE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41" name="Google Shape;11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577" y="1490811"/>
            <a:ext cx="3948857" cy="489645"/>
          </a:xfrm>
          <a:prstGeom prst="rect">
            <a:avLst/>
          </a:prstGeom>
          <a:noFill/>
          <a:ln>
            <a:noFill/>
          </a:ln>
        </p:spPr>
      </p:pic>
      <p:sp>
        <p:nvSpPr>
          <p:cNvPr id="1142" name="Google Shape;1142;p37"/>
          <p:cNvSpPr/>
          <p:nvPr/>
        </p:nvSpPr>
        <p:spPr>
          <a:xfrm>
            <a:off x="632743" y="1659136"/>
            <a:ext cx="122411" cy="1529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900"/>
              <a:buFont typeface="Funnel Display"/>
              <a:buNone/>
            </a:pPr>
            <a:r>
              <a:rPr b="0" i="0" lang="en-US" sz="9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3" name="Google Shape;1143;p37"/>
          <p:cNvSpPr/>
          <p:nvPr/>
        </p:nvSpPr>
        <p:spPr>
          <a:xfrm>
            <a:off x="910382" y="1581894"/>
            <a:ext cx="3470970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00"/>
              <a:buFont typeface="Funnel Display"/>
              <a:buNone/>
            </a:pPr>
            <a:r>
              <a:rPr b="0" i="0" lang="en-US" sz="7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Advanced Retrieval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4" name="Google Shape;1144;p37"/>
          <p:cNvSpPr/>
          <p:nvPr/>
        </p:nvSpPr>
        <p:spPr>
          <a:xfrm>
            <a:off x="910382" y="1752674"/>
            <a:ext cx="3470970" cy="105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Sans"/>
              <a:buNone/>
            </a:pPr>
            <a:r>
              <a:rPr b="0" i="0" lang="en-US" sz="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Parent-child, sentence window, contextual compression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45" name="Google Shape;114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577" y="2031281"/>
            <a:ext cx="3948857" cy="489645"/>
          </a:xfrm>
          <a:prstGeom prst="rect">
            <a:avLst/>
          </a:prstGeom>
          <a:noFill/>
          <a:ln>
            <a:noFill/>
          </a:ln>
        </p:spPr>
      </p:pic>
      <p:sp>
        <p:nvSpPr>
          <p:cNvPr id="1146" name="Google Shape;1146;p37"/>
          <p:cNvSpPr/>
          <p:nvPr/>
        </p:nvSpPr>
        <p:spPr>
          <a:xfrm>
            <a:off x="632743" y="2199605"/>
            <a:ext cx="122411" cy="1529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900"/>
              <a:buFont typeface="Funnel Display"/>
              <a:buNone/>
            </a:pPr>
            <a:r>
              <a:rPr b="0" i="0" lang="en-US" sz="9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7" name="Google Shape;1147;p37"/>
          <p:cNvSpPr/>
          <p:nvPr/>
        </p:nvSpPr>
        <p:spPr>
          <a:xfrm>
            <a:off x="910382" y="2122363"/>
            <a:ext cx="3470970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00"/>
              <a:buFont typeface="Funnel Display"/>
              <a:buNone/>
            </a:pPr>
            <a:r>
              <a:rPr b="0" i="0" lang="en-US" sz="7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RAG Evaluation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8" name="Google Shape;1148;p37"/>
          <p:cNvSpPr/>
          <p:nvPr/>
        </p:nvSpPr>
        <p:spPr>
          <a:xfrm>
            <a:off x="910382" y="2293144"/>
            <a:ext cx="3470970" cy="105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Sans"/>
              <a:buNone/>
            </a:pPr>
            <a:r>
              <a:rPr b="0" i="0" lang="en-US" sz="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RAGAS framework, automated evaluation pipeline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49" name="Google Shape;114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577" y="2571750"/>
            <a:ext cx="3948857" cy="489645"/>
          </a:xfrm>
          <a:prstGeom prst="rect">
            <a:avLst/>
          </a:prstGeom>
          <a:noFill/>
          <a:ln>
            <a:noFill/>
          </a:ln>
        </p:spPr>
      </p:pic>
      <p:sp>
        <p:nvSpPr>
          <p:cNvPr id="1150" name="Google Shape;1150;p37"/>
          <p:cNvSpPr/>
          <p:nvPr/>
        </p:nvSpPr>
        <p:spPr>
          <a:xfrm>
            <a:off x="632743" y="2740075"/>
            <a:ext cx="122411" cy="1529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900"/>
              <a:buFont typeface="Funnel Display"/>
              <a:buNone/>
            </a:pPr>
            <a:r>
              <a:rPr b="0" i="0" lang="en-US" sz="9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1" name="Google Shape;1151;p37"/>
          <p:cNvSpPr/>
          <p:nvPr/>
        </p:nvSpPr>
        <p:spPr>
          <a:xfrm>
            <a:off x="910382" y="2662833"/>
            <a:ext cx="3470970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00"/>
              <a:buFont typeface="Funnel Display"/>
              <a:buNone/>
            </a:pPr>
            <a:r>
              <a:rPr b="0" i="0" lang="en-US" sz="7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Production Architecture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2" name="Google Shape;1152;p37"/>
          <p:cNvSpPr/>
          <p:nvPr/>
        </p:nvSpPr>
        <p:spPr>
          <a:xfrm>
            <a:off x="910382" y="2833613"/>
            <a:ext cx="3470970" cy="105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Sans"/>
              <a:buNone/>
            </a:pPr>
            <a:r>
              <a:rPr b="0" i="0" lang="en-US" sz="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Caching, A/B testing, latency optimization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53" name="Google Shape;1153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577" y="3112219"/>
            <a:ext cx="3948857" cy="489645"/>
          </a:xfrm>
          <a:prstGeom prst="rect">
            <a:avLst/>
          </a:prstGeom>
          <a:noFill/>
          <a:ln>
            <a:noFill/>
          </a:ln>
        </p:spPr>
      </p:pic>
      <p:sp>
        <p:nvSpPr>
          <p:cNvPr id="1154" name="Google Shape;1154;p37"/>
          <p:cNvSpPr/>
          <p:nvPr/>
        </p:nvSpPr>
        <p:spPr>
          <a:xfrm>
            <a:off x="632743" y="3280544"/>
            <a:ext cx="122411" cy="1529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900"/>
              <a:buFont typeface="Funnel Display"/>
              <a:buNone/>
            </a:pPr>
            <a:r>
              <a:rPr b="0" i="0" lang="en-US" sz="9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5" name="Google Shape;1155;p37"/>
          <p:cNvSpPr/>
          <p:nvPr/>
        </p:nvSpPr>
        <p:spPr>
          <a:xfrm>
            <a:off x="910382" y="3203302"/>
            <a:ext cx="3470970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00"/>
              <a:buFont typeface="Funnel Display"/>
              <a:buNone/>
            </a:pPr>
            <a:r>
              <a:rPr b="0" i="0" lang="en-US" sz="7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RAG Monitoring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6" name="Google Shape;1156;p37"/>
          <p:cNvSpPr/>
          <p:nvPr/>
        </p:nvSpPr>
        <p:spPr>
          <a:xfrm>
            <a:off x="910382" y="3374082"/>
            <a:ext cx="3470970" cy="105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Sans"/>
              <a:buNone/>
            </a:pPr>
            <a:r>
              <a:rPr b="0" i="0" lang="en-US" sz="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Drift detection, quality degradation alerts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57" name="Google Shape;1157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577" y="3652689"/>
            <a:ext cx="3948857" cy="489645"/>
          </a:xfrm>
          <a:prstGeom prst="rect">
            <a:avLst/>
          </a:prstGeom>
          <a:noFill/>
          <a:ln>
            <a:noFill/>
          </a:ln>
        </p:spPr>
      </p:pic>
      <p:sp>
        <p:nvSpPr>
          <p:cNvPr id="1158" name="Google Shape;1158;p37"/>
          <p:cNvSpPr/>
          <p:nvPr/>
        </p:nvSpPr>
        <p:spPr>
          <a:xfrm>
            <a:off x="632743" y="3821013"/>
            <a:ext cx="122411" cy="1529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900"/>
              <a:buFont typeface="Funnel Display"/>
              <a:buNone/>
            </a:pPr>
            <a:r>
              <a:rPr b="0" i="0" lang="en-US" sz="9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9" name="Google Shape;1159;p37"/>
          <p:cNvSpPr/>
          <p:nvPr/>
        </p:nvSpPr>
        <p:spPr>
          <a:xfrm>
            <a:off x="910382" y="3743771"/>
            <a:ext cx="3470970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700"/>
              <a:buFont typeface="Funnel Display"/>
              <a:buNone/>
            </a:pPr>
            <a:r>
              <a:rPr b="0" i="0" lang="en-US" sz="7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Fine-tuning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0" name="Google Shape;1160;p37"/>
          <p:cNvSpPr/>
          <p:nvPr/>
        </p:nvSpPr>
        <p:spPr>
          <a:xfrm>
            <a:off x="910382" y="3914552"/>
            <a:ext cx="3470970" cy="105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Sans"/>
              <a:buNone/>
            </a:pPr>
            <a:r>
              <a:rPr b="0" i="0" lang="en-US" sz="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Embedding fine-tuning cho domain-specific retrieval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1" name="Google Shape;1161;p37"/>
          <p:cNvSpPr/>
          <p:nvPr/>
        </p:nvSpPr>
        <p:spPr>
          <a:xfrm>
            <a:off x="523577" y="4199558"/>
            <a:ext cx="3948857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700"/>
              <a:buFont typeface="Funnel Display"/>
              <a:buNone/>
            </a:pPr>
            <a:r>
              <a:rPr b="0" i="0" lang="en-US" sz="7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Nền tảng từ Week 6: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2" name="Google Shape;1162;p37"/>
          <p:cNvSpPr/>
          <p:nvPr/>
        </p:nvSpPr>
        <p:spPr>
          <a:xfrm>
            <a:off x="645988" y="4422502"/>
            <a:ext cx="3826446" cy="2119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Sans"/>
              <a:buNone/>
            </a:pPr>
            <a:r>
              <a:rPr b="0" i="0" lang="en-US" sz="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Mọi kỹ thuật nâng cao đều xây dựng trên nền tảng đã học hôm nay. Hiểu bản chất → có thể đánh giá và áp dụng bất kỳ kỹ thuật nào.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3" name="Google Shape;1163;p37"/>
          <p:cNvSpPr/>
          <p:nvPr/>
        </p:nvSpPr>
        <p:spPr>
          <a:xfrm>
            <a:off x="523577" y="4376738"/>
            <a:ext cx="9525" cy="303461"/>
          </a:xfrm>
          <a:prstGeom prst="roundRect">
            <a:avLst>
              <a:gd fmla="val 50000" name="adj"/>
            </a:avLst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4" name="Google Shape;1164;p37"/>
          <p:cNvSpPr/>
          <p:nvPr/>
        </p:nvSpPr>
        <p:spPr>
          <a:xfrm>
            <a:off x="4676329" y="773162"/>
            <a:ext cx="3948857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700"/>
              <a:buFont typeface="Funnel Display"/>
              <a:buNone/>
            </a:pPr>
            <a:r>
              <a:rPr b="0" i="0" lang="en-US" sz="7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Resources để đọc thêm: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65" name="Google Shape;1165;p37"/>
          <p:cNvGraphicFramePr/>
          <p:nvPr/>
        </p:nvGraphicFramePr>
        <p:xfrm>
          <a:off x="4676329" y="95034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{3B3E4DE5-BB9D-4D9E-814C-6277CECA3E85}</a:tableStyleId>
              </a:tblPr>
              <a:tblGrid>
                <a:gridCol w="1777000"/>
                <a:gridCol w="2171850"/>
              </a:tblGrid>
              <a:tr h="17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Resource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1625" marL="81625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Nội dung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1625" marL="8162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1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MTEB Leaderboard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1625" marL="81625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Benchmark embedding models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1625" marL="8162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1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ANN Benchmarks (ann-benchmarks.com)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1625" marL="81625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So sánh ANN algorithms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1625" marL="8162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1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Qdrant Documentation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1625" marL="81625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HNSW, filtering, hybrid search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1625" marL="8162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1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pgvector GitHub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1625" marL="81625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PostgreSQL vector extension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1625" marL="8162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1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BEIR Benchmark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1625" marL="81625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Retrieval evaluation datasets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1625" marL="8162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LlamaIndex Docs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1625" marL="81625" anchor="ctr">
                    <a:lnL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541"/>
                        </a:buClr>
                        <a:buSzPts val="800"/>
                        <a:buFont typeface="Funnel Sans"/>
                        <a:buNone/>
                      </a:pPr>
                      <a:r>
                        <a:rPr lang="en-US" sz="800" u="none" cap="none" strike="noStrike">
                          <a:solidFill>
                            <a:srgbClr val="2B3541"/>
                          </a:solidFill>
                          <a:latin typeface="Funnel Sans"/>
                          <a:ea typeface="Funnel Sans"/>
                          <a:cs typeface="Funnel Sans"/>
                          <a:sym typeface="Funnel Sans"/>
                        </a:rPr>
                        <a:t>RAG patterns và best practices</a:t>
                      </a:r>
                      <a:endParaRPr sz="800" u="none" cap="none" strike="noStrike">
                        <a:latin typeface="Funnel Sans"/>
                        <a:ea typeface="Funnel Sans"/>
                        <a:cs typeface="Funnel Sans"/>
                        <a:sym typeface="Funnel Sans"/>
                      </a:endParaRPr>
                    </a:p>
                  </a:txBody>
                  <a:tcPr marT="4775" marB="4775" marR="81625" marL="81625" anchor="ctr">
                    <a:lnL cap="flat" cmpd="sng" w="12700">
                      <a:solidFill>
                        <a:srgbClr val="FAF5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D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66" name="Google Shape;1166;p37"/>
          <p:cNvSpPr/>
          <p:nvPr/>
        </p:nvSpPr>
        <p:spPr>
          <a:xfrm>
            <a:off x="4676329" y="2281238"/>
            <a:ext cx="3948857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700"/>
              <a:buFont typeface="Funnel Display"/>
              <a:buNone/>
            </a:pPr>
            <a:r>
              <a:rPr b="0" i="0" lang="en-US" sz="7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Bài tập về nhà: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7" name="Google Shape;1167;p37"/>
          <p:cNvSpPr/>
          <p:nvPr/>
        </p:nvSpPr>
        <p:spPr>
          <a:xfrm>
            <a:off x="4676329" y="2452018"/>
            <a:ext cx="3948857" cy="4772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21920" lvl="0" marL="12192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Sans"/>
              <a:buChar char="•"/>
            </a:pPr>
            <a:r>
              <a:rPr b="0" i="0" lang="en-US" sz="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Cài đặt pgvector và thử semantic search với dataset nhỏ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1920" lvl="0" marL="12192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Sans"/>
              <a:buChar char="•"/>
            </a:pPr>
            <a:r>
              <a:rPr b="0" i="0" lang="en-US" sz="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So sánh Recall@10 giữa keyword search và semantic search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1920" lvl="0" marL="12192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Sans"/>
              <a:buChar char="•"/>
            </a:pPr>
            <a:r>
              <a:rPr b="0" i="0" lang="en-US" sz="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Thêm reranker và đo sự thay đổi Precision@5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1920" lvl="0" marL="12192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600"/>
              <a:buFont typeface="Funnel Sans"/>
              <a:buChar char="•"/>
            </a:pPr>
            <a:r>
              <a:rPr b="0" i="0" lang="en-US" sz="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Thử hybrid search với BM25 + vector và so sánh kết quả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8" name="Google Shape;1168;p37"/>
          <p:cNvSpPr/>
          <p:nvPr/>
        </p:nvSpPr>
        <p:spPr>
          <a:xfrm>
            <a:off x="4676329" y="2986460"/>
            <a:ext cx="3948857" cy="238274"/>
          </a:xfrm>
          <a:prstGeom prst="roundRect">
            <a:avLst>
              <a:gd fmla="val 14386" name="adj"/>
            </a:avLst>
          </a:prstGeom>
          <a:solidFill>
            <a:srgbClr val="D8E7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69" name="Google Shape;1169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7886" y="3067273"/>
            <a:ext cx="101947" cy="81558"/>
          </a:xfrm>
          <a:prstGeom prst="rect">
            <a:avLst/>
          </a:prstGeom>
          <a:noFill/>
          <a:ln>
            <a:noFill/>
          </a:ln>
        </p:spPr>
      </p:pic>
      <p:sp>
        <p:nvSpPr>
          <p:cNvPr id="1170" name="Google Shape;1170;p37"/>
          <p:cNvSpPr/>
          <p:nvPr/>
        </p:nvSpPr>
        <p:spPr>
          <a:xfrm>
            <a:off x="4941391" y="3052614"/>
            <a:ext cx="4059436" cy="105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Funnel Sans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Funnel Sans"/>
                <a:ea typeface="Funnel Sans"/>
                <a:cs typeface="Funnel Sans"/>
                <a:sym typeface="Funnel Sans"/>
              </a:rPr>
              <a:t>Câu hỏi? Slack channel: </a:t>
            </a:r>
            <a:r>
              <a:rPr b="1" i="0" lang="en-US" sz="600" u="none" cap="none" strike="noStrike">
                <a:solidFill>
                  <a:srgbClr val="000000"/>
                </a:solidFill>
                <a:latin typeface="Funnel Sans"/>
                <a:ea typeface="Funnel Sans"/>
                <a:cs typeface="Funnel Sans"/>
                <a:sym typeface="Funnel Sans"/>
              </a:rPr>
              <a:t>#week6-vector-search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